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7" r:id="rId4"/>
  </p:sldMasterIdLst>
  <p:notesMasterIdLst>
    <p:notesMasterId r:id="rId47"/>
  </p:notesMasterIdLst>
  <p:handoutMasterIdLst>
    <p:handoutMasterId r:id="rId48"/>
  </p:handoutMasterIdLst>
  <p:sldIdLst>
    <p:sldId id="1166" r:id="rId5"/>
    <p:sldId id="1291" r:id="rId6"/>
    <p:sldId id="1292" r:id="rId7"/>
    <p:sldId id="1293" r:id="rId8"/>
    <p:sldId id="1294" r:id="rId9"/>
    <p:sldId id="1346" r:id="rId10"/>
    <p:sldId id="1301" r:id="rId11"/>
    <p:sldId id="1300" r:id="rId12"/>
    <p:sldId id="1295" r:id="rId13"/>
    <p:sldId id="1296" r:id="rId14"/>
    <p:sldId id="1299" r:id="rId15"/>
    <p:sldId id="1302" r:id="rId16"/>
    <p:sldId id="1303" r:id="rId17"/>
    <p:sldId id="1304" r:id="rId18"/>
    <p:sldId id="1305" r:id="rId19"/>
    <p:sldId id="1306" r:id="rId20"/>
    <p:sldId id="1307" r:id="rId21"/>
    <p:sldId id="1311" r:id="rId22"/>
    <p:sldId id="1313" r:id="rId23"/>
    <p:sldId id="1353" r:id="rId24"/>
    <p:sldId id="1348" r:id="rId25"/>
    <p:sldId id="1318" r:id="rId26"/>
    <p:sldId id="1321" r:id="rId27"/>
    <p:sldId id="1323" r:id="rId28"/>
    <p:sldId id="1325" r:id="rId29"/>
    <p:sldId id="1326" r:id="rId30"/>
    <p:sldId id="1324" r:id="rId31"/>
    <p:sldId id="1327" r:id="rId32"/>
    <p:sldId id="1328" r:id="rId33"/>
    <p:sldId id="1329" r:id="rId34"/>
    <p:sldId id="1330" r:id="rId35"/>
    <p:sldId id="1331" r:id="rId36"/>
    <p:sldId id="1332" r:id="rId37"/>
    <p:sldId id="1335" r:id="rId38"/>
    <p:sldId id="1336" r:id="rId39"/>
    <p:sldId id="1339" r:id="rId40"/>
    <p:sldId id="1337" r:id="rId41"/>
    <p:sldId id="1338" r:id="rId42"/>
    <p:sldId id="1280" r:id="rId43"/>
    <p:sldId id="1343" r:id="rId44"/>
    <p:sldId id="1344" r:id="rId45"/>
    <p:sldId id="1342" r:id="rId46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42" userDrawn="1">
          <p15:clr>
            <a:srgbClr val="A4A3A4"/>
          </p15:clr>
        </p15:guide>
        <p15:guide id="4" orient="horz" pos="2840" userDrawn="1">
          <p15:clr>
            <a:srgbClr val="A4A3A4"/>
          </p15:clr>
        </p15:guide>
        <p15:guide id="6" pos="204">
          <p15:clr>
            <a:srgbClr val="A4A3A4"/>
          </p15:clr>
        </p15:guide>
        <p15:guide id="7" pos="5556">
          <p15:clr>
            <a:srgbClr val="A4A3A4"/>
          </p15:clr>
        </p15:guide>
        <p15:guide id="8" orient="horz" pos="4156">
          <p15:clr>
            <a:srgbClr val="A4A3A4"/>
          </p15:clr>
        </p15:guide>
        <p15:guide id="9" orient="horz" pos="1480">
          <p15:clr>
            <a:srgbClr val="A4A3A4"/>
          </p15:clr>
        </p15:guide>
        <p15:guide id="10" orient="horz" pos="1253">
          <p15:clr>
            <a:srgbClr val="A4A3A4"/>
          </p15:clr>
        </p15:guide>
        <p15:guide id="11" pos="249">
          <p15:clr>
            <a:srgbClr val="A4A3A4"/>
          </p15:clr>
        </p15:guide>
        <p15:guide id="12" pos="5647">
          <p15:clr>
            <a:srgbClr val="A4A3A4"/>
          </p15:clr>
        </p15:guide>
        <p15:guide id="13" pos="158">
          <p15:clr>
            <a:srgbClr val="A4A3A4"/>
          </p15:clr>
        </p15:guide>
        <p15:guide id="14" orient="horz" pos="1888">
          <p15:clr>
            <a:srgbClr val="A4A3A4"/>
          </p15:clr>
        </p15:guide>
        <p15:guide id="15" orient="horz" pos="3929">
          <p15:clr>
            <a:srgbClr val="A4A3A4"/>
          </p15:clr>
        </p15:guide>
        <p15:guide id="16" orient="horz" pos="2523">
          <p15:clr>
            <a:srgbClr val="A4A3A4"/>
          </p15:clr>
        </p15:guide>
        <p15:guide id="17" pos="3121">
          <p15:clr>
            <a:srgbClr val="A4A3A4"/>
          </p15:clr>
        </p15:guide>
        <p15:guide id="18" pos="221">
          <p15:clr>
            <a:srgbClr val="A4A3A4"/>
          </p15:clr>
        </p15:guide>
        <p15:guide id="19" pos="6019">
          <p15:clr>
            <a:srgbClr val="A4A3A4"/>
          </p15:clr>
        </p15:guide>
        <p15:guide id="20" pos="270">
          <p15:clr>
            <a:srgbClr val="A4A3A4"/>
          </p15:clr>
        </p15:guide>
        <p15:guide id="21" pos="5676">
          <p15:clr>
            <a:srgbClr val="A4A3A4"/>
          </p15:clr>
        </p15:guide>
        <p15:guide id="22" pos="1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심규호" initials="심" lastIdx="1" clrIdx="0">
    <p:extLst>
      <p:ext uri="{19B8F6BF-5375-455C-9EA6-DF929625EA0E}">
        <p15:presenceInfo xmlns:p15="http://schemas.microsoft.com/office/powerpoint/2012/main" userId="S-1-5-21-933205674-2470888985-2010034987-86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9"/>
    <a:srgbClr val="374D5B"/>
    <a:srgbClr val="4F9BD5"/>
    <a:srgbClr val="EAEAEA"/>
    <a:srgbClr val="5F666E"/>
    <a:srgbClr val="3A4450"/>
    <a:srgbClr val="0000FF"/>
    <a:srgbClr val="0081E2"/>
    <a:srgbClr val="2069BA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85" autoAdjust="0"/>
    <p:restoredTop sz="96702" autoAdjust="0"/>
  </p:normalViewPr>
  <p:slideViewPr>
    <p:cSldViewPr>
      <p:cViewPr varScale="1">
        <p:scale>
          <a:sx n="110" d="100"/>
          <a:sy n="110" d="100"/>
        </p:scale>
        <p:origin x="978" y="90"/>
      </p:cViewPr>
      <p:guideLst>
        <p:guide orient="horz" pos="4292"/>
        <p:guide pos="2880"/>
        <p:guide orient="horz" pos="1842"/>
        <p:guide orient="horz" pos="2840"/>
        <p:guide pos="204"/>
        <p:guide pos="5556"/>
        <p:guide orient="horz" pos="4156"/>
        <p:guide orient="horz" pos="1480"/>
        <p:guide orient="horz" pos="1253"/>
        <p:guide pos="249"/>
        <p:guide pos="5647"/>
        <p:guide pos="158"/>
        <p:guide orient="horz" pos="1888"/>
        <p:guide orient="horz" pos="3929"/>
        <p:guide orient="horz" pos="2523"/>
        <p:guide pos="3121"/>
        <p:guide pos="221"/>
        <p:guide pos="6019"/>
        <p:guide pos="270"/>
        <p:guide pos="5676"/>
        <p:guide pos="171"/>
      </p:guideLst>
    </p:cSldViewPr>
  </p:slideViewPr>
  <p:outlineViewPr>
    <p:cViewPr>
      <p:scale>
        <a:sx n="33" d="100"/>
        <a:sy n="33" d="100"/>
      </p:scale>
      <p:origin x="18" y="415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2712" y="-726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49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DCE8DAC-A2B6-4292-9F5B-A4CA7FE0BF99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49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735A60D-814D-4287-881B-077213EAB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51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49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5608C8B-8066-49A5-A56D-E711F19F9BB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8003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11312" y="4825653"/>
            <a:ext cx="5444806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4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06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99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116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552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D3931-90F1-59B7-B3D7-EEE920461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419211"/>
            <a:ext cx="7429500" cy="1112645"/>
          </a:xfrm>
          <a:prstGeom prst="rect">
            <a:avLst/>
          </a:prstGeom>
        </p:spPr>
        <p:txBody>
          <a:bodyPr anchor="b"/>
          <a:lstStyle>
            <a:lvl1pPr algn="ctr"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00FAD6-4C43-112C-4873-3813987C8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8575" y="4786120"/>
            <a:ext cx="2228850" cy="4716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7" name="Line 23">
            <a:extLst>
              <a:ext uri="{FF2B5EF4-FFF2-40B4-BE49-F238E27FC236}">
                <a16:creationId xmlns:a16="http://schemas.microsoft.com/office/drawing/2014/main" id="{B9C51D16-74F5-808D-E3AB-5BDFA56392C4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67000" y="1600201"/>
            <a:ext cx="8172000" cy="9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그림 7" descr="바닥라인">
            <a:extLst>
              <a:ext uri="{FF2B5EF4-FFF2-40B4-BE49-F238E27FC236}">
                <a16:creationId xmlns:a16="http://schemas.microsoft.com/office/drawing/2014/main" id="{D0403880-63D4-8F2D-9610-6ADFA7B967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45" y="6602300"/>
            <a:ext cx="9940091" cy="6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449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간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34B62-CCC1-3E03-3F2E-B3ED6A11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458983"/>
            <a:ext cx="8543925" cy="955731"/>
          </a:xfrm>
          <a:prstGeom prst="rect">
            <a:avLst/>
          </a:prstGeom>
        </p:spPr>
        <p:txBody>
          <a:bodyPr anchor="b"/>
          <a:lstStyle>
            <a:lvl1pPr algn="ctr">
              <a:defRPr sz="36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Line 23">
            <a:extLst>
              <a:ext uri="{FF2B5EF4-FFF2-40B4-BE49-F238E27FC236}">
                <a16:creationId xmlns:a16="http://schemas.microsoft.com/office/drawing/2014/main" id="{5183C68B-40E5-9820-E28F-DEBAF4119463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67000" y="3424238"/>
            <a:ext cx="8172000" cy="9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825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7F2D9-ACFA-5CB3-ED5E-1700BCDF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06000" cy="428624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13289A-08E8-6EC8-4C7C-3608626D897C}"/>
              </a:ext>
            </a:extLst>
          </p:cNvPr>
          <p:cNvSpPr/>
          <p:nvPr userDrawn="1"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2392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200E0B7-8F6D-ADA3-2E64-CA79A11C8FF6}"/>
              </a:ext>
            </a:extLst>
          </p:cNvPr>
          <p:cNvSpPr/>
          <p:nvPr userDrawn="1"/>
        </p:nvSpPr>
        <p:spPr bwMode="auto">
          <a:xfrm>
            <a:off x="6681192" y="548680"/>
            <a:ext cx="311298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2B2DA4-1034-6770-85B6-8B33659289CA}"/>
              </a:ext>
            </a:extLst>
          </p:cNvPr>
          <p:cNvSpPr/>
          <p:nvPr userDrawn="1"/>
        </p:nvSpPr>
        <p:spPr bwMode="auto">
          <a:xfrm>
            <a:off x="56455" y="548680"/>
            <a:ext cx="662473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ECE10-C884-CC5B-A572-7DA160A71536}"/>
              </a:ext>
            </a:extLst>
          </p:cNvPr>
          <p:cNvSpPr/>
          <p:nvPr userDrawn="1"/>
        </p:nvSpPr>
        <p:spPr>
          <a:xfrm>
            <a:off x="6679786" y="548680"/>
            <a:ext cx="3112987" cy="24156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0" algn="ctr"/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B0EC2BF-21E1-6CE3-0A27-C6891B54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06000" cy="428624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C1D327-B5AB-CED0-4296-5EF7F59BAD3A}"/>
              </a:ext>
            </a:extLst>
          </p:cNvPr>
          <p:cNvSpPr/>
          <p:nvPr userDrawn="1"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pic>
        <p:nvPicPr>
          <p:cNvPr id="13" name="그림 12" descr="바닥라인">
            <a:extLst>
              <a:ext uri="{FF2B5EF4-FFF2-40B4-BE49-F238E27FC236}">
                <a16:creationId xmlns:a16="http://schemas.microsoft.com/office/drawing/2014/main" id="{D09EE649-D55B-3C1C-77F0-8B5331337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45" y="6602300"/>
            <a:ext cx="9940091" cy="6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28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SIS-TOBE_상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200E0B7-8F6D-ADA3-2E64-CA79A11C8FF6}"/>
              </a:ext>
            </a:extLst>
          </p:cNvPr>
          <p:cNvSpPr/>
          <p:nvPr userDrawn="1"/>
        </p:nvSpPr>
        <p:spPr bwMode="auto">
          <a:xfrm>
            <a:off x="6681192" y="548680"/>
            <a:ext cx="311298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2B2DA4-1034-6770-85B6-8B33659289CA}"/>
              </a:ext>
            </a:extLst>
          </p:cNvPr>
          <p:cNvSpPr/>
          <p:nvPr userDrawn="1"/>
        </p:nvSpPr>
        <p:spPr bwMode="auto">
          <a:xfrm>
            <a:off x="56455" y="548680"/>
            <a:ext cx="662473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ECE10-C884-CC5B-A572-7DA160A71536}"/>
              </a:ext>
            </a:extLst>
          </p:cNvPr>
          <p:cNvSpPr/>
          <p:nvPr userDrawn="1"/>
        </p:nvSpPr>
        <p:spPr>
          <a:xfrm>
            <a:off x="6679786" y="548680"/>
            <a:ext cx="3112987" cy="24156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0" algn="ctr"/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B0EC2BF-21E1-6CE3-0A27-C6891B54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06000" cy="428624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C1D327-B5AB-CED0-4296-5EF7F59BAD3A}"/>
              </a:ext>
            </a:extLst>
          </p:cNvPr>
          <p:cNvSpPr/>
          <p:nvPr userDrawn="1"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pic>
        <p:nvPicPr>
          <p:cNvPr id="13" name="그림 12" descr="바닥라인">
            <a:extLst>
              <a:ext uri="{FF2B5EF4-FFF2-40B4-BE49-F238E27FC236}">
                <a16:creationId xmlns:a16="http://schemas.microsoft.com/office/drawing/2014/main" id="{D09EE649-D55B-3C1C-77F0-8B5331337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45" y="6602300"/>
            <a:ext cx="9940091" cy="6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0D36AD1-DD7A-D5E3-B71E-EBE39110116B}"/>
              </a:ext>
            </a:extLst>
          </p:cNvPr>
          <p:cNvSpPr/>
          <p:nvPr userDrawn="1"/>
        </p:nvSpPr>
        <p:spPr>
          <a:xfrm rot="16200000">
            <a:off x="-1348845" y="1953980"/>
            <a:ext cx="3024335" cy="21373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AS-IS</a:t>
            </a:r>
            <a:endParaRPr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283DE6-8DA9-2AB7-02D5-E8AD57C79E52}"/>
              </a:ext>
            </a:extLst>
          </p:cNvPr>
          <p:cNvSpPr/>
          <p:nvPr userDrawn="1"/>
        </p:nvSpPr>
        <p:spPr>
          <a:xfrm rot="16200000">
            <a:off x="-1327152" y="4956625"/>
            <a:ext cx="2983246" cy="21602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TO-BE</a:t>
            </a:r>
            <a:endParaRPr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870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SIS-TOBE_좌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200E0B7-8F6D-ADA3-2E64-CA79A11C8FF6}"/>
              </a:ext>
            </a:extLst>
          </p:cNvPr>
          <p:cNvSpPr/>
          <p:nvPr userDrawn="1"/>
        </p:nvSpPr>
        <p:spPr bwMode="auto">
          <a:xfrm>
            <a:off x="6681192" y="548680"/>
            <a:ext cx="311298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2B2DA4-1034-6770-85B6-8B33659289CA}"/>
              </a:ext>
            </a:extLst>
          </p:cNvPr>
          <p:cNvSpPr/>
          <p:nvPr userDrawn="1"/>
        </p:nvSpPr>
        <p:spPr bwMode="auto">
          <a:xfrm>
            <a:off x="56455" y="548680"/>
            <a:ext cx="662473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ECE10-C884-CC5B-A572-7DA160A71536}"/>
              </a:ext>
            </a:extLst>
          </p:cNvPr>
          <p:cNvSpPr/>
          <p:nvPr userDrawn="1"/>
        </p:nvSpPr>
        <p:spPr>
          <a:xfrm>
            <a:off x="6679786" y="548680"/>
            <a:ext cx="3112987" cy="24156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0" algn="ctr"/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B0EC2BF-21E1-6CE3-0A27-C6891B54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06000" cy="428624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C1D327-B5AB-CED0-4296-5EF7F59BAD3A}"/>
              </a:ext>
            </a:extLst>
          </p:cNvPr>
          <p:cNvSpPr/>
          <p:nvPr userDrawn="1"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pic>
        <p:nvPicPr>
          <p:cNvPr id="13" name="그림 12" descr="바닥라인">
            <a:extLst>
              <a:ext uri="{FF2B5EF4-FFF2-40B4-BE49-F238E27FC236}">
                <a16:creationId xmlns:a16="http://schemas.microsoft.com/office/drawing/2014/main" id="{D09EE649-D55B-3C1C-77F0-8B5331337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45" y="6602300"/>
            <a:ext cx="9940091" cy="6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3E0C46-3720-CF88-0A3D-A1407BE45BE4}"/>
              </a:ext>
            </a:extLst>
          </p:cNvPr>
          <p:cNvSpPr/>
          <p:nvPr userDrawn="1"/>
        </p:nvSpPr>
        <p:spPr>
          <a:xfrm>
            <a:off x="55050" y="548680"/>
            <a:ext cx="3312368" cy="2415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AS-IS</a:t>
            </a:r>
            <a:endParaRPr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820C86-259D-EDE2-5848-FD4EA1D8642B}"/>
              </a:ext>
            </a:extLst>
          </p:cNvPr>
          <p:cNvSpPr/>
          <p:nvPr userDrawn="1"/>
        </p:nvSpPr>
        <p:spPr>
          <a:xfrm>
            <a:off x="3368204" y="548680"/>
            <a:ext cx="3316140" cy="2415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TO-BE</a:t>
            </a:r>
            <a:endParaRPr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111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200E0B7-8F6D-ADA3-2E64-CA79A11C8FF6}"/>
              </a:ext>
            </a:extLst>
          </p:cNvPr>
          <p:cNvSpPr/>
          <p:nvPr userDrawn="1"/>
        </p:nvSpPr>
        <p:spPr bwMode="auto">
          <a:xfrm>
            <a:off x="6681192" y="548680"/>
            <a:ext cx="311298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2B2DA4-1034-6770-85B6-8B33659289CA}"/>
              </a:ext>
            </a:extLst>
          </p:cNvPr>
          <p:cNvSpPr/>
          <p:nvPr userDrawn="1"/>
        </p:nvSpPr>
        <p:spPr bwMode="auto">
          <a:xfrm>
            <a:off x="56455" y="548680"/>
            <a:ext cx="662473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ECE10-C884-CC5B-A572-7DA160A71536}"/>
              </a:ext>
            </a:extLst>
          </p:cNvPr>
          <p:cNvSpPr/>
          <p:nvPr userDrawn="1"/>
        </p:nvSpPr>
        <p:spPr>
          <a:xfrm>
            <a:off x="6679786" y="548680"/>
            <a:ext cx="3112987" cy="24156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0" algn="ctr"/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B0EC2BF-21E1-6CE3-0A27-C6891B54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06000" cy="428624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C1D327-B5AB-CED0-4296-5EF7F59BAD3A}"/>
              </a:ext>
            </a:extLst>
          </p:cNvPr>
          <p:cNvSpPr/>
          <p:nvPr userDrawn="1"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pic>
        <p:nvPicPr>
          <p:cNvPr id="13" name="그림 12" descr="바닥라인">
            <a:extLst>
              <a:ext uri="{FF2B5EF4-FFF2-40B4-BE49-F238E27FC236}">
                <a16:creationId xmlns:a16="http://schemas.microsoft.com/office/drawing/2014/main" id="{D09EE649-D55B-3C1C-77F0-8B5331337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45" y="6602300"/>
            <a:ext cx="9940091" cy="6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3E0C46-3720-CF88-0A3D-A1407BE45BE4}"/>
              </a:ext>
            </a:extLst>
          </p:cNvPr>
          <p:cNvSpPr/>
          <p:nvPr userDrawn="1"/>
        </p:nvSpPr>
        <p:spPr>
          <a:xfrm>
            <a:off x="55050" y="548680"/>
            <a:ext cx="6623330" cy="2415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AS-IS</a:t>
            </a:r>
            <a:endParaRPr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916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200E0B7-8F6D-ADA3-2E64-CA79A11C8FF6}"/>
              </a:ext>
            </a:extLst>
          </p:cNvPr>
          <p:cNvSpPr/>
          <p:nvPr userDrawn="1"/>
        </p:nvSpPr>
        <p:spPr bwMode="auto">
          <a:xfrm>
            <a:off x="6681192" y="548680"/>
            <a:ext cx="311298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2B2DA4-1034-6770-85B6-8B33659289CA}"/>
              </a:ext>
            </a:extLst>
          </p:cNvPr>
          <p:cNvSpPr/>
          <p:nvPr userDrawn="1"/>
        </p:nvSpPr>
        <p:spPr bwMode="auto">
          <a:xfrm>
            <a:off x="56455" y="548680"/>
            <a:ext cx="6624737" cy="60075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ECE10-C884-CC5B-A572-7DA160A71536}"/>
              </a:ext>
            </a:extLst>
          </p:cNvPr>
          <p:cNvSpPr/>
          <p:nvPr userDrawn="1"/>
        </p:nvSpPr>
        <p:spPr>
          <a:xfrm>
            <a:off x="6679786" y="548680"/>
            <a:ext cx="3112987" cy="24156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0" algn="ctr"/>
            <a:r>
              <a:rPr lang="ko-KR" altLang="en-US" sz="1400" b="1" dirty="0">
                <a:solidFill>
                  <a:prstClr val="white"/>
                </a:solidFill>
                <a:latin typeface="Calibri" pitchFamily="34" charset="0"/>
              </a:rPr>
              <a:t>주요기능</a:t>
            </a:r>
            <a:r>
              <a:rPr lang="en-US" altLang="ko-KR" sz="1400" b="1" dirty="0">
                <a:solidFill>
                  <a:prstClr val="white"/>
                </a:solidFill>
                <a:latin typeface="Calibri" pitchFamily="34" charset="0"/>
              </a:rPr>
              <a:t>/Description</a:t>
            </a:r>
            <a:endParaRPr lang="ko-KR" altLang="en-US" sz="1400" b="1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2B0EC2BF-21E1-6CE3-0A27-C6891B54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906000" cy="428624"/>
          </a:xfrm>
          <a:prstGeom prst="rect">
            <a:avLst/>
          </a:prstGeom>
        </p:spPr>
        <p:txBody>
          <a:bodyPr anchor="b"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C1D327-B5AB-CED0-4296-5EF7F59BAD3A}"/>
              </a:ext>
            </a:extLst>
          </p:cNvPr>
          <p:cNvSpPr/>
          <p:nvPr userDrawn="1"/>
        </p:nvSpPr>
        <p:spPr>
          <a:xfrm flipV="1">
            <a:off x="0" y="428625"/>
            <a:ext cx="9906000" cy="4603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 dirty="0"/>
          </a:p>
        </p:txBody>
      </p:sp>
      <p:pic>
        <p:nvPicPr>
          <p:cNvPr id="13" name="그림 12" descr="바닥라인">
            <a:extLst>
              <a:ext uri="{FF2B5EF4-FFF2-40B4-BE49-F238E27FC236}">
                <a16:creationId xmlns:a16="http://schemas.microsoft.com/office/drawing/2014/main" id="{D09EE649-D55B-3C1C-77F0-8B5331337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45" y="6602300"/>
            <a:ext cx="9940091" cy="6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3E0C46-3720-CF88-0A3D-A1407BE45BE4}"/>
              </a:ext>
            </a:extLst>
          </p:cNvPr>
          <p:cNvSpPr/>
          <p:nvPr userDrawn="1"/>
        </p:nvSpPr>
        <p:spPr>
          <a:xfrm>
            <a:off x="55050" y="548680"/>
            <a:ext cx="6623330" cy="2415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TO-BE</a:t>
            </a:r>
            <a:endParaRPr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367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695297D4-8CE0-AE9E-4C7D-A42EEF6CA7E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464" y="6710658"/>
            <a:ext cx="634290" cy="102718"/>
          </a:xfrm>
          <a:prstGeom prst="rect">
            <a:avLst/>
          </a:prstGeom>
        </p:spPr>
      </p:pic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BBD3BED5-179F-F318-518E-CD7F79FA4ADC}"/>
              </a:ext>
            </a:extLst>
          </p:cNvPr>
          <p:cNvSpPr txBox="1">
            <a:spLocks/>
          </p:cNvSpPr>
          <p:nvPr userDrawn="1"/>
        </p:nvSpPr>
        <p:spPr>
          <a:xfrm>
            <a:off x="3838575" y="6710658"/>
            <a:ext cx="2228850" cy="1473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82000"/>
                  </a:schemeClr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/>
            <a:fld id="{E08EE298-C19D-4202-9592-694625851F92}" type="slidenum">
              <a:rPr lang="ko-KR" altLang="en-US" sz="1000" smtClean="0"/>
              <a:pPr algn="ctr"/>
              <a:t>‹#›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25520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20" r:id="rId2"/>
    <p:sldLayoutId id="2147484319" r:id="rId3"/>
    <p:sldLayoutId id="2147484321" r:id="rId4"/>
    <p:sldLayoutId id="2147484329" r:id="rId5"/>
    <p:sldLayoutId id="2147484330" r:id="rId6"/>
    <p:sldLayoutId id="2147484331" r:id="rId7"/>
    <p:sldLayoutId id="2147484332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3.png"/><Relationship Id="rId7" Type="http://schemas.openxmlformats.org/officeDocument/2006/relationships/image" Target="../media/image7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20499"/>
              </p:ext>
            </p:extLst>
          </p:nvPr>
        </p:nvGraphicFramePr>
        <p:xfrm>
          <a:off x="2911703" y="3911656"/>
          <a:ext cx="4140000" cy="1375940"/>
        </p:xfrm>
        <a:graphic>
          <a:graphicData uri="http://schemas.openxmlformats.org/drawingml/2006/table">
            <a:tbl>
              <a:tblPr/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249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수행사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고객사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6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baseline="0" dirty="0">
                          <a:solidFill>
                            <a:srgbClr val="000000"/>
                          </a:solidFill>
                          <a:latin typeface="맑은 고딕"/>
                        </a:rPr>
                        <a:t>작성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검토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승인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성명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직급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홍길동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부장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4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02 / 10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/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131335"/>
              </p:ext>
            </p:extLst>
          </p:nvPr>
        </p:nvGraphicFramePr>
        <p:xfrm>
          <a:off x="2702053" y="2167192"/>
          <a:ext cx="4559300" cy="1476000"/>
        </p:xfrm>
        <a:graphic>
          <a:graphicData uri="http://schemas.openxmlformats.org/drawingml/2006/table">
            <a:tbl>
              <a:tblPr/>
              <a:tblGrid>
                <a:gridCol w="707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7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1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프로젝트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UTI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그룹웨어 구축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Phase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Segment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전자결재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Task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i="0" dirty="0">
                          <a:latin typeface="+mn-ea"/>
                          <a:ea typeface="+mn-ea"/>
                        </a:rPr>
                        <a:t>분석</a:t>
                      </a:r>
                      <a:r>
                        <a:rPr lang="en-US" altLang="ko-KR" sz="1000" b="0" i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i="0" dirty="0">
                          <a:latin typeface="+mn-ea"/>
                          <a:ea typeface="+mn-ea"/>
                        </a:rPr>
                        <a:t>설계 단계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0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코비젼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E5242F2C-113C-33E4-E8D2-BCE5E9EB2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2800" b="1" dirty="0"/>
              <a:t>[</a:t>
            </a:r>
            <a:r>
              <a:rPr lang="en-US" altLang="ko-KR" sz="2800" dirty="0"/>
              <a:t>UTI</a:t>
            </a:r>
            <a:r>
              <a:rPr lang="en-US" altLang="ko-KR" sz="2800" b="1" dirty="0"/>
              <a:t>] </a:t>
            </a:r>
            <a:r>
              <a:rPr lang="ko-KR" altLang="en-US" sz="2800" b="1" dirty="0"/>
              <a:t>전자결재 화면 설계서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A2EB4D37-7CBC-2E77-27AA-62C39F138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8575" y="5639848"/>
            <a:ext cx="2228850" cy="597464"/>
          </a:xfrm>
        </p:spPr>
        <p:txBody>
          <a:bodyPr/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2026.03.16</a:t>
            </a: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6860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6502A-4FB9-FF24-F407-C8A2DD3F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문서 버전 이력</a:t>
            </a:r>
            <a:endParaRPr lang="ko-KR" altLang="en-US" dirty="0"/>
          </a:p>
        </p:txBody>
      </p:sp>
      <p:graphicFrame>
        <p:nvGraphicFramePr>
          <p:cNvPr id="3" name="Group 304">
            <a:extLst>
              <a:ext uri="{FF2B5EF4-FFF2-40B4-BE49-F238E27FC236}">
                <a16:creationId xmlns:a16="http://schemas.microsoft.com/office/drawing/2014/main" id="{12BA2411-0C77-6CC9-1ED1-3A2560B8C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230774"/>
              </p:ext>
            </p:extLst>
          </p:nvPr>
        </p:nvGraphicFramePr>
        <p:xfrm>
          <a:off x="388785" y="680953"/>
          <a:ext cx="9126001" cy="3709990"/>
        </p:xfrm>
        <a:graphic>
          <a:graphicData uri="http://schemas.openxmlformats.org/drawingml/2006/table">
            <a:tbl>
              <a:tblPr/>
              <a:tblGrid>
                <a:gridCol w="102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개정 페이지 및 내용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1.0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작성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방영환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2026.03.16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BDC3C6F-C334-0619-07B7-373949601B4B}"/>
              </a:ext>
            </a:extLst>
          </p:cNvPr>
          <p:cNvSpPr/>
          <p:nvPr/>
        </p:nvSpPr>
        <p:spPr>
          <a:xfrm>
            <a:off x="388785" y="5478323"/>
            <a:ext cx="9126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  <a:ea typeface="+mn-ea"/>
              </a:rPr>
              <a:t>[ </a:t>
            </a:r>
            <a:r>
              <a:rPr lang="ko-KR" altLang="en-US" sz="1200" b="1" dirty="0">
                <a:latin typeface="+mn-ea"/>
                <a:ea typeface="+mn-ea"/>
              </a:rPr>
              <a:t>소유권 정보 </a:t>
            </a:r>
            <a:r>
              <a:rPr lang="en-US" altLang="ko-KR" sz="1200" b="1" dirty="0">
                <a:latin typeface="+mn-ea"/>
                <a:ea typeface="+mn-ea"/>
              </a:rPr>
              <a:t>]</a:t>
            </a:r>
            <a:endParaRPr lang="ko-KR" altLang="en-US" sz="1200" b="1" dirty="0">
              <a:latin typeface="+mn-ea"/>
              <a:ea typeface="+mn-ea"/>
            </a:endParaRPr>
          </a:p>
          <a:p>
            <a:r>
              <a:rPr lang="ko-KR" altLang="en-US" sz="1200" i="1" dirty="0">
                <a:latin typeface="+mn-ea"/>
                <a:ea typeface="+mn-ea"/>
              </a:rPr>
              <a:t>본 문서는 </a:t>
            </a:r>
            <a:r>
              <a:rPr lang="ko-KR" altLang="en-US" sz="1200" i="1" dirty="0" err="1">
                <a:latin typeface="+mn-ea"/>
                <a:ea typeface="+mn-ea"/>
              </a:rPr>
              <a:t>코비젼이</a:t>
            </a:r>
            <a:r>
              <a:rPr lang="ko-KR" altLang="en-US" sz="1200" i="1" dirty="0">
                <a:latin typeface="+mn-ea"/>
                <a:ea typeface="+mn-ea"/>
              </a:rPr>
              <a:t>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제출하는 프로젝트 산출물의 하나이므로, 이 문서의 소유권은 원칙적으로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]에 있습니다. 그러나 문서의 형태 및 </a:t>
            </a:r>
            <a:r>
              <a:rPr lang="ko-KR" altLang="en-US" sz="1200" i="1" dirty="0" err="1">
                <a:latin typeface="+mn-ea"/>
                <a:ea typeface="+mn-ea"/>
              </a:rPr>
              <a:t>내용구성은</a:t>
            </a:r>
            <a:r>
              <a:rPr lang="ko-KR" altLang="en-US" sz="1200" i="1" dirty="0">
                <a:latin typeface="+mn-ea"/>
                <a:ea typeface="+mn-ea"/>
              </a:rPr>
              <a:t> </a:t>
            </a:r>
            <a:r>
              <a:rPr lang="ko-KR" altLang="en-US" sz="1200" i="1" dirty="0" err="1">
                <a:latin typeface="+mn-ea"/>
                <a:ea typeface="+mn-ea"/>
              </a:rPr>
              <a:t>코비젼의</a:t>
            </a:r>
            <a:r>
              <a:rPr lang="ko-KR" altLang="en-US" sz="1200" i="1" dirty="0">
                <a:latin typeface="+mn-ea"/>
                <a:ea typeface="+mn-ea"/>
              </a:rPr>
              <a:t> 지적 자산이므로 [</a:t>
            </a:r>
            <a:r>
              <a:rPr lang="ko-KR" altLang="en-US" sz="1200" i="1" dirty="0" err="1">
                <a:latin typeface="+mn-ea"/>
                <a:ea typeface="+mn-ea"/>
              </a:rPr>
              <a:t>고객사</a:t>
            </a:r>
            <a:r>
              <a:rPr lang="ko-KR" altLang="en-US" sz="1200" i="1" dirty="0">
                <a:latin typeface="+mn-ea"/>
                <a:ea typeface="+mn-ea"/>
              </a:rPr>
              <a:t>]가 이 문서를 다른 용도로 임의로 변경하여 사용할 수 없음을 주지하시기 바랍니다.</a:t>
            </a:r>
          </a:p>
        </p:txBody>
      </p:sp>
    </p:spTree>
    <p:extLst>
      <p:ext uri="{BB962C8B-B14F-4D97-AF65-F5344CB8AC3E}">
        <p14:creationId xmlns:p14="http://schemas.microsoft.com/office/powerpoint/2010/main" val="136040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D74D2-0933-6A98-D278-62EB59EA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D1D73-97E5-BDC9-7A81-3E863CB34EBE}"/>
              </a:ext>
            </a:extLst>
          </p:cNvPr>
          <p:cNvSpPr txBox="1"/>
          <p:nvPr/>
        </p:nvSpPr>
        <p:spPr>
          <a:xfrm>
            <a:off x="310390" y="980728"/>
            <a:ext cx="2671200" cy="48520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lang="ko-KR"/>
            </a:defPPr>
            <a:lvl1pPr marL="342900" indent="-342900">
              <a:lnSpc>
                <a:spcPct val="150000"/>
              </a:lnSpc>
              <a:buFont typeface="+mj-lt"/>
              <a:buAutoNum type="arabicPeriod" startAt="4"/>
              <a:defRPr sz="1400" b="1" spc="-8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defRPr>
            </a:lvl1pPr>
            <a:lvl2pPr marL="539750" lvl="1" indent="-273050">
              <a:lnSpc>
                <a:spcPct val="150000"/>
              </a:lnSpc>
              <a:buFont typeface="+mj-lt"/>
              <a:buAutoNum type="arabicParenR"/>
              <a:defRPr sz="1200" spc="-8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defRPr>
            </a:lvl2pPr>
          </a:lstStyle>
          <a:p>
            <a:pPr>
              <a:buFont typeface="+mj-lt"/>
              <a:buAutoNum type="arabicPeriod"/>
            </a:pPr>
            <a:r>
              <a:rPr lang="ko-KR" altLang="en-US" dirty="0"/>
              <a:t>메인</a:t>
            </a:r>
            <a:r>
              <a:rPr lang="en-US" altLang="ko-KR" dirty="0"/>
              <a:t>/</a:t>
            </a:r>
            <a:r>
              <a:rPr lang="ko-KR" altLang="en-US" dirty="0"/>
              <a:t>메뉴 구성</a:t>
            </a:r>
            <a:endParaRPr lang="en-US" altLang="ko-KR" dirty="0"/>
          </a:p>
          <a:p>
            <a:pPr lvl="1"/>
            <a:r>
              <a:rPr lang="ko-KR" altLang="en-US" dirty="0"/>
              <a:t>메인 화면</a:t>
            </a:r>
            <a:endParaRPr lang="en-US" altLang="ko-KR" dirty="0"/>
          </a:p>
          <a:p>
            <a:pPr lvl="1"/>
            <a:r>
              <a:rPr lang="ko-KR" altLang="en-US" dirty="0"/>
              <a:t>메뉴</a:t>
            </a:r>
            <a:endParaRPr lang="en-US" altLang="ko-KR" dirty="0"/>
          </a:p>
          <a:p>
            <a:pPr lvl="1"/>
            <a:endParaRPr lang="en-US" altLang="ko-KR" dirty="0"/>
          </a:p>
          <a:p>
            <a:pPr>
              <a:buAutoNum type="arabicPeriod"/>
            </a:pPr>
            <a:r>
              <a:rPr lang="ko-KR" altLang="en-US" dirty="0"/>
              <a:t>결재작성</a:t>
            </a:r>
            <a:endParaRPr lang="en-US" altLang="ko-KR" dirty="0"/>
          </a:p>
          <a:p>
            <a:pPr lvl="1"/>
            <a:r>
              <a:rPr lang="ko-KR" altLang="en-US" dirty="0"/>
              <a:t>결재작성</a:t>
            </a:r>
            <a:r>
              <a:rPr lang="en-US" altLang="ko-KR" dirty="0"/>
              <a:t>(</a:t>
            </a:r>
            <a:r>
              <a:rPr lang="ko-KR" altLang="en-US" dirty="0"/>
              <a:t>양식함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>
              <a:buAutoNum type="arabicPeriod"/>
            </a:pPr>
            <a:r>
              <a:rPr lang="ko-KR" altLang="en-US" dirty="0"/>
              <a:t>개인 결재함</a:t>
            </a:r>
            <a:endParaRPr lang="en-US" altLang="ko-KR" dirty="0"/>
          </a:p>
          <a:p>
            <a:pPr lvl="1"/>
            <a:r>
              <a:rPr lang="ko-KR" altLang="en-US" dirty="0"/>
              <a:t>예고함</a:t>
            </a:r>
            <a:endParaRPr lang="en-US" altLang="ko-KR" dirty="0"/>
          </a:p>
          <a:p>
            <a:pPr lvl="1"/>
            <a:r>
              <a:rPr lang="ko-KR" altLang="en-US" dirty="0"/>
              <a:t>미결함</a:t>
            </a:r>
            <a:endParaRPr lang="en-US" altLang="ko-KR" dirty="0"/>
          </a:p>
          <a:p>
            <a:pPr lvl="1"/>
            <a:r>
              <a:rPr lang="ko-KR" altLang="en-US" dirty="0"/>
              <a:t>진행함</a:t>
            </a:r>
            <a:endParaRPr lang="en-US" altLang="ko-KR" dirty="0"/>
          </a:p>
          <a:p>
            <a:pPr lvl="1"/>
            <a:r>
              <a:rPr lang="ko-KR" altLang="en-US" dirty="0"/>
              <a:t>완료함</a:t>
            </a:r>
            <a:endParaRPr lang="en-US" altLang="ko-KR" dirty="0"/>
          </a:p>
          <a:p>
            <a:pPr lvl="1"/>
            <a:r>
              <a:rPr lang="ko-KR" altLang="en-US" dirty="0"/>
              <a:t>반려함</a:t>
            </a:r>
            <a:endParaRPr lang="en-US" altLang="ko-KR" dirty="0"/>
          </a:p>
          <a:p>
            <a:pPr lvl="1"/>
            <a:r>
              <a:rPr lang="ko-KR" altLang="en-US" dirty="0" err="1"/>
              <a:t>임시함</a:t>
            </a:r>
            <a:endParaRPr lang="en-US" altLang="ko-KR" dirty="0"/>
          </a:p>
          <a:p>
            <a:pPr lvl="1"/>
            <a:r>
              <a:rPr lang="ko-KR" altLang="en-US" dirty="0"/>
              <a:t>참조</a:t>
            </a:r>
            <a:r>
              <a:rPr lang="en-US" altLang="ko-KR" dirty="0"/>
              <a:t>/</a:t>
            </a:r>
            <a:r>
              <a:rPr lang="ko-KR" altLang="en-US" dirty="0"/>
              <a:t>회람함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B4F9A-CF2D-D341-C262-21E7AC3FCC6E}"/>
              </a:ext>
            </a:extLst>
          </p:cNvPr>
          <p:cNvSpPr txBox="1"/>
          <p:nvPr/>
        </p:nvSpPr>
        <p:spPr>
          <a:xfrm>
            <a:off x="3612390" y="980728"/>
            <a:ext cx="2671200" cy="54309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lang="ko-KR"/>
            </a:defPPr>
            <a:lvl1pPr marL="342900" indent="-342900">
              <a:lnSpc>
                <a:spcPct val="150000"/>
              </a:lnSpc>
              <a:buFont typeface="+mj-lt"/>
              <a:buAutoNum type="arabicPeriod" startAt="6"/>
              <a:defRPr sz="1400" b="1" spc="-8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defRPr>
            </a:lvl1pPr>
            <a:lvl2pPr marL="539750" lvl="1" indent="-273050">
              <a:lnSpc>
                <a:spcPct val="150000"/>
              </a:lnSpc>
              <a:buFont typeface="+mj-lt"/>
              <a:buAutoNum type="arabicParenR"/>
              <a:defRPr sz="1200" spc="-8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defRPr>
            </a:lvl2pPr>
          </a:lstStyle>
          <a:p>
            <a:pPr>
              <a:buFont typeface="+mj-lt"/>
              <a:buAutoNum type="arabicPeriod" startAt="4"/>
            </a:pPr>
            <a:r>
              <a:rPr lang="ko-KR" altLang="en-US" dirty="0"/>
              <a:t>부서 결재함</a:t>
            </a:r>
            <a:endParaRPr lang="en-US" altLang="ko-KR" dirty="0"/>
          </a:p>
          <a:p>
            <a:pPr lvl="1"/>
            <a:r>
              <a:rPr lang="ko-KR" altLang="en-US" dirty="0"/>
              <a:t>완료함</a:t>
            </a:r>
            <a:r>
              <a:rPr lang="en-US" altLang="ko-KR" dirty="0"/>
              <a:t>/</a:t>
            </a:r>
            <a:r>
              <a:rPr lang="ko-KR" altLang="en-US" dirty="0"/>
              <a:t>발신함</a:t>
            </a:r>
            <a:r>
              <a:rPr lang="en-US" altLang="ko-KR" dirty="0"/>
              <a:t>/</a:t>
            </a:r>
            <a:r>
              <a:rPr lang="ko-KR" altLang="en-US" dirty="0"/>
              <a:t>수신처리함</a:t>
            </a:r>
            <a:endParaRPr lang="en-US" altLang="ko-KR" dirty="0"/>
          </a:p>
          <a:p>
            <a:pPr lvl="1"/>
            <a:r>
              <a:rPr lang="ko-KR" altLang="en-US" dirty="0"/>
              <a:t>수신함</a:t>
            </a:r>
            <a:endParaRPr lang="en-US" altLang="ko-KR" dirty="0"/>
          </a:p>
          <a:p>
            <a:pPr lvl="1"/>
            <a:r>
              <a:rPr lang="ko-KR" altLang="en-US" dirty="0" err="1"/>
              <a:t>수신진행함</a:t>
            </a:r>
            <a:endParaRPr lang="en-US" altLang="ko-KR" dirty="0"/>
          </a:p>
          <a:p>
            <a:pPr lvl="1"/>
            <a:r>
              <a:rPr lang="ko-KR" altLang="en-US" dirty="0"/>
              <a:t>참조</a:t>
            </a:r>
            <a:r>
              <a:rPr lang="en-US" altLang="ko-KR" dirty="0"/>
              <a:t>/</a:t>
            </a:r>
            <a:r>
              <a:rPr lang="ko-KR" altLang="en-US" dirty="0"/>
              <a:t>회람함</a:t>
            </a:r>
            <a:endParaRPr lang="en-US" altLang="ko-KR" dirty="0"/>
          </a:p>
          <a:p>
            <a:pPr lvl="1"/>
            <a:endParaRPr lang="en-US" altLang="ko-KR" dirty="0"/>
          </a:p>
          <a:p>
            <a:pPr>
              <a:buAutoNum type="arabicPeriod" startAt="4"/>
            </a:pPr>
            <a:r>
              <a:rPr lang="ko-KR" altLang="en-US" dirty="0" err="1"/>
              <a:t>개인폴더</a:t>
            </a:r>
            <a:r>
              <a:rPr lang="ko-KR" altLang="en-US" dirty="0"/>
              <a:t> 및 환경설정</a:t>
            </a:r>
            <a:endParaRPr lang="en-US" altLang="ko-KR" dirty="0"/>
          </a:p>
          <a:p>
            <a:pPr lvl="1"/>
            <a:r>
              <a:rPr lang="ko-KR" altLang="en-US" dirty="0" err="1"/>
              <a:t>개인폴더</a:t>
            </a:r>
            <a:endParaRPr lang="en-US" altLang="ko-KR" dirty="0"/>
          </a:p>
          <a:p>
            <a:pPr lvl="1"/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/>
              <a:t>대결설정</a:t>
            </a:r>
            <a:endParaRPr lang="en-US" altLang="ko-KR" dirty="0"/>
          </a:p>
          <a:p>
            <a:pPr lvl="1"/>
            <a:r>
              <a:rPr lang="ko-KR" altLang="en-US" dirty="0"/>
              <a:t>환경설정 </a:t>
            </a:r>
            <a:r>
              <a:rPr lang="en-US" altLang="ko-KR" dirty="0"/>
              <a:t>- </a:t>
            </a:r>
            <a:r>
              <a:rPr lang="ko-KR" altLang="en-US" dirty="0"/>
              <a:t>비밀번호설정</a:t>
            </a:r>
            <a:endParaRPr lang="en-US" altLang="ko-KR" dirty="0"/>
          </a:p>
          <a:p>
            <a:pPr lvl="1"/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 err="1"/>
              <a:t>알림설정</a:t>
            </a:r>
            <a:endParaRPr lang="en-US" altLang="ko-KR" dirty="0"/>
          </a:p>
          <a:p>
            <a:pPr lvl="1"/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/>
              <a:t>서명설정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결재문서 작성</a:t>
            </a:r>
            <a:endParaRPr lang="en-US" altLang="ko-KR" dirty="0"/>
          </a:p>
          <a:p>
            <a:pPr lvl="1"/>
            <a:r>
              <a:rPr lang="ko-KR" altLang="en-US" dirty="0"/>
              <a:t>결재문서 기본서식</a:t>
            </a:r>
            <a:endParaRPr lang="en-US" altLang="ko-KR" dirty="0"/>
          </a:p>
          <a:p>
            <a:pPr lvl="1"/>
            <a:r>
              <a:rPr lang="ko-KR" altLang="en-US" dirty="0"/>
              <a:t>결재선 및 문서정보</a:t>
            </a:r>
            <a:endParaRPr lang="en-US" altLang="ko-KR" dirty="0"/>
          </a:p>
          <a:p>
            <a:pPr lvl="1"/>
            <a:r>
              <a:rPr lang="ko-KR" altLang="en-US" dirty="0"/>
              <a:t>프로세스별 결재선</a:t>
            </a:r>
            <a:r>
              <a:rPr lang="en-US" altLang="ko-KR" dirty="0"/>
              <a:t>(</a:t>
            </a:r>
            <a:r>
              <a:rPr lang="ko-KR" altLang="en-US" dirty="0" err="1"/>
              <a:t>결재방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결재선 설정</a:t>
            </a:r>
            <a:endParaRPr lang="en-US" altLang="ko-KR" dirty="0"/>
          </a:p>
          <a:p>
            <a:pPr lvl="1"/>
            <a:r>
              <a:rPr lang="ko-KR" altLang="en-US" dirty="0"/>
              <a:t>문서연결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DA20A-72DE-D6A5-FA11-278BD483D8E7}"/>
              </a:ext>
            </a:extLst>
          </p:cNvPr>
          <p:cNvSpPr txBox="1"/>
          <p:nvPr/>
        </p:nvSpPr>
        <p:spPr>
          <a:xfrm>
            <a:off x="6914390" y="980728"/>
            <a:ext cx="2671200" cy="522726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lang="ko-KR"/>
            </a:defPPr>
            <a:lvl1pPr marL="342900" indent="-342900">
              <a:lnSpc>
                <a:spcPct val="150000"/>
              </a:lnSpc>
              <a:buFont typeface="+mj-lt"/>
              <a:buAutoNum type="arabicPeriod" startAt="4"/>
              <a:defRPr sz="1400" b="1" spc="-8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defRPr>
            </a:lvl1pPr>
            <a:lvl2pPr marL="539750" lvl="1" indent="-273050">
              <a:lnSpc>
                <a:spcPct val="150000"/>
              </a:lnSpc>
              <a:buFont typeface="+mj-lt"/>
              <a:buAutoNum type="arabicParenR"/>
              <a:defRPr sz="1200" spc="-80">
                <a:solidFill>
                  <a:prstClr val="black">
                    <a:lumMod val="85000"/>
                    <a:lumOff val="15000"/>
                  </a:prstClr>
                </a:solidFill>
                <a:ea typeface="맑은 고딕" panose="020B0503020000020004" pitchFamily="50" charset="-127"/>
                <a:cs typeface="Arial" pitchFamily="34" charset="0"/>
              </a:defRPr>
            </a:lvl2pPr>
          </a:lstStyle>
          <a:p>
            <a:pPr>
              <a:buAutoNum type="arabicPeriod" startAt="6"/>
            </a:pPr>
            <a:r>
              <a:rPr lang="ko-KR" altLang="en-US" dirty="0"/>
              <a:t>결재문서 보기</a:t>
            </a:r>
            <a:r>
              <a:rPr lang="en-US" altLang="ko-KR" dirty="0"/>
              <a:t>/</a:t>
            </a:r>
            <a:r>
              <a:rPr lang="ko-KR" altLang="en-US" dirty="0"/>
              <a:t>결재</a:t>
            </a:r>
            <a:r>
              <a:rPr lang="en-US" altLang="ko-KR" dirty="0"/>
              <a:t>(</a:t>
            </a:r>
            <a:r>
              <a:rPr lang="ko-KR" altLang="en-US" dirty="0"/>
              <a:t>승인</a:t>
            </a:r>
            <a:r>
              <a:rPr lang="en-US" altLang="ko-KR" dirty="0"/>
              <a:t>/</a:t>
            </a:r>
            <a:r>
              <a:rPr lang="ko-KR" altLang="en-US" dirty="0"/>
              <a:t>반려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진행문서</a:t>
            </a:r>
            <a:r>
              <a:rPr lang="en-US" altLang="ko-KR" dirty="0"/>
              <a:t>(</a:t>
            </a:r>
            <a:r>
              <a:rPr lang="ko-KR" altLang="en-US" dirty="0"/>
              <a:t>결재하기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완료문서</a:t>
            </a:r>
            <a:endParaRPr lang="en-US" altLang="ko-KR" dirty="0"/>
          </a:p>
          <a:p>
            <a:pPr lvl="1"/>
            <a:endParaRPr lang="en-US" altLang="ko-KR" dirty="0"/>
          </a:p>
          <a:p>
            <a:pPr>
              <a:buAutoNum type="arabicPeriod" startAt="6"/>
            </a:pPr>
            <a:r>
              <a:rPr lang="ko-KR" altLang="en-US" dirty="0"/>
              <a:t>기타기능</a:t>
            </a:r>
            <a:endParaRPr lang="en-US" altLang="ko-KR" dirty="0"/>
          </a:p>
          <a:p>
            <a:pPr lvl="1"/>
            <a:r>
              <a:rPr lang="ko-KR" altLang="en-US" dirty="0" err="1"/>
              <a:t>담당업무함</a:t>
            </a:r>
            <a:endParaRPr lang="en-US" altLang="ko-KR" dirty="0"/>
          </a:p>
          <a:p>
            <a:pPr lvl="1"/>
            <a:r>
              <a:rPr lang="ko-KR" altLang="en-US" dirty="0"/>
              <a:t>업무문서함</a:t>
            </a:r>
            <a:endParaRPr lang="en-US" altLang="ko-KR" dirty="0"/>
          </a:p>
          <a:p>
            <a:pPr lvl="1"/>
            <a:r>
              <a:rPr lang="ko-KR" altLang="en-US" dirty="0"/>
              <a:t>결재현황보기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521767F-836B-452D-C3E0-84B4A7BE7B6E}"/>
              </a:ext>
            </a:extLst>
          </p:cNvPr>
          <p:cNvCxnSpPr>
            <a:cxnSpLocks/>
          </p:cNvCxnSpPr>
          <p:nvPr/>
        </p:nvCxnSpPr>
        <p:spPr>
          <a:xfrm>
            <a:off x="6598990" y="777076"/>
            <a:ext cx="0" cy="5430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2115839-9DCA-8D67-6A2E-97FEB3E28B10}"/>
              </a:ext>
            </a:extLst>
          </p:cNvPr>
          <p:cNvCxnSpPr>
            <a:cxnSpLocks/>
          </p:cNvCxnSpPr>
          <p:nvPr/>
        </p:nvCxnSpPr>
        <p:spPr>
          <a:xfrm>
            <a:off x="3296990" y="777076"/>
            <a:ext cx="0" cy="5430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35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F03801-789E-38E7-1767-30CA0A8B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메인</a:t>
            </a:r>
            <a:r>
              <a:rPr lang="en-US" altLang="ko-KR" dirty="0"/>
              <a:t>/</a:t>
            </a:r>
            <a:r>
              <a:rPr lang="ko-KR" altLang="en-US" dirty="0"/>
              <a:t>메뉴 구성</a:t>
            </a:r>
          </a:p>
        </p:txBody>
      </p:sp>
    </p:spTree>
    <p:extLst>
      <p:ext uri="{BB962C8B-B14F-4D97-AF65-F5344CB8AC3E}">
        <p14:creationId xmlns:p14="http://schemas.microsoft.com/office/powerpoint/2010/main" val="250735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F9D3637-AFF5-56DD-F068-C4D268A8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0" y="1842958"/>
            <a:ext cx="6334196" cy="3242532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A29FBEDD-1BC3-2CEB-248A-36D801E1B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1.1. </a:t>
            </a:r>
            <a:r>
              <a:rPr lang="ko-KR" altLang="en-US" dirty="0"/>
              <a:t>메인 화면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776" y="165164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5026" y="165634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2044" y="229937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6015" y="229937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2"/>
          <p:cNvSpPr>
            <a:spLocks noChangeArrowheads="1"/>
          </p:cNvSpPr>
          <p:nvPr/>
        </p:nvSpPr>
        <p:spPr bwMode="auto">
          <a:xfrm>
            <a:off x="145249" y="1857656"/>
            <a:ext cx="1135343" cy="320942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3" name="직사각형 12"/>
          <p:cNvSpPr>
            <a:spLocks noChangeArrowheads="1"/>
          </p:cNvSpPr>
          <p:nvPr/>
        </p:nvSpPr>
        <p:spPr bwMode="auto">
          <a:xfrm>
            <a:off x="1424608" y="1861367"/>
            <a:ext cx="5112568" cy="320571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4" name="직사각형 12"/>
          <p:cNvSpPr>
            <a:spLocks noChangeArrowheads="1"/>
          </p:cNvSpPr>
          <p:nvPr/>
        </p:nvSpPr>
        <p:spPr bwMode="auto">
          <a:xfrm>
            <a:off x="1503439" y="2306564"/>
            <a:ext cx="1577353" cy="272403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50113"/>
              </p:ext>
            </p:extLst>
          </p:nvPr>
        </p:nvGraphicFramePr>
        <p:xfrm>
          <a:off x="6753200" y="908720"/>
          <a:ext cx="2972904" cy="4754880"/>
        </p:xfrm>
        <a:graphic>
          <a:graphicData uri="http://schemas.openxmlformats.org/drawingml/2006/table">
            <a:tbl>
              <a:tblPr/>
              <a:tblGrid>
                <a:gridCol w="380616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좌측 메뉴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포탈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타임라인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상태와 결재정보를 보여주는 알림 메시지를 나타낸다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결재현황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읽지 않은 회람문서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읽지않은 참조 문서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읽지 않은 미결문서 의 각 건수와 목록을 조회 할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011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즐겨 찾기 목록을 조회 할 수 있다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94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190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mpd="sng">
                      <a:solidFill>
                        <a:srgbClr val="0081E2"/>
                      </a:solidFill>
                      <a:prstDash val="sys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400974"/>
                  </a:ext>
                </a:extLst>
              </a:tr>
            </a:tbl>
          </a:graphicData>
        </a:graphic>
      </p:graphicFrame>
      <p:sp>
        <p:nvSpPr>
          <p:cNvPr id="21" name="직사각형 12"/>
          <p:cNvSpPr>
            <a:spLocks noChangeArrowheads="1"/>
          </p:cNvSpPr>
          <p:nvPr/>
        </p:nvSpPr>
        <p:spPr bwMode="auto">
          <a:xfrm>
            <a:off x="3187636" y="2306564"/>
            <a:ext cx="1577353" cy="272403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2" name="직사각형 12"/>
          <p:cNvSpPr>
            <a:spLocks noChangeArrowheads="1"/>
          </p:cNvSpPr>
          <p:nvPr/>
        </p:nvSpPr>
        <p:spPr bwMode="auto">
          <a:xfrm>
            <a:off x="4861717" y="2306564"/>
            <a:ext cx="1620000" cy="272403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4" name="TextBox 23"/>
          <p:cNvSpPr txBox="1"/>
          <p:nvPr/>
        </p:nvSpPr>
        <p:spPr>
          <a:xfrm>
            <a:off x="4844300" y="229937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39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E4D5F-856A-D298-140A-4906EEC47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284E8FC-38CD-2E7A-7EE6-1229B19D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메뉴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7C2B560-AA7B-89F6-4003-4B7BA2F6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33718"/>
              </p:ext>
            </p:extLst>
          </p:nvPr>
        </p:nvGraphicFramePr>
        <p:xfrm>
          <a:off x="6734538" y="836713"/>
          <a:ext cx="3023216" cy="4609920"/>
        </p:xfrm>
        <a:graphic>
          <a:graphicData uri="http://schemas.openxmlformats.org/drawingml/2006/table">
            <a:tbl>
              <a:tblPr/>
              <a:tblGrid>
                <a:gridCol w="306694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6522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1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작성버튼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 결재 작성 페이지로 이동한다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1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104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예고함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 하게 될 문서함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아직 오지 않은 문서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104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미결함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 할 문서함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사용자 차례인 문서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1431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결재를 작성하여 완료되지 않은 문서나 사용자가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포함되어 있으나 완료되지 않은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진행이 완료된 문서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진행이 반려된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104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사용자에게 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회람된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375836"/>
                  </a:ext>
                </a:extLst>
              </a:tr>
              <a:tr h="104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작성 중 임시 저장한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33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1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605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완료된 문서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860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발신 문서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98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수신 문서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11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수신진행함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진행 중인 문서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769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수신처리함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부서로 수신된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수신함에 들어온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중에서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재기안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처리가 되어 결재가 완료된 문서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39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 내 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 문서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104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 환경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81791"/>
                  </a:ext>
                </a:extLst>
              </a:tr>
              <a:tr h="1049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개인폴더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개인적으로 사용할 폴더를 등록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목록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15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담당업무함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담당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업무자로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결재 문서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승인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해야함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143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업무문서함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업무자로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지정된 결재 문서 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기능은 없고 열람 가능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61344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86273807-ED78-8E26-FF83-496A7A63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880" y="836712"/>
            <a:ext cx="1883165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A660-1590-2A79-7C93-FC8E1092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E1672B3-EA9A-517E-17C7-D54BFF3F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결재작성</a:t>
            </a:r>
          </a:p>
        </p:txBody>
      </p:sp>
    </p:spTree>
    <p:extLst>
      <p:ext uri="{BB962C8B-B14F-4D97-AF65-F5344CB8AC3E}">
        <p14:creationId xmlns:p14="http://schemas.microsoft.com/office/powerpoint/2010/main" val="273558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D380-CAD2-DD65-9CBF-71AEEBAA2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014E437F-E150-E17E-E45A-D21B4DDF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51" y="1215802"/>
            <a:ext cx="6074940" cy="499465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5DD1F9C7-F402-FAF5-AB0F-340F71FA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결재작성</a:t>
            </a:r>
            <a:r>
              <a:rPr lang="en-US" altLang="ko-KR" dirty="0"/>
              <a:t>(</a:t>
            </a:r>
            <a:r>
              <a:rPr lang="ko-KR" altLang="en-US" dirty="0"/>
              <a:t>양식함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C39B069-471C-ADF7-7CD8-0E8DEB308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6693"/>
              </p:ext>
            </p:extLst>
          </p:nvPr>
        </p:nvGraphicFramePr>
        <p:xfrm>
          <a:off x="6734538" y="836712"/>
          <a:ext cx="3023216" cy="2476800"/>
        </p:xfrm>
        <a:graphic>
          <a:graphicData uri="http://schemas.openxmlformats.org/drawingml/2006/table">
            <a:tbl>
              <a:tblPr/>
              <a:tblGrid>
                <a:gridCol w="306694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6522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110136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전자결재에서 시작되는 양식 목록을 표시함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최근기안한 양식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즐겨찾기 설정한 양식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검색에 따른 양식을 조회할 수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667397"/>
                  </a:ext>
                </a:extLst>
              </a:tr>
              <a:tr h="110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작성 가능한 양식 목록이 표시 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105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기안한 양식 목록을 조회하여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#1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166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즐겨찾기 설정한 양식 목록을 조회하여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#1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166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검색어를 기준으로 양식 목록을 조회하여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#1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226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결재양식에 대한 분류를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클릭 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분류에 해당하는 결재양식 목록을 조회하여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#1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105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클릭 시 결재문서 작성화면을 새 창으로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] 6.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결재문석작성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639505"/>
                  </a:ext>
                </a:extLst>
              </a:tr>
              <a:tr h="105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즐겨찾기 설정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12673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143427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73C00AD9-17DA-042D-B85C-39DAEE6AC57D}"/>
              </a:ext>
            </a:extLst>
          </p:cNvPr>
          <p:cNvSpPr txBox="1"/>
          <p:nvPr/>
        </p:nvSpPr>
        <p:spPr>
          <a:xfrm>
            <a:off x="2288704" y="134076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97611-70CA-5C60-9FF9-3BC5FE169CF3}"/>
              </a:ext>
            </a:extLst>
          </p:cNvPr>
          <p:cNvSpPr txBox="1"/>
          <p:nvPr/>
        </p:nvSpPr>
        <p:spPr>
          <a:xfrm>
            <a:off x="488504" y="154082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532371-BAB1-C1E2-06B6-4ABD5F08AEB8}"/>
              </a:ext>
            </a:extLst>
          </p:cNvPr>
          <p:cNvSpPr txBox="1"/>
          <p:nvPr/>
        </p:nvSpPr>
        <p:spPr>
          <a:xfrm>
            <a:off x="1424380" y="154082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71B872-15B9-9D61-BD5D-F43FAB679FB1}"/>
              </a:ext>
            </a:extLst>
          </p:cNvPr>
          <p:cNvSpPr txBox="1"/>
          <p:nvPr/>
        </p:nvSpPr>
        <p:spPr>
          <a:xfrm>
            <a:off x="304707" y="179275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CC4CD1-220B-F8E8-7BB4-791F70C893B1}"/>
              </a:ext>
            </a:extLst>
          </p:cNvPr>
          <p:cNvSpPr txBox="1"/>
          <p:nvPr/>
        </p:nvSpPr>
        <p:spPr>
          <a:xfrm>
            <a:off x="304707" y="217530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5A9833-3B52-5A1E-7B1C-B2A94D197225}"/>
              </a:ext>
            </a:extLst>
          </p:cNvPr>
          <p:cNvSpPr txBox="1"/>
          <p:nvPr/>
        </p:nvSpPr>
        <p:spPr>
          <a:xfrm>
            <a:off x="5936184" y="301354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53B765E-1140-656C-1816-48EF4A31388F}"/>
              </a:ext>
            </a:extLst>
          </p:cNvPr>
          <p:cNvSpPr/>
          <p:nvPr/>
        </p:nvSpPr>
        <p:spPr bwMode="auto">
          <a:xfrm>
            <a:off x="2299741" y="1540822"/>
            <a:ext cx="4062977" cy="463724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92F1D74-8BE7-FF22-8597-7D67065EB048}"/>
              </a:ext>
            </a:extLst>
          </p:cNvPr>
          <p:cNvSpPr/>
          <p:nvPr/>
        </p:nvSpPr>
        <p:spPr bwMode="auto">
          <a:xfrm>
            <a:off x="6047719" y="3173905"/>
            <a:ext cx="151515" cy="15841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97E559F-EB23-BE09-EA99-6B88FF535131}"/>
              </a:ext>
            </a:extLst>
          </p:cNvPr>
          <p:cNvSpPr/>
          <p:nvPr/>
        </p:nvSpPr>
        <p:spPr bwMode="auto">
          <a:xfrm>
            <a:off x="2461711" y="2401554"/>
            <a:ext cx="1831684" cy="5773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489C2C-1AE3-64C7-7EC9-32B63BCE74C8}"/>
              </a:ext>
            </a:extLst>
          </p:cNvPr>
          <p:cNvSpPr txBox="1"/>
          <p:nvPr/>
        </p:nvSpPr>
        <p:spPr>
          <a:xfrm>
            <a:off x="2363366" y="22279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04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7C55C26-E7DE-C4A3-DDDB-8FD270AB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개인결재함</a:t>
            </a:r>
          </a:p>
        </p:txBody>
      </p:sp>
    </p:spTree>
    <p:extLst>
      <p:ext uri="{BB962C8B-B14F-4D97-AF65-F5344CB8AC3E}">
        <p14:creationId xmlns:p14="http://schemas.microsoft.com/office/powerpoint/2010/main" val="91367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1C34622-F8DF-6B08-1DD7-2B17AC35F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03"/>
          <a:stretch/>
        </p:blipFill>
        <p:spPr>
          <a:xfrm>
            <a:off x="145141" y="2528546"/>
            <a:ext cx="6154961" cy="308859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83E7AC64-85FB-8707-E77C-D5BF0F72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/>
              <a:t>예고함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9586A-DD2F-B887-EB60-269107C3D104}"/>
              </a:ext>
            </a:extLst>
          </p:cNvPr>
          <p:cNvSpPr txBox="1"/>
          <p:nvPr/>
        </p:nvSpPr>
        <p:spPr>
          <a:xfrm>
            <a:off x="4187666" y="237555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98B509-80BB-AFEA-FDA1-5A67E17B4974}"/>
              </a:ext>
            </a:extLst>
          </p:cNvPr>
          <p:cNvSpPr/>
          <p:nvPr/>
        </p:nvSpPr>
        <p:spPr bwMode="auto">
          <a:xfrm>
            <a:off x="5741929" y="2551628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13377-A938-64BE-2D4B-6CBADA121338}"/>
              </a:ext>
            </a:extLst>
          </p:cNvPr>
          <p:cNvSpPr txBox="1"/>
          <p:nvPr/>
        </p:nvSpPr>
        <p:spPr>
          <a:xfrm>
            <a:off x="5703829" y="237555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359259-4F05-065D-FF77-3C916E862134}"/>
              </a:ext>
            </a:extLst>
          </p:cNvPr>
          <p:cNvSpPr txBox="1"/>
          <p:nvPr/>
        </p:nvSpPr>
        <p:spPr>
          <a:xfrm>
            <a:off x="194668" y="279493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22F97-04DC-797D-7191-7E9D1079B72F}"/>
              </a:ext>
            </a:extLst>
          </p:cNvPr>
          <p:cNvSpPr txBox="1"/>
          <p:nvPr/>
        </p:nvSpPr>
        <p:spPr>
          <a:xfrm>
            <a:off x="914715" y="279493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FD9F5-EC32-7BE0-84F1-A254DF108778}"/>
              </a:ext>
            </a:extLst>
          </p:cNvPr>
          <p:cNvSpPr txBox="1"/>
          <p:nvPr/>
        </p:nvSpPr>
        <p:spPr>
          <a:xfrm>
            <a:off x="50237" y="319951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411F83D-B06E-5A7B-628E-B5A5545F8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10630"/>
              </p:ext>
            </p:extLst>
          </p:nvPr>
        </p:nvGraphicFramePr>
        <p:xfrm>
          <a:off x="6724940" y="836712"/>
          <a:ext cx="3035919" cy="380532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결재하게 될 문서함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순서가 아직 오지 않은 문서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소속부서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의견이 있는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목록에 아이콘 표시됨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클릭 시 의견 상세보기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875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CE37248-ADD1-699A-194E-05D76E2A087A}"/>
              </a:ext>
            </a:extLst>
          </p:cNvPr>
          <p:cNvCxnSpPr>
            <a:cxnSpLocks/>
            <a:stCxn id="7" idx="0"/>
            <a:endCxn id="96" idx="2"/>
          </p:cNvCxnSpPr>
          <p:nvPr/>
        </p:nvCxnSpPr>
        <p:spPr>
          <a:xfrm rot="16200000" flipV="1">
            <a:off x="5104737" y="1684496"/>
            <a:ext cx="365713" cy="1368552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310428-AACC-7580-A748-ADD464A574F9}"/>
              </a:ext>
            </a:extLst>
          </p:cNvPr>
          <p:cNvSpPr/>
          <p:nvPr/>
        </p:nvSpPr>
        <p:spPr bwMode="auto">
          <a:xfrm>
            <a:off x="5958921" y="2929609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8E4397-3149-1DDB-8F55-4E4398B571C5}"/>
              </a:ext>
            </a:extLst>
          </p:cNvPr>
          <p:cNvSpPr txBox="1"/>
          <p:nvPr/>
        </p:nvSpPr>
        <p:spPr>
          <a:xfrm>
            <a:off x="5624435" y="278989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DEA39A6B-F3DF-ACF7-010C-80B4EECC82CF}"/>
              </a:ext>
            </a:extLst>
          </p:cNvPr>
          <p:cNvCxnSpPr>
            <a:cxnSpLocks/>
            <a:stCxn id="32" idx="3"/>
            <a:endCxn id="95" idx="3"/>
          </p:cNvCxnSpPr>
          <p:nvPr/>
        </p:nvCxnSpPr>
        <p:spPr>
          <a:xfrm flipV="1">
            <a:off x="6201808" y="1478586"/>
            <a:ext cx="202911" cy="1572676"/>
          </a:xfrm>
          <a:prstGeom prst="bentConnector3">
            <a:avLst>
              <a:gd name="adj1" fmla="val 21266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BB3E778-4DB5-BB6F-8D88-392E2B5D7202}"/>
              </a:ext>
            </a:extLst>
          </p:cNvPr>
          <p:cNvSpPr txBox="1"/>
          <p:nvPr/>
        </p:nvSpPr>
        <p:spPr>
          <a:xfrm>
            <a:off x="5896326" y="278989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9E2C448-94B0-FE70-4DFC-5301192D0EA0}"/>
              </a:ext>
            </a:extLst>
          </p:cNvPr>
          <p:cNvSpPr/>
          <p:nvPr/>
        </p:nvSpPr>
        <p:spPr bwMode="auto">
          <a:xfrm>
            <a:off x="361960" y="3899449"/>
            <a:ext cx="3614594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662BF2-9603-E01A-BCC6-F38F3A9E5671}"/>
              </a:ext>
            </a:extLst>
          </p:cNvPr>
          <p:cNvSpPr txBox="1"/>
          <p:nvPr/>
        </p:nvSpPr>
        <p:spPr>
          <a:xfrm>
            <a:off x="119164" y="330961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EA02A41-617A-B975-7611-E9B4D7072197}"/>
              </a:ext>
            </a:extLst>
          </p:cNvPr>
          <p:cNvSpPr/>
          <p:nvPr/>
        </p:nvSpPr>
        <p:spPr bwMode="auto">
          <a:xfrm>
            <a:off x="971864" y="3551322"/>
            <a:ext cx="167887" cy="1884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39AEE3-AE35-EE85-C9ED-F5241DFB5E3B}"/>
              </a:ext>
            </a:extLst>
          </p:cNvPr>
          <p:cNvSpPr txBox="1"/>
          <p:nvPr/>
        </p:nvSpPr>
        <p:spPr>
          <a:xfrm>
            <a:off x="318178" y="375587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5FCBB673-A136-E105-9C14-BC31B31CAF21}"/>
              </a:ext>
            </a:extLst>
          </p:cNvPr>
          <p:cNvCxnSpPr>
            <a:cxnSpLocks/>
            <a:stCxn id="79" idx="2"/>
            <a:endCxn id="77" idx="0"/>
          </p:cNvCxnSpPr>
          <p:nvPr/>
        </p:nvCxnSpPr>
        <p:spPr>
          <a:xfrm rot="16200000" flipH="1">
            <a:off x="1532696" y="3262888"/>
            <a:ext cx="159672" cy="1113449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B3B8A5C-6634-C92B-207D-5BE1BF2FF5DF}"/>
              </a:ext>
            </a:extLst>
          </p:cNvPr>
          <p:cNvSpPr/>
          <p:nvPr/>
        </p:nvSpPr>
        <p:spPr bwMode="auto">
          <a:xfrm>
            <a:off x="231221" y="3464657"/>
            <a:ext cx="5934917" cy="3667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9BC69D-DCFC-381F-46E6-30BFD6A3C859}"/>
              </a:ext>
            </a:extLst>
          </p:cNvPr>
          <p:cNvSpPr txBox="1"/>
          <p:nvPr/>
        </p:nvSpPr>
        <p:spPr>
          <a:xfrm>
            <a:off x="777417" y="341846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6D51AD8B-E593-5E6E-A429-994089B24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23" y="1047519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33D1AF5F-783D-8EA2-03DA-E4110C288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000" y="1047518"/>
            <a:ext cx="1314634" cy="11383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15EEF5D5-74C0-2E41-3F53-2900B739C7F9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7222B60-A6D7-A125-2358-B37C5668DF40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EE40D680-3467-3EE9-684E-F5F6E63E2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54" y="4310143"/>
            <a:ext cx="2534004" cy="217200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087DAFA-F738-25E0-4B57-CBE84736F561}"/>
              </a:ext>
            </a:extLst>
          </p:cNvPr>
          <p:cNvSpPr/>
          <p:nvPr/>
        </p:nvSpPr>
        <p:spPr bwMode="auto">
          <a:xfrm>
            <a:off x="5560199" y="3583395"/>
            <a:ext cx="128200" cy="1325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6530532-982D-81ED-5C67-B1BAE0C88277}"/>
              </a:ext>
            </a:extLst>
          </p:cNvPr>
          <p:cNvSpPr txBox="1"/>
          <p:nvPr/>
        </p:nvSpPr>
        <p:spPr>
          <a:xfrm>
            <a:off x="5455022" y="344368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2A5E82A3-0EFF-D52D-345B-C87522C518BE}"/>
              </a:ext>
            </a:extLst>
          </p:cNvPr>
          <p:cNvCxnSpPr>
            <a:cxnSpLocks/>
            <a:stCxn id="105" idx="2"/>
          </p:cNvCxnSpPr>
          <p:nvPr/>
        </p:nvCxnSpPr>
        <p:spPr>
          <a:xfrm rot="5400000">
            <a:off x="5146978" y="3832821"/>
            <a:ext cx="594191" cy="360452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DDD47AF-441F-404E-D5F9-0FA7F9105B36}"/>
              </a:ext>
            </a:extLst>
          </p:cNvPr>
          <p:cNvSpPr txBox="1"/>
          <p:nvPr/>
        </p:nvSpPr>
        <p:spPr>
          <a:xfrm>
            <a:off x="4023863" y="4149150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0311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4EFD-F676-B079-768B-4C0672E6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1CF465F-8BEC-7AF9-4B72-64FC73F5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313"/>
          <a:stretch/>
        </p:blipFill>
        <p:spPr>
          <a:xfrm>
            <a:off x="258408" y="2972156"/>
            <a:ext cx="6108283" cy="35531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FB26A2C6-DBE1-C954-42D5-32AEE1F2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/>
              <a:t>미결함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167AB-57AA-3592-917C-FD12D486E0F6}"/>
              </a:ext>
            </a:extLst>
          </p:cNvPr>
          <p:cNvSpPr txBox="1"/>
          <p:nvPr/>
        </p:nvSpPr>
        <p:spPr>
          <a:xfrm>
            <a:off x="4281883" y="280011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0BB777-3D70-FF10-250A-D733F3BDF764}"/>
              </a:ext>
            </a:extLst>
          </p:cNvPr>
          <p:cNvSpPr/>
          <p:nvPr/>
        </p:nvSpPr>
        <p:spPr bwMode="auto">
          <a:xfrm>
            <a:off x="5836146" y="2976188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A0B541-0806-6736-0B03-629E58659116}"/>
              </a:ext>
            </a:extLst>
          </p:cNvPr>
          <p:cNvSpPr/>
          <p:nvPr/>
        </p:nvSpPr>
        <p:spPr bwMode="auto">
          <a:xfrm>
            <a:off x="475227" y="4336709"/>
            <a:ext cx="4837814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E163B-1EB6-BA76-B63B-85186A49EC2F}"/>
              </a:ext>
            </a:extLst>
          </p:cNvPr>
          <p:cNvSpPr txBox="1"/>
          <p:nvPr/>
        </p:nvSpPr>
        <p:spPr>
          <a:xfrm>
            <a:off x="5798046" y="280011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106E82-7323-FA3B-4A3D-83E6DE95BE08}"/>
              </a:ext>
            </a:extLst>
          </p:cNvPr>
          <p:cNvSpPr txBox="1"/>
          <p:nvPr/>
        </p:nvSpPr>
        <p:spPr>
          <a:xfrm>
            <a:off x="307935" y="323854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13FBD-A2E6-AFDD-F134-411BE174C843}"/>
              </a:ext>
            </a:extLst>
          </p:cNvPr>
          <p:cNvSpPr txBox="1"/>
          <p:nvPr/>
        </p:nvSpPr>
        <p:spPr>
          <a:xfrm>
            <a:off x="1027982" y="323854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03BB4-AF84-0949-D129-D31E6974B2B1}"/>
              </a:ext>
            </a:extLst>
          </p:cNvPr>
          <p:cNvSpPr txBox="1"/>
          <p:nvPr/>
        </p:nvSpPr>
        <p:spPr>
          <a:xfrm>
            <a:off x="163504" y="355625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03A6AA-92F2-C5FF-C693-BECEEC39F506}"/>
              </a:ext>
            </a:extLst>
          </p:cNvPr>
          <p:cNvSpPr txBox="1"/>
          <p:nvPr/>
        </p:nvSpPr>
        <p:spPr>
          <a:xfrm>
            <a:off x="232431" y="374687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ECCAA1-73D6-DD77-EE06-7B90F3877220}"/>
              </a:ext>
            </a:extLst>
          </p:cNvPr>
          <p:cNvSpPr/>
          <p:nvPr/>
        </p:nvSpPr>
        <p:spPr bwMode="auto">
          <a:xfrm>
            <a:off x="1006550" y="3988582"/>
            <a:ext cx="167887" cy="1884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FCE19F-CFF7-58A2-2F19-6B2F014563A3}"/>
              </a:ext>
            </a:extLst>
          </p:cNvPr>
          <p:cNvSpPr txBox="1"/>
          <p:nvPr/>
        </p:nvSpPr>
        <p:spPr>
          <a:xfrm>
            <a:off x="431445" y="419313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C8AF6C0-744F-5F3F-EA73-C31DD57B1D3C}"/>
              </a:ext>
            </a:extLst>
          </p:cNvPr>
          <p:cNvCxnSpPr>
            <a:cxnSpLocks/>
            <a:stCxn id="7" idx="0"/>
            <a:endCxn id="62" idx="2"/>
          </p:cNvCxnSpPr>
          <p:nvPr/>
        </p:nvCxnSpPr>
        <p:spPr>
          <a:xfrm rot="16200000" flipV="1">
            <a:off x="4939566" y="1849667"/>
            <a:ext cx="790273" cy="1462769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1688C4C-BE55-0D92-193F-E17ACE0D261A}"/>
              </a:ext>
            </a:extLst>
          </p:cNvPr>
          <p:cNvSpPr/>
          <p:nvPr/>
        </p:nvSpPr>
        <p:spPr bwMode="auto">
          <a:xfrm>
            <a:off x="6053138" y="3354169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45BE5E-B54D-5F63-6490-66CA2B44F552}"/>
              </a:ext>
            </a:extLst>
          </p:cNvPr>
          <p:cNvSpPr txBox="1"/>
          <p:nvPr/>
        </p:nvSpPr>
        <p:spPr>
          <a:xfrm>
            <a:off x="5718652" y="321445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8704A4B-1CF0-78CB-714F-3CC476D8D3C6}"/>
              </a:ext>
            </a:extLst>
          </p:cNvPr>
          <p:cNvCxnSpPr>
            <a:cxnSpLocks/>
            <a:stCxn id="32" idx="3"/>
            <a:endCxn id="61" idx="3"/>
          </p:cNvCxnSpPr>
          <p:nvPr/>
        </p:nvCxnSpPr>
        <p:spPr>
          <a:xfrm flipV="1">
            <a:off x="6296025" y="1478586"/>
            <a:ext cx="108694" cy="1997236"/>
          </a:xfrm>
          <a:prstGeom prst="bentConnector3">
            <a:avLst>
              <a:gd name="adj1" fmla="val 31031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DBBDE70-5E3C-A135-B1A8-52161A27180B}"/>
              </a:ext>
            </a:extLst>
          </p:cNvPr>
          <p:cNvSpPr txBox="1"/>
          <p:nvPr/>
        </p:nvSpPr>
        <p:spPr>
          <a:xfrm>
            <a:off x="5990543" y="321445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145C04F-1FB8-658E-3A3B-6D7F68544914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1912478" y="3355053"/>
            <a:ext cx="159672" cy="180364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0F57A8C-BDF5-C15B-4987-61E416F9F896}"/>
              </a:ext>
            </a:extLst>
          </p:cNvPr>
          <p:cNvSpPr txBox="1"/>
          <p:nvPr/>
        </p:nvSpPr>
        <p:spPr>
          <a:xfrm>
            <a:off x="1646721" y="323854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F7A56-F161-24E8-F2EB-A10092C2C8CB}"/>
              </a:ext>
            </a:extLst>
          </p:cNvPr>
          <p:cNvSpPr txBox="1"/>
          <p:nvPr/>
        </p:nvSpPr>
        <p:spPr>
          <a:xfrm>
            <a:off x="2190112" y="323854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FA540-EEAC-1E9C-D2BB-3CCBEB4065F9}"/>
              </a:ext>
            </a:extLst>
          </p:cNvPr>
          <p:cNvSpPr txBox="1"/>
          <p:nvPr/>
        </p:nvSpPr>
        <p:spPr>
          <a:xfrm>
            <a:off x="2733503" y="323854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375F6-B12A-B13E-AD0A-9C6E7AF18DB3}"/>
              </a:ext>
            </a:extLst>
          </p:cNvPr>
          <p:cNvSpPr txBox="1"/>
          <p:nvPr/>
        </p:nvSpPr>
        <p:spPr>
          <a:xfrm>
            <a:off x="3256908" y="323854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1C982B5-4EDE-ECEF-014D-082F12EFF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14656"/>
              </p:ext>
            </p:extLst>
          </p:nvPr>
        </p:nvGraphicFramePr>
        <p:xfrm>
          <a:off x="6724940" y="836712"/>
          <a:ext cx="3035919" cy="50686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 결재하게 될 문서함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순서가 사용자 차례인 문서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일괄결재가 허용된 양식 중 승인할 문서를 복수로 선택하여 일괄적으로 승인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110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연속결재가 허용된 양식 중 처리할 문서를 복수로 선택하여 연속적으로 승인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새 창으로 연속결재를 위한 화면 팝업 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항목을 일괄적으로 읽음 처리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24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소속부서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첨부파일이 있는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목록에 아이콘이 표시됨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다운로드 할 수 있는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됨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41404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pic>
        <p:nvPicPr>
          <p:cNvPr id="27" name="그림 26">
            <a:extLst>
              <a:ext uri="{FF2B5EF4-FFF2-40B4-BE49-F238E27FC236}">
                <a16:creationId xmlns:a16="http://schemas.microsoft.com/office/drawing/2014/main" id="{AEBC72D7-17C9-F2EE-BF81-84406DC2D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23" y="4340666"/>
            <a:ext cx="1276239" cy="56892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62A6368D-4CBA-ED8B-B306-7306F98D8ADA}"/>
              </a:ext>
            </a:extLst>
          </p:cNvPr>
          <p:cNvCxnSpPr>
            <a:cxnSpLocks/>
            <a:stCxn id="53" idx="2"/>
            <a:endCxn id="27" idx="0"/>
          </p:cNvCxnSpPr>
          <p:nvPr/>
        </p:nvCxnSpPr>
        <p:spPr>
          <a:xfrm rot="16200000" flipH="1">
            <a:off x="5561001" y="3906724"/>
            <a:ext cx="203006" cy="66487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10AABD1-084D-34D6-380C-1FCD432646C6}"/>
              </a:ext>
            </a:extLst>
          </p:cNvPr>
          <p:cNvSpPr/>
          <p:nvPr/>
        </p:nvSpPr>
        <p:spPr bwMode="auto">
          <a:xfrm>
            <a:off x="344488" y="3901917"/>
            <a:ext cx="5934917" cy="3667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3B9D93-AD8D-987D-E03A-C1138CDE3A9A}"/>
              </a:ext>
            </a:extLst>
          </p:cNvPr>
          <p:cNvSpPr txBox="1"/>
          <p:nvPr/>
        </p:nvSpPr>
        <p:spPr>
          <a:xfrm>
            <a:off x="812103" y="385572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63B82CB-A9E6-BA6D-B4B3-7BFC9A7247CB}"/>
              </a:ext>
            </a:extLst>
          </p:cNvPr>
          <p:cNvSpPr/>
          <p:nvPr/>
        </p:nvSpPr>
        <p:spPr bwMode="auto">
          <a:xfrm>
            <a:off x="5268980" y="4023204"/>
            <a:ext cx="122172" cy="11445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80DEED-B056-29D4-6D33-7BD0ED2F0B6D}"/>
              </a:ext>
            </a:extLst>
          </p:cNvPr>
          <p:cNvSpPr txBox="1"/>
          <p:nvPr/>
        </p:nvSpPr>
        <p:spPr>
          <a:xfrm>
            <a:off x="5189928" y="3864749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D151E297-3DA5-BAD5-1301-652849F1A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823" y="1047519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660BCC24-D84E-23F8-1B44-B71C89254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000" y="1047518"/>
            <a:ext cx="1314634" cy="11383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A03AC7D-E5D5-2422-1363-24DFB20811A6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1861BE-2CEE-5E8F-B5EA-8B9744102A8F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DAC00A9C-67EB-CB14-C59E-E7D6F1076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85" y="1047518"/>
            <a:ext cx="2911198" cy="181600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BBFCA2A-3D99-53D0-24E7-0FBF476C7A38}"/>
              </a:ext>
            </a:extLst>
          </p:cNvPr>
          <p:cNvSpPr txBox="1"/>
          <p:nvPr/>
        </p:nvSpPr>
        <p:spPr>
          <a:xfrm>
            <a:off x="187456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99EE794-2EF4-F641-7133-69ADEE399BD5}"/>
              </a:ext>
            </a:extLst>
          </p:cNvPr>
          <p:cNvSpPr/>
          <p:nvPr/>
        </p:nvSpPr>
        <p:spPr bwMode="auto">
          <a:xfrm>
            <a:off x="2771134" y="3354169"/>
            <a:ext cx="5292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D0A62558-635B-90BD-2908-0C27D6638BBE}"/>
              </a:ext>
            </a:extLst>
          </p:cNvPr>
          <p:cNvCxnSpPr>
            <a:cxnSpLocks/>
            <a:stCxn id="71" idx="0"/>
            <a:endCxn id="68" idx="2"/>
          </p:cNvCxnSpPr>
          <p:nvPr/>
        </p:nvCxnSpPr>
        <p:spPr>
          <a:xfrm rot="16200000" flipV="1">
            <a:off x="2121207" y="2439602"/>
            <a:ext cx="490645" cy="133849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77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2730-BAC7-C1F5-98DA-37022ABE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869B7A7-F420-6CA0-074E-F08EECA8BE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30901"/>
          <a:stretch/>
        </p:blipFill>
        <p:spPr>
          <a:xfrm>
            <a:off x="258408" y="2988181"/>
            <a:ext cx="6108283" cy="34651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E78D58C0-EE8C-D560-9CE6-7468679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/>
              <a:t>진행함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7D0F4-FF72-56E3-5766-48BDB45D7501}"/>
              </a:ext>
            </a:extLst>
          </p:cNvPr>
          <p:cNvSpPr txBox="1"/>
          <p:nvPr/>
        </p:nvSpPr>
        <p:spPr>
          <a:xfrm>
            <a:off x="4281883" y="281614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171725-07A6-321D-96DD-8CD06258C180}"/>
              </a:ext>
            </a:extLst>
          </p:cNvPr>
          <p:cNvSpPr/>
          <p:nvPr/>
        </p:nvSpPr>
        <p:spPr bwMode="auto">
          <a:xfrm>
            <a:off x="5822324" y="2998563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B202AF-1E02-989F-F917-78792DA75D75}"/>
              </a:ext>
            </a:extLst>
          </p:cNvPr>
          <p:cNvSpPr/>
          <p:nvPr/>
        </p:nvSpPr>
        <p:spPr bwMode="auto">
          <a:xfrm>
            <a:off x="475227" y="4352734"/>
            <a:ext cx="4837814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73C022-092D-7BD8-C270-034FD6E40904}"/>
              </a:ext>
            </a:extLst>
          </p:cNvPr>
          <p:cNvSpPr txBox="1"/>
          <p:nvPr/>
        </p:nvSpPr>
        <p:spPr>
          <a:xfrm>
            <a:off x="5784224" y="282249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18ED4-EBB8-EC2A-C6EA-77C73EEB3204}"/>
              </a:ext>
            </a:extLst>
          </p:cNvPr>
          <p:cNvSpPr txBox="1"/>
          <p:nvPr/>
        </p:nvSpPr>
        <p:spPr>
          <a:xfrm>
            <a:off x="307935" y="325456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E2A1D-64F0-354E-EF8C-BCEB44E1C545}"/>
              </a:ext>
            </a:extLst>
          </p:cNvPr>
          <p:cNvSpPr txBox="1"/>
          <p:nvPr/>
        </p:nvSpPr>
        <p:spPr>
          <a:xfrm>
            <a:off x="1027982" y="325456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D50E1D-808C-7DA6-82C5-EB7CFEA83FB4}"/>
              </a:ext>
            </a:extLst>
          </p:cNvPr>
          <p:cNvSpPr txBox="1"/>
          <p:nvPr/>
        </p:nvSpPr>
        <p:spPr>
          <a:xfrm>
            <a:off x="163504" y="357227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0F560-7478-FB51-D183-A025107039F5}"/>
              </a:ext>
            </a:extLst>
          </p:cNvPr>
          <p:cNvSpPr txBox="1"/>
          <p:nvPr/>
        </p:nvSpPr>
        <p:spPr>
          <a:xfrm>
            <a:off x="232431" y="37628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4F092E-62F9-1DAC-8B53-CC95F3CBA6DE}"/>
              </a:ext>
            </a:extLst>
          </p:cNvPr>
          <p:cNvSpPr/>
          <p:nvPr/>
        </p:nvSpPr>
        <p:spPr bwMode="auto">
          <a:xfrm>
            <a:off x="1049412" y="4004607"/>
            <a:ext cx="167887" cy="1884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93E09-A7CA-0845-1BD6-25051D8B5D15}"/>
              </a:ext>
            </a:extLst>
          </p:cNvPr>
          <p:cNvSpPr txBox="1"/>
          <p:nvPr/>
        </p:nvSpPr>
        <p:spPr>
          <a:xfrm>
            <a:off x="431445" y="42091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3327906-A3A8-BCD0-0704-AA51679E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23" y="1047519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F0AE94A-7E5F-8C7F-9217-49C47352B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000" y="1047518"/>
            <a:ext cx="1314634" cy="11383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BDD64C10-E2A5-1C72-CF75-6665C37143BC}"/>
              </a:ext>
            </a:extLst>
          </p:cNvPr>
          <p:cNvCxnSpPr>
            <a:cxnSpLocks/>
            <a:stCxn id="7" idx="0"/>
            <a:endCxn id="28" idx="2"/>
          </p:cNvCxnSpPr>
          <p:nvPr/>
        </p:nvCxnSpPr>
        <p:spPr>
          <a:xfrm rot="16200000" flipV="1">
            <a:off x="4921467" y="1867765"/>
            <a:ext cx="812648" cy="144894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9B814F7-56FE-E66C-3DB6-8E0CD4EF8DD1}"/>
              </a:ext>
            </a:extLst>
          </p:cNvPr>
          <p:cNvSpPr/>
          <p:nvPr/>
        </p:nvSpPr>
        <p:spPr bwMode="auto">
          <a:xfrm>
            <a:off x="6039316" y="3376544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064E59-C573-F528-BDA4-E4E53269ADDF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B5AE29-5C9E-0AE1-8CE5-45B91136E81B}"/>
              </a:ext>
            </a:extLst>
          </p:cNvPr>
          <p:cNvSpPr txBox="1"/>
          <p:nvPr/>
        </p:nvSpPr>
        <p:spPr>
          <a:xfrm>
            <a:off x="5704830" y="323683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9355FC-11F1-E5C4-08E9-33B385F7AEE8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7C6A28A-8B0F-3B3C-EBA4-B7157D200A30}"/>
              </a:ext>
            </a:extLst>
          </p:cNvPr>
          <p:cNvCxnSpPr>
            <a:cxnSpLocks/>
            <a:stCxn id="32" idx="3"/>
            <a:endCxn id="26" idx="3"/>
          </p:cNvCxnSpPr>
          <p:nvPr/>
        </p:nvCxnSpPr>
        <p:spPr>
          <a:xfrm flipV="1">
            <a:off x="6282203" y="1478586"/>
            <a:ext cx="122516" cy="2019611"/>
          </a:xfrm>
          <a:prstGeom prst="bentConnector3">
            <a:avLst>
              <a:gd name="adj1" fmla="val 286588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2986E37-BA63-AB9A-1870-AE0FBCA3178F}"/>
              </a:ext>
            </a:extLst>
          </p:cNvPr>
          <p:cNvSpPr txBox="1"/>
          <p:nvPr/>
        </p:nvSpPr>
        <p:spPr>
          <a:xfrm>
            <a:off x="5976721" y="323683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6ADC4AE-D67A-8154-C25E-5E0E74112E2F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1933909" y="3392509"/>
            <a:ext cx="159672" cy="176077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4D50EBC-CEF8-30D2-1C36-C2BE393CBF9E}"/>
              </a:ext>
            </a:extLst>
          </p:cNvPr>
          <p:cNvSpPr txBox="1"/>
          <p:nvPr/>
        </p:nvSpPr>
        <p:spPr>
          <a:xfrm>
            <a:off x="1646721" y="325456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BD5A03A-4BED-4AAB-B267-4F2F3C688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158525"/>
              </p:ext>
            </p:extLst>
          </p:nvPr>
        </p:nvGraphicFramePr>
        <p:xfrm>
          <a:off x="6724940" y="836712"/>
          <a:ext cx="3035919" cy="380532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사용자가 결재를 작성하여 완료되지 않은 문서나 사용자가 결재선에 포함되어 있으나 완료되지 않은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소속부서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67EB66A5-AD9C-DB27-4A3E-87739CC7FD8F}"/>
              </a:ext>
            </a:extLst>
          </p:cNvPr>
          <p:cNvSpPr/>
          <p:nvPr/>
        </p:nvSpPr>
        <p:spPr bwMode="auto">
          <a:xfrm>
            <a:off x="344488" y="3917942"/>
            <a:ext cx="5934917" cy="3667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2A609B-CE1F-8288-2D91-3E36489912C0}"/>
              </a:ext>
            </a:extLst>
          </p:cNvPr>
          <p:cNvSpPr txBox="1"/>
          <p:nvPr/>
        </p:nvSpPr>
        <p:spPr>
          <a:xfrm>
            <a:off x="854965" y="38717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3649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C073D-C2B3-275E-85E4-27849163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그림 90">
            <a:extLst>
              <a:ext uri="{FF2B5EF4-FFF2-40B4-BE49-F238E27FC236}">
                <a16:creationId xmlns:a16="http://schemas.microsoft.com/office/drawing/2014/main" id="{8AC46804-BF38-2E26-FC7E-DA589D5E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31" y="2185379"/>
            <a:ext cx="1660439" cy="148039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95AD0F-CF39-3506-DC34-33AF81FCA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869" y="1047518"/>
            <a:ext cx="903572" cy="1613760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0DB0DA-51A7-30BA-D88C-824ECE7DA3E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rcRect b="47864"/>
          <a:stretch/>
        </p:blipFill>
        <p:spPr>
          <a:xfrm>
            <a:off x="258407" y="3871430"/>
            <a:ext cx="6121619" cy="26422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E6994308-DABB-F77B-7814-09BF8F31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/>
              <a:t>완료함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ED0CA-2580-77E7-4CBE-8C45245BAB7A}"/>
              </a:ext>
            </a:extLst>
          </p:cNvPr>
          <p:cNvSpPr txBox="1"/>
          <p:nvPr/>
        </p:nvSpPr>
        <p:spPr>
          <a:xfrm>
            <a:off x="4293789" y="372234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EDE10C-1B64-D956-B7D9-73BCC4B4FBB2}"/>
              </a:ext>
            </a:extLst>
          </p:cNvPr>
          <p:cNvSpPr/>
          <p:nvPr/>
        </p:nvSpPr>
        <p:spPr bwMode="auto">
          <a:xfrm>
            <a:off x="5834230" y="3904768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E27691-7452-3E1B-4576-4F89A7A9EC75}"/>
              </a:ext>
            </a:extLst>
          </p:cNvPr>
          <p:cNvSpPr/>
          <p:nvPr/>
        </p:nvSpPr>
        <p:spPr bwMode="auto">
          <a:xfrm>
            <a:off x="468877" y="5187501"/>
            <a:ext cx="5790356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015ED-F22D-B164-5C2E-569F59BAE4F4}"/>
              </a:ext>
            </a:extLst>
          </p:cNvPr>
          <p:cNvSpPr txBox="1"/>
          <p:nvPr/>
        </p:nvSpPr>
        <p:spPr>
          <a:xfrm>
            <a:off x="5796130" y="37286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48DAAF-B5B2-D7BF-F05F-D174A1CD34CF}"/>
              </a:ext>
            </a:extLst>
          </p:cNvPr>
          <p:cNvSpPr txBox="1"/>
          <p:nvPr/>
        </p:nvSpPr>
        <p:spPr>
          <a:xfrm>
            <a:off x="307935" y="412743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AE238F-775C-31E6-BEBF-627611B67DB1}"/>
              </a:ext>
            </a:extLst>
          </p:cNvPr>
          <p:cNvSpPr txBox="1"/>
          <p:nvPr/>
        </p:nvSpPr>
        <p:spPr>
          <a:xfrm>
            <a:off x="1027982" y="4127436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85E2E2-4A08-1552-6037-BCF6F6042C28}"/>
              </a:ext>
            </a:extLst>
          </p:cNvPr>
          <p:cNvSpPr txBox="1"/>
          <p:nvPr/>
        </p:nvSpPr>
        <p:spPr>
          <a:xfrm>
            <a:off x="163504" y="444514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E50511-AB28-01AE-4C7C-7C5072741EB5}"/>
              </a:ext>
            </a:extLst>
          </p:cNvPr>
          <p:cNvSpPr txBox="1"/>
          <p:nvPr/>
        </p:nvSpPr>
        <p:spPr>
          <a:xfrm>
            <a:off x="211631" y="465580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DF1F5C-D611-3EA1-8DF0-BFE447397C35}"/>
              </a:ext>
            </a:extLst>
          </p:cNvPr>
          <p:cNvSpPr/>
          <p:nvPr/>
        </p:nvSpPr>
        <p:spPr bwMode="auto">
          <a:xfrm>
            <a:off x="688815" y="4879856"/>
            <a:ext cx="203079" cy="1508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9E4B6C-F685-188B-4DA6-2083A54E7467}"/>
              </a:ext>
            </a:extLst>
          </p:cNvPr>
          <p:cNvSpPr txBox="1"/>
          <p:nvPr/>
        </p:nvSpPr>
        <p:spPr>
          <a:xfrm>
            <a:off x="425095" y="504392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9C4AB70-1842-124B-D9A5-DC9F8DD46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085" y="1113252"/>
            <a:ext cx="733527" cy="60349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BF7929D-146C-FFB6-0D4E-FED52B5F2337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16200000" flipV="1">
            <a:off x="5253168" y="3093765"/>
            <a:ext cx="1243490" cy="378515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8A003E-C25A-2E20-413B-5AFE500572C6}"/>
              </a:ext>
            </a:extLst>
          </p:cNvPr>
          <p:cNvSpPr/>
          <p:nvPr/>
        </p:nvSpPr>
        <p:spPr bwMode="auto">
          <a:xfrm>
            <a:off x="6051222" y="4282749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F7B63-C991-2D3E-7CD2-C7B4121D0AC5}"/>
              </a:ext>
            </a:extLst>
          </p:cNvPr>
          <p:cNvSpPr txBox="1"/>
          <p:nvPr/>
        </p:nvSpPr>
        <p:spPr>
          <a:xfrm>
            <a:off x="5576014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26E2B-2B8C-E580-1C47-AD1B8D8E5711}"/>
              </a:ext>
            </a:extLst>
          </p:cNvPr>
          <p:cNvSpPr txBox="1"/>
          <p:nvPr/>
        </p:nvSpPr>
        <p:spPr>
          <a:xfrm>
            <a:off x="5716736" y="414303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CFB4E3-074E-4755-34D6-6F1C50D037A5}"/>
              </a:ext>
            </a:extLst>
          </p:cNvPr>
          <p:cNvSpPr txBox="1"/>
          <p:nvPr/>
        </p:nvSpPr>
        <p:spPr>
          <a:xfrm>
            <a:off x="5115846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EB870AAC-3974-E60A-9983-4E2BF822B6B2}"/>
              </a:ext>
            </a:extLst>
          </p:cNvPr>
          <p:cNvCxnSpPr>
            <a:cxnSpLocks/>
            <a:stCxn id="32" idx="3"/>
            <a:endCxn id="26" idx="3"/>
          </p:cNvCxnSpPr>
          <p:nvPr/>
        </p:nvCxnSpPr>
        <p:spPr>
          <a:xfrm flipV="1">
            <a:off x="6294109" y="1414999"/>
            <a:ext cx="116503" cy="2989403"/>
          </a:xfrm>
          <a:prstGeom prst="bentConnector3">
            <a:avLst>
              <a:gd name="adj1" fmla="val 296218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5660195-02CF-B3C5-3577-B011FEE35AD8}"/>
              </a:ext>
            </a:extLst>
          </p:cNvPr>
          <p:cNvSpPr txBox="1"/>
          <p:nvPr/>
        </p:nvSpPr>
        <p:spPr>
          <a:xfrm>
            <a:off x="5988627" y="414303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7DCFD62B-7674-B0EB-9AE5-FFB86311EB23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1998799" y="3822245"/>
            <a:ext cx="156812" cy="257370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25A0914-0655-2F4F-52D4-6A016C074AF6}"/>
              </a:ext>
            </a:extLst>
          </p:cNvPr>
          <p:cNvSpPr txBox="1"/>
          <p:nvPr/>
        </p:nvSpPr>
        <p:spPr>
          <a:xfrm>
            <a:off x="1520626" y="4127436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956BC23-FCDC-9F56-A42B-0B4EDAFA8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935067"/>
              </p:ext>
            </p:extLst>
          </p:nvPr>
        </p:nvGraphicFramePr>
        <p:xfrm>
          <a:off x="6724940" y="836712"/>
          <a:ext cx="3035919" cy="43150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진행이 완료된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개인 폴더로 복사할 수 있도록 개인 폴더 선택 화면을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문서를 다른 사용자에게 회람할 수 있도록 회람화면을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완료일시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수정유무 표시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1455775C-2766-6115-4F74-E4B423BC10A5}"/>
              </a:ext>
            </a:extLst>
          </p:cNvPr>
          <p:cNvSpPr/>
          <p:nvPr/>
        </p:nvSpPr>
        <p:spPr bwMode="auto">
          <a:xfrm>
            <a:off x="307935" y="4811525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B015DC-4DF1-AD5A-DBF7-318232288155}"/>
              </a:ext>
            </a:extLst>
          </p:cNvPr>
          <p:cNvSpPr txBox="1"/>
          <p:nvPr/>
        </p:nvSpPr>
        <p:spPr>
          <a:xfrm>
            <a:off x="603032" y="474700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5FE477-28BD-2D3D-67E7-D3E1AF00918E}"/>
              </a:ext>
            </a:extLst>
          </p:cNvPr>
          <p:cNvSpPr txBox="1"/>
          <p:nvPr/>
        </p:nvSpPr>
        <p:spPr>
          <a:xfrm>
            <a:off x="1994589" y="4127436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FC76C2-7A15-2D43-356D-7537D62FDC54}"/>
              </a:ext>
            </a:extLst>
          </p:cNvPr>
          <p:cNvSpPr txBox="1"/>
          <p:nvPr/>
        </p:nvSpPr>
        <p:spPr>
          <a:xfrm>
            <a:off x="2537980" y="4127436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1E86279A-C4CE-8752-03BE-38181EF6E29F}"/>
              </a:ext>
            </a:extLst>
          </p:cNvPr>
          <p:cNvCxnSpPr>
            <a:cxnSpLocks/>
            <a:stCxn id="68" idx="0"/>
            <a:endCxn id="91" idx="2"/>
          </p:cNvCxnSpPr>
          <p:nvPr/>
        </p:nvCxnSpPr>
        <p:spPr>
          <a:xfrm rot="16200000" flipV="1">
            <a:off x="1154481" y="3612241"/>
            <a:ext cx="616978" cy="72403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1F1D245-8ABF-0E74-42AD-D0215D18F051}"/>
              </a:ext>
            </a:extLst>
          </p:cNvPr>
          <p:cNvSpPr txBox="1"/>
          <p:nvPr/>
        </p:nvSpPr>
        <p:spPr>
          <a:xfrm>
            <a:off x="194102" y="197262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5839119-A92D-7909-4D8E-B6E9949BC7DD}"/>
              </a:ext>
            </a:extLst>
          </p:cNvPr>
          <p:cNvSpPr/>
          <p:nvPr/>
        </p:nvSpPr>
        <p:spPr bwMode="auto">
          <a:xfrm>
            <a:off x="1644965" y="4282749"/>
            <a:ext cx="36004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93F6E5E8-1017-C1E3-B45D-794BD3F82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2373" y="1049537"/>
            <a:ext cx="3307542" cy="1907171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C56E7C11-38E6-8327-7C4E-CD2E010D0E83}"/>
              </a:ext>
            </a:extLst>
          </p:cNvPr>
          <p:cNvSpPr/>
          <p:nvPr/>
        </p:nvSpPr>
        <p:spPr bwMode="auto">
          <a:xfrm>
            <a:off x="2585391" y="4282749"/>
            <a:ext cx="537130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2D0619B1-E334-BAD5-BA68-0BC07E909D20}"/>
              </a:ext>
            </a:extLst>
          </p:cNvPr>
          <p:cNvCxnSpPr>
            <a:cxnSpLocks/>
            <a:stCxn id="77" idx="0"/>
            <a:endCxn id="75" idx="2"/>
          </p:cNvCxnSpPr>
          <p:nvPr/>
        </p:nvCxnSpPr>
        <p:spPr>
          <a:xfrm rot="5400000" flipH="1" flipV="1">
            <a:off x="2502030" y="3308635"/>
            <a:ext cx="1326041" cy="62218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3EAFEE4-140D-CBEE-C806-04726CE7EFE6}"/>
              </a:ext>
            </a:extLst>
          </p:cNvPr>
          <p:cNvSpPr txBox="1"/>
          <p:nvPr/>
        </p:nvSpPr>
        <p:spPr>
          <a:xfrm>
            <a:off x="1749894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688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7B3D7-9A7B-3055-7013-4D5C0FE9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B6E0932-0B9E-A542-FC35-C2E3E001A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545"/>
          <a:stretch/>
        </p:blipFill>
        <p:spPr>
          <a:xfrm>
            <a:off x="239542" y="2432439"/>
            <a:ext cx="6134956" cy="32665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D8616831-2E78-744B-7F5B-7675C89A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3.5.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/>
              <a:t>반려함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8F048-E6F2-8C95-E1D0-3DCFB3866F8E}"/>
              </a:ext>
            </a:extLst>
          </p:cNvPr>
          <p:cNvSpPr txBox="1"/>
          <p:nvPr/>
        </p:nvSpPr>
        <p:spPr>
          <a:xfrm>
            <a:off x="4347626" y="228088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45D484-6DD8-ECFC-CBE0-61A103B8C62D}"/>
              </a:ext>
            </a:extLst>
          </p:cNvPr>
          <p:cNvSpPr/>
          <p:nvPr/>
        </p:nvSpPr>
        <p:spPr bwMode="auto">
          <a:xfrm>
            <a:off x="5834230" y="2465777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CF8BB6-0647-3D24-30DA-37E6AAC5A1D9}"/>
              </a:ext>
            </a:extLst>
          </p:cNvPr>
          <p:cNvSpPr/>
          <p:nvPr/>
        </p:nvSpPr>
        <p:spPr bwMode="auto">
          <a:xfrm>
            <a:off x="468877" y="3748510"/>
            <a:ext cx="3477123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66DD0-8AA0-07AF-4F89-C0B7EB88B8A8}"/>
              </a:ext>
            </a:extLst>
          </p:cNvPr>
          <p:cNvSpPr txBox="1"/>
          <p:nvPr/>
        </p:nvSpPr>
        <p:spPr>
          <a:xfrm>
            <a:off x="5796130" y="228970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83B43-F03E-521A-172E-BC9CDA46B3C1}"/>
              </a:ext>
            </a:extLst>
          </p:cNvPr>
          <p:cNvSpPr txBox="1"/>
          <p:nvPr/>
        </p:nvSpPr>
        <p:spPr>
          <a:xfrm>
            <a:off x="307935" y="268844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AF6E0A-50B2-6AB5-6C44-9F072D43368D}"/>
              </a:ext>
            </a:extLst>
          </p:cNvPr>
          <p:cNvSpPr txBox="1"/>
          <p:nvPr/>
        </p:nvSpPr>
        <p:spPr>
          <a:xfrm>
            <a:off x="1027982" y="268844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3EAC0-9012-09D5-87CD-833F66BF65CB}"/>
              </a:ext>
            </a:extLst>
          </p:cNvPr>
          <p:cNvSpPr txBox="1"/>
          <p:nvPr/>
        </p:nvSpPr>
        <p:spPr>
          <a:xfrm>
            <a:off x="163504" y="300615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632853-9316-0DB3-0EAD-6E212E21A24D}"/>
              </a:ext>
            </a:extLst>
          </p:cNvPr>
          <p:cNvSpPr txBox="1"/>
          <p:nvPr/>
        </p:nvSpPr>
        <p:spPr>
          <a:xfrm>
            <a:off x="211631" y="321681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02057A-1F33-1FF0-B5EE-2255471947DB}"/>
              </a:ext>
            </a:extLst>
          </p:cNvPr>
          <p:cNvSpPr/>
          <p:nvPr/>
        </p:nvSpPr>
        <p:spPr bwMode="auto">
          <a:xfrm>
            <a:off x="688815" y="3440865"/>
            <a:ext cx="203079" cy="1508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FF48D-B5CF-4ABC-00FB-D79AF1D66556}"/>
              </a:ext>
            </a:extLst>
          </p:cNvPr>
          <p:cNvSpPr txBox="1"/>
          <p:nvPr/>
        </p:nvSpPr>
        <p:spPr>
          <a:xfrm>
            <a:off x="425095" y="360493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A8665578-9ADD-91D0-0B4D-B136565F9D75}"/>
              </a:ext>
            </a:extLst>
          </p:cNvPr>
          <p:cNvCxnSpPr>
            <a:cxnSpLocks/>
            <a:stCxn id="7" idx="0"/>
            <a:endCxn id="35" idx="2"/>
          </p:cNvCxnSpPr>
          <p:nvPr/>
        </p:nvCxnSpPr>
        <p:spPr>
          <a:xfrm rot="16200000" flipV="1">
            <a:off x="5193813" y="1595419"/>
            <a:ext cx="279862" cy="1460853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7DA0CD3-60FA-9094-BF4C-FF9FDFD6DE7C}"/>
              </a:ext>
            </a:extLst>
          </p:cNvPr>
          <p:cNvSpPr/>
          <p:nvPr/>
        </p:nvSpPr>
        <p:spPr bwMode="auto">
          <a:xfrm>
            <a:off x="6051222" y="2843758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2C64E1-D536-A4EA-38FB-E4BDB6C6E982}"/>
              </a:ext>
            </a:extLst>
          </p:cNvPr>
          <p:cNvSpPr txBox="1"/>
          <p:nvPr/>
        </p:nvSpPr>
        <p:spPr>
          <a:xfrm>
            <a:off x="5716736" y="270404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D26DDADD-C478-1A3D-3C35-F0686AC9BEFB}"/>
              </a:ext>
            </a:extLst>
          </p:cNvPr>
          <p:cNvCxnSpPr>
            <a:cxnSpLocks/>
            <a:stCxn id="32" idx="3"/>
            <a:endCxn id="34" idx="3"/>
          </p:cNvCxnSpPr>
          <p:nvPr/>
        </p:nvCxnSpPr>
        <p:spPr>
          <a:xfrm flipV="1">
            <a:off x="6294109" y="1478586"/>
            <a:ext cx="110610" cy="1486825"/>
          </a:xfrm>
          <a:prstGeom prst="bentConnector3">
            <a:avLst>
              <a:gd name="adj1" fmla="val 306672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1651C49-63D2-D79D-60EF-F52292629930}"/>
              </a:ext>
            </a:extLst>
          </p:cNvPr>
          <p:cNvSpPr txBox="1"/>
          <p:nvPr/>
        </p:nvSpPr>
        <p:spPr>
          <a:xfrm>
            <a:off x="5988627" y="270404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BB15AF55-C7B1-6BA0-90D4-156D59188765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1420491" y="2961562"/>
            <a:ext cx="156812" cy="1417084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B61DA7B-DFF0-F632-258E-041A625AB50C}"/>
              </a:ext>
            </a:extLst>
          </p:cNvPr>
          <p:cNvSpPr txBox="1"/>
          <p:nvPr/>
        </p:nvSpPr>
        <p:spPr>
          <a:xfrm>
            <a:off x="1584868" y="268844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02261BF-B748-31EE-3A10-6C2812ED2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026419"/>
              </p:ext>
            </p:extLst>
          </p:nvPr>
        </p:nvGraphicFramePr>
        <p:xfrm>
          <a:off x="6724940" y="836712"/>
          <a:ext cx="3035919" cy="43150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자신이 기안하였거나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자신이 결재 요청한 문서 중 반려가 되어 결재가 되지 않은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문서를 목록에서 삭제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반려일시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수정유무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 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문서의 수정 이력이 있는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아이콘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클릭 시 수정이력 상세보기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8194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7CC2EBC0-5AAA-56B7-2088-EBF08B02F89D}"/>
              </a:ext>
            </a:extLst>
          </p:cNvPr>
          <p:cNvSpPr/>
          <p:nvPr/>
        </p:nvSpPr>
        <p:spPr bwMode="auto">
          <a:xfrm>
            <a:off x="307935" y="3372534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42EBDC-0712-40EB-F820-6A73A09DEA26}"/>
              </a:ext>
            </a:extLst>
          </p:cNvPr>
          <p:cNvSpPr txBox="1"/>
          <p:nvPr/>
        </p:nvSpPr>
        <p:spPr>
          <a:xfrm>
            <a:off x="603032" y="330800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2A47C2-2A96-9649-DC29-169F235BF8BA}"/>
              </a:ext>
            </a:extLst>
          </p:cNvPr>
          <p:cNvSpPr txBox="1"/>
          <p:nvPr/>
        </p:nvSpPr>
        <p:spPr>
          <a:xfrm>
            <a:off x="2141754" y="268844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44E315D3-8D18-0943-192D-0AE8036A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23" y="1047519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1F63BDA-CCF5-DE0F-6288-1050101CD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000" y="1047518"/>
            <a:ext cx="1314634" cy="11383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EDDED4-D8EA-2090-0FA5-CC56CF8D2682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F354E3-4CB1-826C-A237-5C0DC862394A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8F45DC9-D3A8-9783-6473-DB75BAD1A429}"/>
              </a:ext>
            </a:extLst>
          </p:cNvPr>
          <p:cNvSpPr/>
          <p:nvPr/>
        </p:nvSpPr>
        <p:spPr bwMode="auto">
          <a:xfrm>
            <a:off x="6064681" y="3459142"/>
            <a:ext cx="128200" cy="1325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3C4146-50AD-49E3-043E-C176E8E2EE63}"/>
              </a:ext>
            </a:extLst>
          </p:cNvPr>
          <p:cNvSpPr txBox="1"/>
          <p:nvPr/>
        </p:nvSpPr>
        <p:spPr>
          <a:xfrm>
            <a:off x="5959504" y="331942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F0664E99-2CA3-CE0C-DA01-3428F7A52CD4}"/>
              </a:ext>
            </a:extLst>
          </p:cNvPr>
          <p:cNvCxnSpPr>
            <a:cxnSpLocks/>
            <a:stCxn id="45" idx="2"/>
            <a:endCxn id="64" idx="0"/>
          </p:cNvCxnSpPr>
          <p:nvPr/>
        </p:nvCxnSpPr>
        <p:spPr>
          <a:xfrm rot="5400000">
            <a:off x="4929004" y="3925522"/>
            <a:ext cx="1533601" cy="865955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그림 63">
            <a:extLst>
              <a:ext uri="{FF2B5EF4-FFF2-40B4-BE49-F238E27FC236}">
                <a16:creationId xmlns:a16="http://schemas.microsoft.com/office/drawing/2014/main" id="{66AAAE4B-65E3-069C-6BBF-51B0366E5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462" y="5125300"/>
            <a:ext cx="2750728" cy="137036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ED19E21-68B7-82AA-2E99-BDFDA76F8998}"/>
              </a:ext>
            </a:extLst>
          </p:cNvPr>
          <p:cNvSpPr txBox="1"/>
          <p:nvPr/>
        </p:nvSpPr>
        <p:spPr>
          <a:xfrm>
            <a:off x="3820098" y="4970363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053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B6A90-BDF4-7A67-A29D-72C94839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396192EE-0D66-E2E8-C2D9-E0921A0F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905"/>
          <a:stretch/>
        </p:blipFill>
        <p:spPr>
          <a:xfrm>
            <a:off x="254782" y="2687501"/>
            <a:ext cx="6141624" cy="22674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AF260355-E98E-0F7B-8F1A-25493A1D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3.6.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 err="1"/>
              <a:t>임시함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FCF1E-0E4C-971B-45F2-B6CD89DD2282}"/>
              </a:ext>
            </a:extLst>
          </p:cNvPr>
          <p:cNvSpPr txBox="1"/>
          <p:nvPr/>
        </p:nvSpPr>
        <p:spPr>
          <a:xfrm>
            <a:off x="4293789" y="251555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D48033-6288-61BA-BF82-979E69C40990}"/>
              </a:ext>
            </a:extLst>
          </p:cNvPr>
          <p:cNvSpPr/>
          <p:nvPr/>
        </p:nvSpPr>
        <p:spPr bwMode="auto">
          <a:xfrm>
            <a:off x="5834230" y="2697979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813EB-5B81-7520-C8A0-3DA1DEF97AFD}"/>
              </a:ext>
            </a:extLst>
          </p:cNvPr>
          <p:cNvSpPr txBox="1"/>
          <p:nvPr/>
        </p:nvSpPr>
        <p:spPr>
          <a:xfrm>
            <a:off x="5796130" y="252190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39303-312A-739A-79C7-2BEAAC9EF508}"/>
              </a:ext>
            </a:extLst>
          </p:cNvPr>
          <p:cNvSpPr txBox="1"/>
          <p:nvPr/>
        </p:nvSpPr>
        <p:spPr>
          <a:xfrm>
            <a:off x="307935" y="292064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F2EEE-30A7-2320-A0C2-99EB5043C458}"/>
              </a:ext>
            </a:extLst>
          </p:cNvPr>
          <p:cNvSpPr txBox="1"/>
          <p:nvPr/>
        </p:nvSpPr>
        <p:spPr>
          <a:xfrm>
            <a:off x="783890" y="292064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8F3410-E328-794A-6D6A-B385850D02B3}"/>
              </a:ext>
            </a:extLst>
          </p:cNvPr>
          <p:cNvSpPr txBox="1"/>
          <p:nvPr/>
        </p:nvSpPr>
        <p:spPr>
          <a:xfrm>
            <a:off x="163504" y="323835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A0A20-FC77-1953-224A-51D8D7FEFE02}"/>
              </a:ext>
            </a:extLst>
          </p:cNvPr>
          <p:cNvSpPr txBox="1"/>
          <p:nvPr/>
        </p:nvSpPr>
        <p:spPr>
          <a:xfrm>
            <a:off x="211631" y="344901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35AF682-1993-0E8B-5EC2-46AE67638492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rot="16200000" flipV="1">
            <a:off x="5077712" y="1711520"/>
            <a:ext cx="512064" cy="1460853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E0407F-5E54-76F6-7992-B159F8591D7A}"/>
              </a:ext>
            </a:extLst>
          </p:cNvPr>
          <p:cNvSpPr/>
          <p:nvPr/>
        </p:nvSpPr>
        <p:spPr bwMode="auto">
          <a:xfrm>
            <a:off x="6051222" y="3075960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2E28A0-AEE8-C4C6-C9E1-9D0BB920E05E}"/>
              </a:ext>
            </a:extLst>
          </p:cNvPr>
          <p:cNvSpPr txBox="1"/>
          <p:nvPr/>
        </p:nvSpPr>
        <p:spPr>
          <a:xfrm>
            <a:off x="5716736" y="293624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4D3D294-8D4B-716A-DE69-4E3B2C2CF220}"/>
              </a:ext>
            </a:extLst>
          </p:cNvPr>
          <p:cNvCxnSpPr>
            <a:cxnSpLocks/>
            <a:stCxn id="32" idx="3"/>
            <a:endCxn id="2" idx="3"/>
          </p:cNvCxnSpPr>
          <p:nvPr/>
        </p:nvCxnSpPr>
        <p:spPr>
          <a:xfrm flipV="1">
            <a:off x="6294109" y="1478586"/>
            <a:ext cx="110610" cy="1719027"/>
          </a:xfrm>
          <a:prstGeom prst="bentConnector3">
            <a:avLst>
              <a:gd name="adj1" fmla="val 306672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316B14C-EA3C-4114-C1D4-D1942C78B28A}"/>
              </a:ext>
            </a:extLst>
          </p:cNvPr>
          <p:cNvSpPr txBox="1"/>
          <p:nvPr/>
        </p:nvSpPr>
        <p:spPr>
          <a:xfrm>
            <a:off x="5988627" y="293624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F97E75-E710-0237-0E81-6B1FF3ADEBD9}"/>
              </a:ext>
            </a:extLst>
          </p:cNvPr>
          <p:cNvSpPr txBox="1"/>
          <p:nvPr/>
        </p:nvSpPr>
        <p:spPr>
          <a:xfrm>
            <a:off x="1235739" y="292064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9FECA5C-6A2E-C6C3-4F0E-F1C240814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933737"/>
              </p:ext>
            </p:extLst>
          </p:nvPr>
        </p:nvGraphicFramePr>
        <p:xfrm>
          <a:off x="6724940" y="836712"/>
          <a:ext cx="3035919" cy="28798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사용자가 작성 중 임시 저장한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타 사용자에게 인계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목록에서 사라짐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문서를 목록에서 삭제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문서의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 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작성화면을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15CA751-3435-30AD-39AD-280E69F8BD3E}"/>
              </a:ext>
            </a:extLst>
          </p:cNvPr>
          <p:cNvSpPr/>
          <p:nvPr/>
        </p:nvSpPr>
        <p:spPr bwMode="auto">
          <a:xfrm>
            <a:off x="307935" y="3604736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476C90E-576D-F5D8-F278-8B024A169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23" y="1047519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877310-82C2-450A-0319-5CB9A7079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000" y="1047518"/>
            <a:ext cx="1314634" cy="11383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B9515F-F2D5-340D-C44B-AE68BBFA3130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E5915D-6031-9492-A897-DFD907368A36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6A0A4CB-5CDE-462B-1591-7A704F8F6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211" y="1026744"/>
            <a:ext cx="2133600" cy="94297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9690AE-B83C-4281-1A57-03940528556A}"/>
              </a:ext>
            </a:extLst>
          </p:cNvPr>
          <p:cNvSpPr/>
          <p:nvPr/>
        </p:nvSpPr>
        <p:spPr bwMode="auto">
          <a:xfrm>
            <a:off x="898197" y="3075960"/>
            <a:ext cx="35592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35CE8895-938C-C1B9-EA2F-0D4EAFB9C8FD}"/>
              </a:ext>
            </a:extLst>
          </p:cNvPr>
          <p:cNvCxnSpPr>
            <a:cxnSpLocks/>
            <a:stCxn id="33" idx="0"/>
            <a:endCxn id="29" idx="2"/>
          </p:cNvCxnSpPr>
          <p:nvPr/>
        </p:nvCxnSpPr>
        <p:spPr>
          <a:xfrm rot="5400000" flipH="1" flipV="1">
            <a:off x="1376466" y="1669415"/>
            <a:ext cx="1106241" cy="170685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76873C-7531-4B33-3AEE-1CE0DE2856D5}"/>
              </a:ext>
            </a:extLst>
          </p:cNvPr>
          <p:cNvSpPr txBox="1"/>
          <p:nvPr/>
        </p:nvSpPr>
        <p:spPr>
          <a:xfrm>
            <a:off x="1669546" y="84521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3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D230-69A6-44AF-7EF4-36E4DF9D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F12952A9-656A-F657-06EF-35262A7C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31" y="1047519"/>
            <a:ext cx="1660439" cy="148039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9DE277D-1763-BAE0-8285-D9ABA6C7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365" y="1047518"/>
            <a:ext cx="1257476" cy="12288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C28E48-B79E-BB6F-D2AA-A460126D52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033"/>
          <a:stretch/>
        </p:blipFill>
        <p:spPr>
          <a:xfrm>
            <a:off x="231922" y="3209651"/>
            <a:ext cx="6128288" cy="32665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94957680-CCCC-349E-D740-A2DB4917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3.7. </a:t>
            </a:r>
            <a:r>
              <a:rPr lang="ko-KR" altLang="en-US" dirty="0"/>
              <a:t>개인함 </a:t>
            </a:r>
            <a:r>
              <a:rPr lang="en-US" altLang="ko-KR" dirty="0"/>
              <a:t>– </a:t>
            </a:r>
            <a:r>
              <a:rPr lang="ko-KR" altLang="en-US" dirty="0"/>
              <a:t>참조</a:t>
            </a:r>
            <a:r>
              <a:rPr lang="en-US" altLang="ko-KR" dirty="0"/>
              <a:t>/</a:t>
            </a:r>
            <a:r>
              <a:rPr lang="ko-KR" altLang="en-US" dirty="0"/>
              <a:t>회람함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EFBC0-BDB6-7437-EACC-6B1120AC971A}"/>
              </a:ext>
            </a:extLst>
          </p:cNvPr>
          <p:cNvSpPr txBox="1"/>
          <p:nvPr/>
        </p:nvSpPr>
        <p:spPr>
          <a:xfrm>
            <a:off x="4293789" y="303770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3AD2F2-9AF1-CB29-0A0E-1E2BF3374B92}"/>
              </a:ext>
            </a:extLst>
          </p:cNvPr>
          <p:cNvSpPr/>
          <p:nvPr/>
        </p:nvSpPr>
        <p:spPr bwMode="auto">
          <a:xfrm>
            <a:off x="5834230" y="3220129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600C46-3EC3-CA05-A9EC-2C74CC011AA5}"/>
              </a:ext>
            </a:extLst>
          </p:cNvPr>
          <p:cNvSpPr/>
          <p:nvPr/>
        </p:nvSpPr>
        <p:spPr bwMode="auto">
          <a:xfrm>
            <a:off x="468877" y="4502862"/>
            <a:ext cx="5790356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B18FB-CD20-7855-AEE8-7CE782E11529}"/>
              </a:ext>
            </a:extLst>
          </p:cNvPr>
          <p:cNvSpPr txBox="1"/>
          <p:nvPr/>
        </p:nvSpPr>
        <p:spPr>
          <a:xfrm>
            <a:off x="5796130" y="304405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F0E32-5ABD-DD76-C6A9-66F4273FED50}"/>
              </a:ext>
            </a:extLst>
          </p:cNvPr>
          <p:cNvSpPr txBox="1"/>
          <p:nvPr/>
        </p:nvSpPr>
        <p:spPr>
          <a:xfrm>
            <a:off x="307935" y="34427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AA9C87-A4A3-59CD-205C-AD13E164990B}"/>
              </a:ext>
            </a:extLst>
          </p:cNvPr>
          <p:cNvSpPr txBox="1"/>
          <p:nvPr/>
        </p:nvSpPr>
        <p:spPr>
          <a:xfrm>
            <a:off x="1027982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ABE44-F3C3-E72A-01EB-A4CC56EF8CA6}"/>
              </a:ext>
            </a:extLst>
          </p:cNvPr>
          <p:cNvSpPr txBox="1"/>
          <p:nvPr/>
        </p:nvSpPr>
        <p:spPr>
          <a:xfrm>
            <a:off x="163504" y="376050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0361B3-EDD6-3BDB-4DEA-60E873E9670D}"/>
              </a:ext>
            </a:extLst>
          </p:cNvPr>
          <p:cNvSpPr txBox="1"/>
          <p:nvPr/>
        </p:nvSpPr>
        <p:spPr>
          <a:xfrm>
            <a:off x="211631" y="397116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75E19A-5286-D3E0-532B-E994AC0A31A1}"/>
              </a:ext>
            </a:extLst>
          </p:cNvPr>
          <p:cNvSpPr/>
          <p:nvPr/>
        </p:nvSpPr>
        <p:spPr bwMode="auto">
          <a:xfrm>
            <a:off x="777715" y="4195217"/>
            <a:ext cx="203079" cy="1508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BFE373-F120-EFDD-7C94-7852C7BACF8F}"/>
              </a:ext>
            </a:extLst>
          </p:cNvPr>
          <p:cNvSpPr txBox="1"/>
          <p:nvPr/>
        </p:nvSpPr>
        <p:spPr>
          <a:xfrm>
            <a:off x="425095" y="435928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04D786C-6C94-67C1-5721-04E0E0D11986}"/>
              </a:ext>
            </a:extLst>
          </p:cNvPr>
          <p:cNvCxnSpPr>
            <a:cxnSpLocks/>
            <a:stCxn id="7" idx="0"/>
            <a:endCxn id="27" idx="2"/>
          </p:cNvCxnSpPr>
          <p:nvPr/>
        </p:nvCxnSpPr>
        <p:spPr>
          <a:xfrm rot="16200000" flipV="1">
            <a:off x="4880780" y="2036738"/>
            <a:ext cx="943714" cy="142306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9CD71E-808F-C69F-7950-222E477E8A8A}"/>
              </a:ext>
            </a:extLst>
          </p:cNvPr>
          <p:cNvSpPr/>
          <p:nvPr/>
        </p:nvSpPr>
        <p:spPr bwMode="auto">
          <a:xfrm>
            <a:off x="6051222" y="3598110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C8C31-6D65-1A40-3749-4D30BDFA4BB7}"/>
              </a:ext>
            </a:extLst>
          </p:cNvPr>
          <p:cNvSpPr txBox="1"/>
          <p:nvPr/>
        </p:nvSpPr>
        <p:spPr>
          <a:xfrm>
            <a:off x="5716736" y="34583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6709ED1-1C8E-9DBC-A164-0493B8573FA5}"/>
              </a:ext>
            </a:extLst>
          </p:cNvPr>
          <p:cNvCxnSpPr>
            <a:cxnSpLocks/>
            <a:stCxn id="32" idx="3"/>
            <a:endCxn id="34" idx="3"/>
          </p:cNvCxnSpPr>
          <p:nvPr/>
        </p:nvCxnSpPr>
        <p:spPr>
          <a:xfrm flipV="1">
            <a:off x="6294109" y="1478585"/>
            <a:ext cx="110610" cy="2241178"/>
          </a:xfrm>
          <a:prstGeom prst="bentConnector3">
            <a:avLst>
              <a:gd name="adj1" fmla="val 306672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F06ED2-9EFE-7CC9-945D-2D3971DE1A60}"/>
              </a:ext>
            </a:extLst>
          </p:cNvPr>
          <p:cNvSpPr txBox="1"/>
          <p:nvPr/>
        </p:nvSpPr>
        <p:spPr>
          <a:xfrm>
            <a:off x="5988627" y="34583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337AFCA-1001-EABF-845F-5AA6BD694F07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2043249" y="3182056"/>
            <a:ext cx="156812" cy="248480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601924C-56B7-FB4B-59EB-0AD80D7FD4C4}"/>
              </a:ext>
            </a:extLst>
          </p:cNvPr>
          <p:cNvSpPr txBox="1"/>
          <p:nvPr/>
        </p:nvSpPr>
        <p:spPr>
          <a:xfrm>
            <a:off x="1509830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AAE8A10-847E-D4CD-B87C-4F709D905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7467"/>
              </p:ext>
            </p:extLst>
          </p:nvPr>
        </p:nvGraphicFramePr>
        <p:xfrm>
          <a:off x="6724940" y="836712"/>
          <a:ext cx="3035919" cy="43150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사용자에게 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회람된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읽음유무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990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개인 폴더로 복사할 수 있도록 개인 폴더 선택 화면을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읽음확인 처리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10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 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5F154B-DE71-71A6-61D6-DD72C524410E}"/>
              </a:ext>
            </a:extLst>
          </p:cNvPr>
          <p:cNvSpPr/>
          <p:nvPr/>
        </p:nvSpPr>
        <p:spPr bwMode="auto">
          <a:xfrm>
            <a:off x="307935" y="4126886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476F7-E611-2850-D16B-1DC714EB4CD5}"/>
              </a:ext>
            </a:extLst>
          </p:cNvPr>
          <p:cNvSpPr txBox="1"/>
          <p:nvPr/>
        </p:nvSpPr>
        <p:spPr>
          <a:xfrm>
            <a:off x="691932" y="406236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C6831-5F2A-F29C-CEC5-5541D7D8E412}"/>
              </a:ext>
            </a:extLst>
          </p:cNvPr>
          <p:cNvSpPr txBox="1"/>
          <p:nvPr/>
        </p:nvSpPr>
        <p:spPr>
          <a:xfrm>
            <a:off x="1981697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CCE19CA-4A45-79D0-CB2D-75A4AE677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823" y="1047518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1AA737C-7BB6-C52E-E9F3-9733F26FB83B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92E05E-8810-0A08-C180-F945D54E42C8}"/>
              </a:ext>
            </a:extLst>
          </p:cNvPr>
          <p:cNvSpPr txBox="1"/>
          <p:nvPr/>
        </p:nvSpPr>
        <p:spPr>
          <a:xfrm>
            <a:off x="3947117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C36CB-3006-50B6-8824-1A9E765A7AE6}"/>
              </a:ext>
            </a:extLst>
          </p:cNvPr>
          <p:cNvSpPr txBox="1"/>
          <p:nvPr/>
        </p:nvSpPr>
        <p:spPr>
          <a:xfrm>
            <a:off x="2520547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68A938E-404D-73EC-D6D2-F0242A91E9CF}"/>
              </a:ext>
            </a:extLst>
          </p:cNvPr>
          <p:cNvCxnSpPr>
            <a:cxnSpLocks/>
            <a:stCxn id="24" idx="0"/>
            <a:endCxn id="31" idx="2"/>
          </p:cNvCxnSpPr>
          <p:nvPr/>
        </p:nvCxnSpPr>
        <p:spPr>
          <a:xfrm rot="16200000" flipV="1">
            <a:off x="921891" y="2706972"/>
            <a:ext cx="1077819" cy="71969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3D1987-DCF0-98F5-86F1-F2D2FEDD210E}"/>
              </a:ext>
            </a:extLst>
          </p:cNvPr>
          <p:cNvSpPr/>
          <p:nvPr/>
        </p:nvSpPr>
        <p:spPr bwMode="auto">
          <a:xfrm>
            <a:off x="1640624" y="3605730"/>
            <a:ext cx="36004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9DBE5F-2832-0B43-2F4D-BA33D2D762D9}"/>
              </a:ext>
            </a:extLst>
          </p:cNvPr>
          <p:cNvSpPr txBox="1"/>
          <p:nvPr/>
        </p:nvSpPr>
        <p:spPr>
          <a:xfrm>
            <a:off x="168350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657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A2248D2-A1F7-DEF6-580A-C9553239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 err="1"/>
              <a:t>부서결재함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8250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4A5E-FF10-E2FE-BB14-4811D100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6F99BE36-2C8D-F183-69B8-2F3DB6A1C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5" y="3460434"/>
            <a:ext cx="6134956" cy="301032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95B7662-C543-B8C7-2A76-663BF9AFE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31" y="1883425"/>
            <a:ext cx="1660439" cy="148039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66BB5A-5BF7-35EE-71AC-018DB9A2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988" y="1047518"/>
            <a:ext cx="903572" cy="1613760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451AEA5A-AA4E-C325-A4F4-FA50C1A7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 </a:t>
            </a:r>
            <a:r>
              <a:rPr lang="ko-KR" altLang="en-US" dirty="0"/>
              <a:t>부서함 </a:t>
            </a:r>
            <a:r>
              <a:rPr lang="en-US" altLang="ko-KR" dirty="0"/>
              <a:t>– </a:t>
            </a:r>
            <a:r>
              <a:rPr lang="ko-KR" altLang="en-US" dirty="0"/>
              <a:t>완료함</a:t>
            </a:r>
            <a:r>
              <a:rPr lang="en-US" altLang="ko-KR" dirty="0"/>
              <a:t>/</a:t>
            </a:r>
            <a:r>
              <a:rPr lang="ko-KR" altLang="en-US" dirty="0"/>
              <a:t>발신함</a:t>
            </a:r>
            <a:r>
              <a:rPr lang="en-US" altLang="ko-KR" dirty="0"/>
              <a:t>/</a:t>
            </a:r>
            <a:r>
              <a:rPr lang="ko-KR" altLang="en-US" dirty="0"/>
              <a:t>수신처리함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EB84D-E3E9-6018-03DF-2A34DD98ADF6}"/>
              </a:ext>
            </a:extLst>
          </p:cNvPr>
          <p:cNvSpPr txBox="1"/>
          <p:nvPr/>
        </p:nvSpPr>
        <p:spPr>
          <a:xfrm>
            <a:off x="4293789" y="330630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ED1C1D-8426-4C4E-32E5-D10694203D5D}"/>
              </a:ext>
            </a:extLst>
          </p:cNvPr>
          <p:cNvSpPr/>
          <p:nvPr/>
        </p:nvSpPr>
        <p:spPr bwMode="auto">
          <a:xfrm>
            <a:off x="5834230" y="3488721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9839E9-A104-100A-F57D-685E4C504658}"/>
              </a:ext>
            </a:extLst>
          </p:cNvPr>
          <p:cNvSpPr/>
          <p:nvPr/>
        </p:nvSpPr>
        <p:spPr bwMode="auto">
          <a:xfrm>
            <a:off x="468877" y="4771454"/>
            <a:ext cx="5616115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DA89C-A04D-1297-60E3-0FD286BE3C80}"/>
              </a:ext>
            </a:extLst>
          </p:cNvPr>
          <p:cNvSpPr txBox="1"/>
          <p:nvPr/>
        </p:nvSpPr>
        <p:spPr>
          <a:xfrm>
            <a:off x="5796130" y="331264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54C26-D3CB-2389-1042-543E0D8AAF05}"/>
              </a:ext>
            </a:extLst>
          </p:cNvPr>
          <p:cNvSpPr txBox="1"/>
          <p:nvPr/>
        </p:nvSpPr>
        <p:spPr>
          <a:xfrm>
            <a:off x="307935" y="371138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6EC57F-ACBA-E55A-CF13-EA5F91FBF40C}"/>
              </a:ext>
            </a:extLst>
          </p:cNvPr>
          <p:cNvSpPr txBox="1"/>
          <p:nvPr/>
        </p:nvSpPr>
        <p:spPr>
          <a:xfrm>
            <a:off x="1027982" y="371138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3B9158-D16C-F196-EE05-50A898738076}"/>
              </a:ext>
            </a:extLst>
          </p:cNvPr>
          <p:cNvSpPr txBox="1"/>
          <p:nvPr/>
        </p:nvSpPr>
        <p:spPr>
          <a:xfrm>
            <a:off x="163504" y="402909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BBC45C-48D2-DA57-2912-33CFE1726236}"/>
              </a:ext>
            </a:extLst>
          </p:cNvPr>
          <p:cNvSpPr txBox="1"/>
          <p:nvPr/>
        </p:nvSpPr>
        <p:spPr>
          <a:xfrm>
            <a:off x="211631" y="42397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50068F-8EEE-C2C0-A0FE-D091E51DBF02}"/>
              </a:ext>
            </a:extLst>
          </p:cNvPr>
          <p:cNvSpPr/>
          <p:nvPr/>
        </p:nvSpPr>
        <p:spPr bwMode="auto">
          <a:xfrm>
            <a:off x="736440" y="4463809"/>
            <a:ext cx="299404" cy="1508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5D7AD9-645C-C984-492C-675B6D383A26}"/>
              </a:ext>
            </a:extLst>
          </p:cNvPr>
          <p:cNvSpPr txBox="1"/>
          <p:nvPr/>
        </p:nvSpPr>
        <p:spPr>
          <a:xfrm>
            <a:off x="425095" y="462787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009694F-1DFC-20CA-73FD-AB6B59F5F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539" y="1047519"/>
            <a:ext cx="733527" cy="60349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B3644354-0E5B-B132-0A15-3E1E44C6F9F4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16200000" flipV="1">
            <a:off x="5373251" y="2797802"/>
            <a:ext cx="827443" cy="554396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FB5959-24E7-C766-68EB-E10E87E57286}"/>
              </a:ext>
            </a:extLst>
          </p:cNvPr>
          <p:cNvSpPr/>
          <p:nvPr/>
        </p:nvSpPr>
        <p:spPr bwMode="auto">
          <a:xfrm>
            <a:off x="6051222" y="3866702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6B042-FE6A-2D7F-3FAE-A5E830C74C3E}"/>
              </a:ext>
            </a:extLst>
          </p:cNvPr>
          <p:cNvSpPr txBox="1"/>
          <p:nvPr/>
        </p:nvSpPr>
        <p:spPr>
          <a:xfrm>
            <a:off x="5576014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47C53-4638-4C4E-5A5D-945DA7DE2690}"/>
              </a:ext>
            </a:extLst>
          </p:cNvPr>
          <p:cNvSpPr txBox="1"/>
          <p:nvPr/>
        </p:nvSpPr>
        <p:spPr>
          <a:xfrm>
            <a:off x="5716736" y="372698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CB2FE-0C5D-C300-A4E2-CFA7620A0567}"/>
              </a:ext>
            </a:extLst>
          </p:cNvPr>
          <p:cNvSpPr txBox="1"/>
          <p:nvPr/>
        </p:nvSpPr>
        <p:spPr>
          <a:xfrm>
            <a:off x="4939965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3005FD9-643C-07B1-97F9-7DFEF0690021}"/>
              </a:ext>
            </a:extLst>
          </p:cNvPr>
          <p:cNvCxnSpPr>
            <a:cxnSpLocks/>
            <a:stCxn id="32" idx="3"/>
            <a:endCxn id="26" idx="3"/>
          </p:cNvCxnSpPr>
          <p:nvPr/>
        </p:nvCxnSpPr>
        <p:spPr>
          <a:xfrm flipV="1">
            <a:off x="6294109" y="1349266"/>
            <a:ext cx="64957" cy="2639089"/>
          </a:xfrm>
          <a:prstGeom prst="bentConnector3">
            <a:avLst>
              <a:gd name="adj1" fmla="val 45192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E81C04F-3143-5098-FB11-6BB3F2641244}"/>
              </a:ext>
            </a:extLst>
          </p:cNvPr>
          <p:cNvSpPr txBox="1"/>
          <p:nvPr/>
        </p:nvSpPr>
        <p:spPr>
          <a:xfrm>
            <a:off x="5988627" y="372698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58398FBB-DEB0-D804-2BF9-167F034F07F0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2003132" y="3497651"/>
            <a:ext cx="156812" cy="2390793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5750D10-0014-6685-8F95-FAE6895E7A0A}"/>
              </a:ext>
            </a:extLst>
          </p:cNvPr>
          <p:cNvSpPr txBox="1"/>
          <p:nvPr/>
        </p:nvSpPr>
        <p:spPr>
          <a:xfrm>
            <a:off x="1520626" y="371138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4612E12-9C3C-C143-C330-55334FFA8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391475"/>
              </p:ext>
            </p:extLst>
          </p:nvPr>
        </p:nvGraphicFramePr>
        <p:xfrm>
          <a:off x="6724940" y="836712"/>
          <a:ext cx="3035919" cy="412116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부서 내 완료된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개인 폴더로 복사할 수 있도록 개인 폴더 선택 화면을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문서를 다른 사용자에게 회람할 수 있도록 회람화면을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품의함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수신처리함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8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일시 표시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734C1DE6-48FC-8D22-C518-A7406B64C70E}"/>
              </a:ext>
            </a:extLst>
          </p:cNvPr>
          <p:cNvSpPr/>
          <p:nvPr/>
        </p:nvSpPr>
        <p:spPr bwMode="auto">
          <a:xfrm>
            <a:off x="307935" y="4395478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536FF8-8956-53F5-9660-7134CFD784DB}"/>
              </a:ext>
            </a:extLst>
          </p:cNvPr>
          <p:cNvSpPr txBox="1"/>
          <p:nvPr/>
        </p:nvSpPr>
        <p:spPr>
          <a:xfrm>
            <a:off x="650657" y="433095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4C7074-5FAA-E9A0-04CA-010FB861AD86}"/>
              </a:ext>
            </a:extLst>
          </p:cNvPr>
          <p:cNvSpPr txBox="1"/>
          <p:nvPr/>
        </p:nvSpPr>
        <p:spPr>
          <a:xfrm>
            <a:off x="1994589" y="371138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698C1D-D89C-4E00-5030-83A3759C179D}"/>
              </a:ext>
            </a:extLst>
          </p:cNvPr>
          <p:cNvSpPr txBox="1"/>
          <p:nvPr/>
        </p:nvSpPr>
        <p:spPr>
          <a:xfrm>
            <a:off x="2537980" y="371138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3D3325C8-27D6-A874-1B56-BF58A1063B09}"/>
              </a:ext>
            </a:extLst>
          </p:cNvPr>
          <p:cNvCxnSpPr>
            <a:cxnSpLocks/>
            <a:stCxn id="68" idx="0"/>
            <a:endCxn id="33" idx="2"/>
          </p:cNvCxnSpPr>
          <p:nvPr/>
        </p:nvCxnSpPr>
        <p:spPr>
          <a:xfrm rot="16200000" flipV="1">
            <a:off x="1211528" y="3253241"/>
            <a:ext cx="502885" cy="72403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345AE9-D756-5406-903A-74564AFCD337}"/>
              </a:ext>
            </a:extLst>
          </p:cNvPr>
          <p:cNvSpPr txBox="1"/>
          <p:nvPr/>
        </p:nvSpPr>
        <p:spPr>
          <a:xfrm>
            <a:off x="194102" y="1683369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1700600-00DC-82B9-C4B8-EAA68399FDE0}"/>
              </a:ext>
            </a:extLst>
          </p:cNvPr>
          <p:cNvSpPr/>
          <p:nvPr/>
        </p:nvSpPr>
        <p:spPr bwMode="auto">
          <a:xfrm>
            <a:off x="1644965" y="3866702"/>
            <a:ext cx="36004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BBEB922-9E76-749E-D5C2-0869C5C2F6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444" y="1047519"/>
            <a:ext cx="3307542" cy="1907171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8F7F5A91-459F-F2D4-419D-21FB487A44DB}"/>
              </a:ext>
            </a:extLst>
          </p:cNvPr>
          <p:cNvSpPr/>
          <p:nvPr/>
        </p:nvSpPr>
        <p:spPr bwMode="auto">
          <a:xfrm>
            <a:off x="2034342" y="3866702"/>
            <a:ext cx="537130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9CB4F976-1837-86C0-DFC6-02285BE813B1}"/>
              </a:ext>
            </a:extLst>
          </p:cNvPr>
          <p:cNvCxnSpPr>
            <a:cxnSpLocks/>
            <a:stCxn id="39" idx="0"/>
            <a:endCxn id="38" idx="2"/>
          </p:cNvCxnSpPr>
          <p:nvPr/>
        </p:nvCxnSpPr>
        <p:spPr>
          <a:xfrm rot="5400000" flipH="1" flipV="1">
            <a:off x="2367055" y="2890542"/>
            <a:ext cx="912012" cy="104030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C950F4F-050B-3B5D-EDCF-E26AE0DC9CA0}"/>
              </a:ext>
            </a:extLst>
          </p:cNvPr>
          <p:cNvSpPr txBox="1"/>
          <p:nvPr/>
        </p:nvSpPr>
        <p:spPr>
          <a:xfrm>
            <a:off x="1616965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9155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85729-5269-201A-D611-F91D7798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0A6A2B-42B6-5C70-4CFC-47742F93D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2" y="3149369"/>
            <a:ext cx="6077798" cy="2753109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6723DA51-0300-C325-C69D-6FC2ED0D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4.2. </a:t>
            </a:r>
            <a:r>
              <a:rPr lang="ko-KR" altLang="en-US" dirty="0"/>
              <a:t>부서함 </a:t>
            </a:r>
            <a:r>
              <a:rPr lang="en-US" altLang="ko-KR" dirty="0"/>
              <a:t>– </a:t>
            </a:r>
            <a:r>
              <a:rPr lang="ko-KR" altLang="en-US" dirty="0"/>
              <a:t>수신함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06EB1-E49C-088C-8CB7-0F77BD56F3A8}"/>
              </a:ext>
            </a:extLst>
          </p:cNvPr>
          <p:cNvSpPr txBox="1"/>
          <p:nvPr/>
        </p:nvSpPr>
        <p:spPr>
          <a:xfrm>
            <a:off x="4293789" y="295466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263C3F-B6E9-3159-3D92-6B5F8A9F73A7}"/>
              </a:ext>
            </a:extLst>
          </p:cNvPr>
          <p:cNvSpPr/>
          <p:nvPr/>
        </p:nvSpPr>
        <p:spPr bwMode="auto">
          <a:xfrm>
            <a:off x="5834230" y="3137082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EAC43E-F978-CF60-A980-D9062FE8866B}"/>
              </a:ext>
            </a:extLst>
          </p:cNvPr>
          <p:cNvSpPr/>
          <p:nvPr/>
        </p:nvSpPr>
        <p:spPr bwMode="auto">
          <a:xfrm>
            <a:off x="468877" y="4419815"/>
            <a:ext cx="5616115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6B63BE-CA00-B5A5-3F49-F0C5093AA413}"/>
              </a:ext>
            </a:extLst>
          </p:cNvPr>
          <p:cNvSpPr txBox="1"/>
          <p:nvPr/>
        </p:nvSpPr>
        <p:spPr>
          <a:xfrm>
            <a:off x="5796130" y="296101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E3AC0-DDA4-048D-9F7C-B4DF444E94DE}"/>
              </a:ext>
            </a:extLst>
          </p:cNvPr>
          <p:cNvSpPr txBox="1"/>
          <p:nvPr/>
        </p:nvSpPr>
        <p:spPr>
          <a:xfrm>
            <a:off x="307935" y="335975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39797-2D53-FB17-7514-A9F03E510DB8}"/>
              </a:ext>
            </a:extLst>
          </p:cNvPr>
          <p:cNvSpPr txBox="1"/>
          <p:nvPr/>
        </p:nvSpPr>
        <p:spPr>
          <a:xfrm>
            <a:off x="1027982" y="3359750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5C6F52-7AFF-5753-2EEA-D54EB5B22786}"/>
              </a:ext>
            </a:extLst>
          </p:cNvPr>
          <p:cNvSpPr txBox="1"/>
          <p:nvPr/>
        </p:nvSpPr>
        <p:spPr>
          <a:xfrm>
            <a:off x="163504" y="367745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8AB74-2A09-59EC-71CC-E83DFF47D217}"/>
              </a:ext>
            </a:extLst>
          </p:cNvPr>
          <p:cNvSpPr txBox="1"/>
          <p:nvPr/>
        </p:nvSpPr>
        <p:spPr>
          <a:xfrm>
            <a:off x="211631" y="388812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9FEC71-04CF-1F03-ED64-C632F0038C71}"/>
              </a:ext>
            </a:extLst>
          </p:cNvPr>
          <p:cNvSpPr/>
          <p:nvPr/>
        </p:nvSpPr>
        <p:spPr bwMode="auto">
          <a:xfrm>
            <a:off x="983251" y="4115293"/>
            <a:ext cx="221855" cy="14598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D52FF-6BA2-FE64-FAA9-653FD2DD407C}"/>
              </a:ext>
            </a:extLst>
          </p:cNvPr>
          <p:cNvSpPr txBox="1"/>
          <p:nvPr/>
        </p:nvSpPr>
        <p:spPr>
          <a:xfrm>
            <a:off x="425095" y="42762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326CCC3-4C30-4934-C5F6-30FCE4280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927" y="1902120"/>
            <a:ext cx="733527" cy="60349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463140C-112D-B769-0F81-9B5B5139DCF7}"/>
              </a:ext>
            </a:extLst>
          </p:cNvPr>
          <p:cNvCxnSpPr>
            <a:cxnSpLocks/>
            <a:stCxn id="7" idx="0"/>
            <a:endCxn id="45" idx="2"/>
          </p:cNvCxnSpPr>
          <p:nvPr/>
        </p:nvCxnSpPr>
        <p:spPr>
          <a:xfrm rot="16200000" flipV="1">
            <a:off x="4810095" y="1883007"/>
            <a:ext cx="419761" cy="208839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C907192-2291-AA5E-673E-74703F735EF8}"/>
              </a:ext>
            </a:extLst>
          </p:cNvPr>
          <p:cNvSpPr/>
          <p:nvPr/>
        </p:nvSpPr>
        <p:spPr bwMode="auto">
          <a:xfrm>
            <a:off x="6051222" y="3515063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A6237-6CCC-47C9-EBBD-FAF64B87070D}"/>
              </a:ext>
            </a:extLst>
          </p:cNvPr>
          <p:cNvSpPr txBox="1"/>
          <p:nvPr/>
        </p:nvSpPr>
        <p:spPr>
          <a:xfrm>
            <a:off x="5385048" y="169483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543D20-DF30-48C5-1C02-ABDDA9DCA408}"/>
              </a:ext>
            </a:extLst>
          </p:cNvPr>
          <p:cNvSpPr txBox="1"/>
          <p:nvPr/>
        </p:nvSpPr>
        <p:spPr>
          <a:xfrm>
            <a:off x="5716736" y="337534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B0A55-C9CC-52D2-53D9-4BF7A278874C}"/>
              </a:ext>
            </a:extLst>
          </p:cNvPr>
          <p:cNvSpPr txBox="1"/>
          <p:nvPr/>
        </p:nvSpPr>
        <p:spPr>
          <a:xfrm>
            <a:off x="3296816" y="14847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83AD83F-E3EC-7D61-FEF5-74BD943850A8}"/>
              </a:ext>
            </a:extLst>
          </p:cNvPr>
          <p:cNvCxnSpPr>
            <a:cxnSpLocks/>
            <a:stCxn id="32" idx="3"/>
            <a:endCxn id="26" idx="3"/>
          </p:cNvCxnSpPr>
          <p:nvPr/>
        </p:nvCxnSpPr>
        <p:spPr>
          <a:xfrm flipH="1" flipV="1">
            <a:off x="6195454" y="2203867"/>
            <a:ext cx="98655" cy="1432849"/>
          </a:xfrm>
          <a:prstGeom prst="bentConnector3">
            <a:avLst>
              <a:gd name="adj1" fmla="val -231717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F5BB2D6-2536-383D-211F-19BE1C405828}"/>
              </a:ext>
            </a:extLst>
          </p:cNvPr>
          <p:cNvSpPr txBox="1"/>
          <p:nvPr/>
        </p:nvSpPr>
        <p:spPr>
          <a:xfrm>
            <a:off x="5988627" y="337534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11DA228-67BB-856C-FDB3-21276D0D532C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2106287" y="3249166"/>
            <a:ext cx="158541" cy="2182756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DC4E31B-9DFA-7194-4857-24199892F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850791"/>
              </p:ext>
            </p:extLst>
          </p:nvPr>
        </p:nvGraphicFramePr>
        <p:xfrm>
          <a:off x="6724940" y="836712"/>
          <a:ext cx="3035919" cy="368340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부서 내 수신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읽음확인 처리 한다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일시 표시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43347D63-A7A8-3D5C-9F28-AE3B3858CC78}"/>
              </a:ext>
            </a:extLst>
          </p:cNvPr>
          <p:cNvSpPr/>
          <p:nvPr/>
        </p:nvSpPr>
        <p:spPr bwMode="auto">
          <a:xfrm>
            <a:off x="307935" y="4043839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2CD544-4E6F-27A6-FBD9-179BFB49E701}"/>
              </a:ext>
            </a:extLst>
          </p:cNvPr>
          <p:cNvSpPr txBox="1"/>
          <p:nvPr/>
        </p:nvSpPr>
        <p:spPr>
          <a:xfrm>
            <a:off x="956519" y="396336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D2A7C9-3849-E1FF-6BAD-AC0998D9B275}"/>
              </a:ext>
            </a:extLst>
          </p:cNvPr>
          <p:cNvSpPr txBox="1"/>
          <p:nvPr/>
        </p:nvSpPr>
        <p:spPr>
          <a:xfrm>
            <a:off x="1496616" y="3359750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793" y="1703481"/>
            <a:ext cx="1189973" cy="1013840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661563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12A1-E217-246C-87EE-AE668E27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그림 42">
            <a:extLst>
              <a:ext uri="{FF2B5EF4-FFF2-40B4-BE49-F238E27FC236}">
                <a16:creationId xmlns:a16="http://schemas.microsoft.com/office/drawing/2014/main" id="{2F57D47D-199B-A894-52FC-ED56CF7B3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3" y="3058706"/>
            <a:ext cx="6351096" cy="3394630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EC31594C-8312-3081-4B35-3910A22E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4.4. </a:t>
            </a:r>
            <a:r>
              <a:rPr lang="ko-KR" altLang="en-US" dirty="0"/>
              <a:t>부서함 </a:t>
            </a:r>
            <a:r>
              <a:rPr lang="en-US" altLang="ko-KR" dirty="0"/>
              <a:t>– </a:t>
            </a:r>
            <a:r>
              <a:rPr lang="ko-KR" altLang="en-US" dirty="0" err="1"/>
              <a:t>수신진행함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FD9BB-BB31-DB9F-68DB-1EABB8CB6988}"/>
              </a:ext>
            </a:extLst>
          </p:cNvPr>
          <p:cNvSpPr txBox="1"/>
          <p:nvPr/>
        </p:nvSpPr>
        <p:spPr>
          <a:xfrm>
            <a:off x="4377251" y="29551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E18268-5A1D-BDA0-2A58-043541A63A1C}"/>
              </a:ext>
            </a:extLst>
          </p:cNvPr>
          <p:cNvSpPr/>
          <p:nvPr/>
        </p:nvSpPr>
        <p:spPr bwMode="auto">
          <a:xfrm>
            <a:off x="5965970" y="3071515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ED895C-DF2C-B21F-3971-C7A2F3586750}"/>
              </a:ext>
            </a:extLst>
          </p:cNvPr>
          <p:cNvSpPr/>
          <p:nvPr/>
        </p:nvSpPr>
        <p:spPr bwMode="auto">
          <a:xfrm>
            <a:off x="272480" y="4474444"/>
            <a:ext cx="6120680" cy="14400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6FB3A-45E5-93D6-2100-F20070B2FD61}"/>
              </a:ext>
            </a:extLst>
          </p:cNvPr>
          <p:cNvSpPr txBox="1"/>
          <p:nvPr/>
        </p:nvSpPr>
        <p:spPr>
          <a:xfrm>
            <a:off x="6253141" y="292416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5ED83-4D13-432B-F00D-FD3687CC8DE1}"/>
              </a:ext>
            </a:extLst>
          </p:cNvPr>
          <p:cNvSpPr txBox="1"/>
          <p:nvPr/>
        </p:nvSpPr>
        <p:spPr>
          <a:xfrm>
            <a:off x="223541" y="329713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91379-58CA-D62A-2AE5-295552D2F498}"/>
              </a:ext>
            </a:extLst>
          </p:cNvPr>
          <p:cNvSpPr txBox="1"/>
          <p:nvPr/>
        </p:nvSpPr>
        <p:spPr>
          <a:xfrm>
            <a:off x="975142" y="329275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C72546-68DD-1421-0599-2A71F3FEC59D}"/>
              </a:ext>
            </a:extLst>
          </p:cNvPr>
          <p:cNvSpPr txBox="1"/>
          <p:nvPr/>
        </p:nvSpPr>
        <p:spPr>
          <a:xfrm>
            <a:off x="79110" y="363644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AFB149-734D-BFD7-3ED6-5837CBDD4DFD}"/>
              </a:ext>
            </a:extLst>
          </p:cNvPr>
          <p:cNvSpPr txBox="1"/>
          <p:nvPr/>
        </p:nvSpPr>
        <p:spPr>
          <a:xfrm>
            <a:off x="165796" y="382023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EAA09B-A4F8-7452-B1FE-01E0F17B39D9}"/>
              </a:ext>
            </a:extLst>
          </p:cNvPr>
          <p:cNvSpPr/>
          <p:nvPr/>
        </p:nvSpPr>
        <p:spPr bwMode="auto">
          <a:xfrm>
            <a:off x="975142" y="4103199"/>
            <a:ext cx="216000" cy="1800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6DBC17-5D26-EDA8-5397-43258F5CF829}"/>
              </a:ext>
            </a:extLst>
          </p:cNvPr>
          <p:cNvSpPr txBox="1"/>
          <p:nvPr/>
        </p:nvSpPr>
        <p:spPr>
          <a:xfrm>
            <a:off x="165796" y="430502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BC75A0C-18F6-D6F0-8370-A5F44FD4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024" y="1529363"/>
            <a:ext cx="733527" cy="60349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6D55D77-7AF8-834B-5589-B5877A183EB9}"/>
              </a:ext>
            </a:extLst>
          </p:cNvPr>
          <p:cNvCxnSpPr>
            <a:cxnSpLocks/>
            <a:stCxn id="7" idx="0"/>
            <a:endCxn id="52" idx="2"/>
          </p:cNvCxnSpPr>
          <p:nvPr/>
        </p:nvCxnSpPr>
        <p:spPr>
          <a:xfrm rot="16200000" flipV="1">
            <a:off x="4948389" y="1823994"/>
            <a:ext cx="262194" cy="223284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397C2E-4FC3-8622-67CD-B9EA45A35835}"/>
              </a:ext>
            </a:extLst>
          </p:cNvPr>
          <p:cNvSpPr/>
          <p:nvPr/>
        </p:nvSpPr>
        <p:spPr bwMode="auto">
          <a:xfrm>
            <a:off x="6211972" y="3455127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F68757-91BD-DC2E-EA48-BAFA3E0C7E62}"/>
              </a:ext>
            </a:extLst>
          </p:cNvPr>
          <p:cNvSpPr txBox="1"/>
          <p:nvPr/>
        </p:nvSpPr>
        <p:spPr>
          <a:xfrm>
            <a:off x="5057127" y="129704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67FA30-C8B4-7F3A-BF2D-8F7EF92C8315}"/>
              </a:ext>
            </a:extLst>
          </p:cNvPr>
          <p:cNvSpPr txBox="1"/>
          <p:nvPr/>
        </p:nvSpPr>
        <p:spPr>
          <a:xfrm>
            <a:off x="5909675" y="32849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A47A1-D4DA-5241-36B6-8052C0ECB54D}"/>
              </a:ext>
            </a:extLst>
          </p:cNvPr>
          <p:cNvSpPr txBox="1"/>
          <p:nvPr/>
        </p:nvSpPr>
        <p:spPr>
          <a:xfrm>
            <a:off x="3024107" y="111523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D74D9C5A-9BA0-313D-147D-FAF72904795A}"/>
              </a:ext>
            </a:extLst>
          </p:cNvPr>
          <p:cNvCxnSpPr>
            <a:cxnSpLocks/>
            <a:stCxn id="32" idx="3"/>
            <a:endCxn id="26" idx="3"/>
          </p:cNvCxnSpPr>
          <p:nvPr/>
        </p:nvCxnSpPr>
        <p:spPr>
          <a:xfrm flipH="1" flipV="1">
            <a:off x="5902551" y="1831110"/>
            <a:ext cx="552308" cy="1745670"/>
          </a:xfrm>
          <a:prstGeom prst="bentConnector3">
            <a:avLst>
              <a:gd name="adj1" fmla="val -31929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364BEF5-F762-4B0D-B9CD-8B49383292FE}"/>
              </a:ext>
            </a:extLst>
          </p:cNvPr>
          <p:cNvSpPr txBox="1"/>
          <p:nvPr/>
        </p:nvSpPr>
        <p:spPr>
          <a:xfrm>
            <a:off x="6223888" y="328498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82469F78-5318-7B2F-CEE0-E389A2E4CA8D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2112359" y="3253982"/>
            <a:ext cx="191245" cy="224967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DE79AB6-0420-2976-5D12-8232F4DE4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63196"/>
              </p:ext>
            </p:extLst>
          </p:nvPr>
        </p:nvGraphicFramePr>
        <p:xfrm>
          <a:off x="6724940" y="836712"/>
          <a:ext cx="3035919" cy="34894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부서에 수신되어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내부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진행중인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일시 표시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제목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 문서의 진행 상태를 그래픽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회람자 목록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 목록 표시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수신현황</a:t>
                      </a:r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읽음확인 </a:t>
                      </a:r>
                      <a:r>
                        <a:rPr lang="ko-KR" altLang="en-US" sz="800" b="0" i="0" baseline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B913D1D9-5051-48F3-FB8B-1E9F43D34C7A}"/>
              </a:ext>
            </a:extLst>
          </p:cNvPr>
          <p:cNvSpPr/>
          <p:nvPr/>
        </p:nvSpPr>
        <p:spPr bwMode="auto">
          <a:xfrm>
            <a:off x="272480" y="4005064"/>
            <a:ext cx="6120680" cy="33060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DA379B-926C-8E5D-FDCA-D90963A5E76B}"/>
              </a:ext>
            </a:extLst>
          </p:cNvPr>
          <p:cNvSpPr txBox="1"/>
          <p:nvPr/>
        </p:nvSpPr>
        <p:spPr>
          <a:xfrm>
            <a:off x="771521" y="39762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5A518679-454C-2C62-4306-6C5453BC0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100" y="1320622"/>
            <a:ext cx="1731923" cy="1488699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83205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D230-69A6-44AF-7EF4-36E4DF9D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F12952A9-656A-F657-06EF-35262A7C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31" y="1047519"/>
            <a:ext cx="1660439" cy="148039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9DE277D-1763-BAE0-8285-D9ABA6C7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365" y="1047518"/>
            <a:ext cx="1257476" cy="122889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C28E48-B79E-BB6F-D2AA-A460126D52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033"/>
          <a:stretch/>
        </p:blipFill>
        <p:spPr>
          <a:xfrm>
            <a:off x="231922" y="3209651"/>
            <a:ext cx="6128288" cy="32665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94957680-CCCC-349E-D740-A2DB4917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4.3. </a:t>
            </a:r>
            <a:r>
              <a:rPr lang="ko-KR" altLang="en-US" dirty="0"/>
              <a:t>부서함 </a:t>
            </a:r>
            <a:r>
              <a:rPr lang="en-US" altLang="ko-KR" dirty="0"/>
              <a:t>– </a:t>
            </a:r>
            <a:r>
              <a:rPr lang="ko-KR" altLang="en-US" dirty="0"/>
              <a:t>참조</a:t>
            </a:r>
            <a:r>
              <a:rPr lang="en-US" altLang="ko-KR" dirty="0"/>
              <a:t>/</a:t>
            </a:r>
            <a:r>
              <a:rPr lang="ko-KR" altLang="en-US" dirty="0"/>
              <a:t>회람함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EFBC0-BDB6-7437-EACC-6B1120AC971A}"/>
              </a:ext>
            </a:extLst>
          </p:cNvPr>
          <p:cNvSpPr txBox="1"/>
          <p:nvPr/>
        </p:nvSpPr>
        <p:spPr>
          <a:xfrm>
            <a:off x="4293789" y="303770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3AD2F2-9AF1-CB29-0A0E-1E2BF3374B92}"/>
              </a:ext>
            </a:extLst>
          </p:cNvPr>
          <p:cNvSpPr/>
          <p:nvPr/>
        </p:nvSpPr>
        <p:spPr bwMode="auto">
          <a:xfrm>
            <a:off x="5834230" y="3220129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600C46-3EC3-CA05-A9EC-2C74CC011AA5}"/>
              </a:ext>
            </a:extLst>
          </p:cNvPr>
          <p:cNvSpPr/>
          <p:nvPr/>
        </p:nvSpPr>
        <p:spPr bwMode="auto">
          <a:xfrm>
            <a:off x="468877" y="4502862"/>
            <a:ext cx="5790356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B18FB-CD20-7855-AEE8-7CE782E11529}"/>
              </a:ext>
            </a:extLst>
          </p:cNvPr>
          <p:cNvSpPr txBox="1"/>
          <p:nvPr/>
        </p:nvSpPr>
        <p:spPr>
          <a:xfrm>
            <a:off x="5796130" y="304405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F0E32-5ABD-DD76-C6A9-66F4273FED50}"/>
              </a:ext>
            </a:extLst>
          </p:cNvPr>
          <p:cNvSpPr txBox="1"/>
          <p:nvPr/>
        </p:nvSpPr>
        <p:spPr>
          <a:xfrm>
            <a:off x="307935" y="34427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AA9C87-A4A3-59CD-205C-AD13E164990B}"/>
              </a:ext>
            </a:extLst>
          </p:cNvPr>
          <p:cNvSpPr txBox="1"/>
          <p:nvPr/>
        </p:nvSpPr>
        <p:spPr>
          <a:xfrm>
            <a:off x="1027982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ABE44-F3C3-E72A-01EB-A4CC56EF8CA6}"/>
              </a:ext>
            </a:extLst>
          </p:cNvPr>
          <p:cNvSpPr txBox="1"/>
          <p:nvPr/>
        </p:nvSpPr>
        <p:spPr>
          <a:xfrm>
            <a:off x="163504" y="376050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0361B3-EDD6-3BDB-4DEA-60E873E9670D}"/>
              </a:ext>
            </a:extLst>
          </p:cNvPr>
          <p:cNvSpPr txBox="1"/>
          <p:nvPr/>
        </p:nvSpPr>
        <p:spPr>
          <a:xfrm>
            <a:off x="211631" y="397116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75E19A-5286-D3E0-532B-E994AC0A31A1}"/>
              </a:ext>
            </a:extLst>
          </p:cNvPr>
          <p:cNvSpPr/>
          <p:nvPr/>
        </p:nvSpPr>
        <p:spPr bwMode="auto">
          <a:xfrm>
            <a:off x="777715" y="4195217"/>
            <a:ext cx="203079" cy="15083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BFE373-F120-EFDD-7C94-7852C7BACF8F}"/>
              </a:ext>
            </a:extLst>
          </p:cNvPr>
          <p:cNvSpPr txBox="1"/>
          <p:nvPr/>
        </p:nvSpPr>
        <p:spPr>
          <a:xfrm>
            <a:off x="425095" y="435928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204D786C-6C94-67C1-5721-04E0E0D11986}"/>
              </a:ext>
            </a:extLst>
          </p:cNvPr>
          <p:cNvCxnSpPr>
            <a:cxnSpLocks/>
            <a:stCxn id="7" idx="0"/>
            <a:endCxn id="27" idx="2"/>
          </p:cNvCxnSpPr>
          <p:nvPr/>
        </p:nvCxnSpPr>
        <p:spPr>
          <a:xfrm rot="16200000" flipV="1">
            <a:off x="4880780" y="2036738"/>
            <a:ext cx="943714" cy="142306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9CD71E-808F-C69F-7950-222E477E8A8A}"/>
              </a:ext>
            </a:extLst>
          </p:cNvPr>
          <p:cNvSpPr/>
          <p:nvPr/>
        </p:nvSpPr>
        <p:spPr bwMode="auto">
          <a:xfrm>
            <a:off x="6051222" y="3598110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C8C31-6D65-1A40-3749-4D30BDFA4BB7}"/>
              </a:ext>
            </a:extLst>
          </p:cNvPr>
          <p:cNvSpPr txBox="1"/>
          <p:nvPr/>
        </p:nvSpPr>
        <p:spPr>
          <a:xfrm>
            <a:off x="5716736" y="34583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6709ED1-1C8E-9DBC-A164-0493B8573FA5}"/>
              </a:ext>
            </a:extLst>
          </p:cNvPr>
          <p:cNvCxnSpPr>
            <a:cxnSpLocks/>
            <a:stCxn id="32" idx="3"/>
            <a:endCxn id="34" idx="3"/>
          </p:cNvCxnSpPr>
          <p:nvPr/>
        </p:nvCxnSpPr>
        <p:spPr>
          <a:xfrm flipV="1">
            <a:off x="6294109" y="1478585"/>
            <a:ext cx="110610" cy="2241178"/>
          </a:xfrm>
          <a:prstGeom prst="bentConnector3">
            <a:avLst>
              <a:gd name="adj1" fmla="val 306672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F06ED2-9EFE-7CC9-945D-2D3971DE1A60}"/>
              </a:ext>
            </a:extLst>
          </p:cNvPr>
          <p:cNvSpPr txBox="1"/>
          <p:nvPr/>
        </p:nvSpPr>
        <p:spPr>
          <a:xfrm>
            <a:off x="5988627" y="34583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337AFCA-1001-EABF-845F-5AA6BD694F07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2043249" y="3182056"/>
            <a:ext cx="156812" cy="248480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601924C-56B7-FB4B-59EB-0AD80D7FD4C4}"/>
              </a:ext>
            </a:extLst>
          </p:cNvPr>
          <p:cNvSpPr txBox="1"/>
          <p:nvPr/>
        </p:nvSpPr>
        <p:spPr>
          <a:xfrm>
            <a:off x="1509830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AAE8A10-847E-D4CD-B87C-4F709D905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810267"/>
              </p:ext>
            </p:extLst>
          </p:nvPr>
        </p:nvGraphicFramePr>
        <p:xfrm>
          <a:off x="6724940" y="836712"/>
          <a:ext cx="3035919" cy="43150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부서에에게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회람된 문서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읽음유무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결재유형별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개인 폴더로 복사할 수 있도록 개인 폴더 선택 화면을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확인할 문서를 복수로 선택하여 일괄적으로 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읽음확인 처리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10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보기방식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문서번호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 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5F154B-DE71-71A6-61D6-DD72C524410E}"/>
              </a:ext>
            </a:extLst>
          </p:cNvPr>
          <p:cNvSpPr/>
          <p:nvPr/>
        </p:nvSpPr>
        <p:spPr bwMode="auto">
          <a:xfrm>
            <a:off x="307935" y="4126886"/>
            <a:ext cx="5957647" cy="258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476F7-E611-2850-D16B-1DC714EB4CD5}"/>
              </a:ext>
            </a:extLst>
          </p:cNvPr>
          <p:cNvSpPr txBox="1"/>
          <p:nvPr/>
        </p:nvSpPr>
        <p:spPr>
          <a:xfrm>
            <a:off x="691932" y="406236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C6831-5F2A-F29C-CEC5-5541D7D8E412}"/>
              </a:ext>
            </a:extLst>
          </p:cNvPr>
          <p:cNvSpPr txBox="1"/>
          <p:nvPr/>
        </p:nvSpPr>
        <p:spPr>
          <a:xfrm>
            <a:off x="1981697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CCE19CA-4A45-79D0-CB2D-75A4AE677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823" y="1047518"/>
            <a:ext cx="1047896" cy="8621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1AA737C-7BB6-C52E-E9F3-9733F26FB83B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92E05E-8810-0A08-C180-F945D54E42C8}"/>
              </a:ext>
            </a:extLst>
          </p:cNvPr>
          <p:cNvSpPr txBox="1"/>
          <p:nvPr/>
        </p:nvSpPr>
        <p:spPr>
          <a:xfrm>
            <a:off x="3947117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C36CB-3006-50B6-8824-1A9E765A7AE6}"/>
              </a:ext>
            </a:extLst>
          </p:cNvPr>
          <p:cNvSpPr txBox="1"/>
          <p:nvPr/>
        </p:nvSpPr>
        <p:spPr>
          <a:xfrm>
            <a:off x="2520547" y="344279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68A938E-404D-73EC-D6D2-F0242A91E9CF}"/>
              </a:ext>
            </a:extLst>
          </p:cNvPr>
          <p:cNvCxnSpPr>
            <a:cxnSpLocks/>
            <a:stCxn id="24" idx="0"/>
            <a:endCxn id="31" idx="2"/>
          </p:cNvCxnSpPr>
          <p:nvPr/>
        </p:nvCxnSpPr>
        <p:spPr>
          <a:xfrm rot="16200000" flipV="1">
            <a:off x="921891" y="2706972"/>
            <a:ext cx="1077819" cy="71969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3D1987-DCF0-98F5-86F1-F2D2FEDD210E}"/>
              </a:ext>
            </a:extLst>
          </p:cNvPr>
          <p:cNvSpPr/>
          <p:nvPr/>
        </p:nvSpPr>
        <p:spPr bwMode="auto">
          <a:xfrm>
            <a:off x="1640624" y="3605730"/>
            <a:ext cx="360048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9DBE5F-2832-0B43-2F4D-BA33D2D762D9}"/>
              </a:ext>
            </a:extLst>
          </p:cNvPr>
          <p:cNvSpPr txBox="1"/>
          <p:nvPr/>
        </p:nvSpPr>
        <p:spPr>
          <a:xfrm>
            <a:off x="168350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5589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D07C185-9189-6EA2-C9FE-F43B43EA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개인 폴더 및 환경설정</a:t>
            </a:r>
          </a:p>
        </p:txBody>
      </p:sp>
    </p:spTree>
    <p:extLst>
      <p:ext uri="{BB962C8B-B14F-4D97-AF65-F5344CB8AC3E}">
        <p14:creationId xmlns:p14="http://schemas.microsoft.com/office/powerpoint/2010/main" val="2548399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125C-2389-5DD4-3709-77B407D6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399470-82DB-8005-11C8-A18FBE1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841"/>
          <a:stretch/>
        </p:blipFill>
        <p:spPr>
          <a:xfrm>
            <a:off x="241091" y="2445017"/>
            <a:ext cx="6141624" cy="320878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98F02171-0D6C-C833-90D3-D8F6259E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 </a:t>
            </a:r>
            <a:r>
              <a:rPr lang="ko-KR" altLang="en-US" dirty="0"/>
              <a:t>개인 폴더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E9BD9-42B6-EB2E-5613-C94DB2192D5F}"/>
              </a:ext>
            </a:extLst>
          </p:cNvPr>
          <p:cNvSpPr txBox="1"/>
          <p:nvPr/>
        </p:nvSpPr>
        <p:spPr>
          <a:xfrm>
            <a:off x="4328425" y="228499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631741-E708-F7F5-E6C2-4B1FA4DDDF0A}"/>
              </a:ext>
            </a:extLst>
          </p:cNvPr>
          <p:cNvSpPr/>
          <p:nvPr/>
        </p:nvSpPr>
        <p:spPr bwMode="auto">
          <a:xfrm>
            <a:off x="5834230" y="2467414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91660B-E86B-C478-2EFD-3D09FEBFF584}"/>
              </a:ext>
            </a:extLst>
          </p:cNvPr>
          <p:cNvSpPr/>
          <p:nvPr/>
        </p:nvSpPr>
        <p:spPr bwMode="auto">
          <a:xfrm>
            <a:off x="2459399" y="3444692"/>
            <a:ext cx="3717737" cy="26388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BD6CF-45B3-481C-C72E-B717A904F7AC}"/>
              </a:ext>
            </a:extLst>
          </p:cNvPr>
          <p:cNvSpPr txBox="1"/>
          <p:nvPr/>
        </p:nvSpPr>
        <p:spPr>
          <a:xfrm>
            <a:off x="5796130" y="229134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D4FBB-3650-5436-BD0D-7F7AF0783792}"/>
              </a:ext>
            </a:extLst>
          </p:cNvPr>
          <p:cNvSpPr txBox="1"/>
          <p:nvPr/>
        </p:nvSpPr>
        <p:spPr>
          <a:xfrm>
            <a:off x="255227" y="276771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CB4CE5-64A5-E8CC-00F6-B21DC5D0F3FF}"/>
              </a:ext>
            </a:extLst>
          </p:cNvPr>
          <p:cNvSpPr txBox="1"/>
          <p:nvPr/>
        </p:nvSpPr>
        <p:spPr>
          <a:xfrm>
            <a:off x="1897467" y="276771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3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70362-4D96-58A4-223D-251D906E68FF}"/>
              </a:ext>
            </a:extLst>
          </p:cNvPr>
          <p:cNvSpPr txBox="1"/>
          <p:nvPr/>
        </p:nvSpPr>
        <p:spPr>
          <a:xfrm>
            <a:off x="280664" y="312144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E9014-74A8-D3ED-4BBD-905FDE733814}"/>
              </a:ext>
            </a:extLst>
          </p:cNvPr>
          <p:cNvSpPr txBox="1"/>
          <p:nvPr/>
        </p:nvSpPr>
        <p:spPr>
          <a:xfrm>
            <a:off x="2283671" y="312144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B0A6532-ED51-7866-958C-7FBAF15ADAC5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rot="16200000" flipV="1">
            <a:off x="5091208" y="1494452"/>
            <a:ext cx="1049798" cy="896126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AA38667-234E-F922-8FB3-1E2F2C629442}"/>
              </a:ext>
            </a:extLst>
          </p:cNvPr>
          <p:cNvSpPr/>
          <p:nvPr/>
        </p:nvSpPr>
        <p:spPr bwMode="auto">
          <a:xfrm>
            <a:off x="6051222" y="2910712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7DC09-71C6-B1AC-E58C-2865F7F49F0A}"/>
              </a:ext>
            </a:extLst>
          </p:cNvPr>
          <p:cNvSpPr txBox="1"/>
          <p:nvPr/>
        </p:nvSpPr>
        <p:spPr>
          <a:xfrm>
            <a:off x="5576014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3E0AC8-5EF4-6D49-E657-89911810FDD9}"/>
              </a:ext>
            </a:extLst>
          </p:cNvPr>
          <p:cNvSpPr txBox="1"/>
          <p:nvPr/>
        </p:nvSpPr>
        <p:spPr>
          <a:xfrm>
            <a:off x="5716736" y="277099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50252F-E886-4404-290E-264D2C393CD3}"/>
              </a:ext>
            </a:extLst>
          </p:cNvPr>
          <p:cNvSpPr txBox="1"/>
          <p:nvPr/>
        </p:nvSpPr>
        <p:spPr>
          <a:xfrm>
            <a:off x="466613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0F38E80-AB4D-17B9-2E4A-9377ED1F088F}"/>
              </a:ext>
            </a:extLst>
          </p:cNvPr>
          <p:cNvCxnSpPr>
            <a:cxnSpLocks/>
            <a:stCxn id="32" idx="3"/>
            <a:endCxn id="27" idx="3"/>
          </p:cNvCxnSpPr>
          <p:nvPr/>
        </p:nvCxnSpPr>
        <p:spPr>
          <a:xfrm flipV="1">
            <a:off x="6294109" y="1265909"/>
            <a:ext cx="64957" cy="1766456"/>
          </a:xfrm>
          <a:prstGeom prst="bentConnector3">
            <a:avLst>
              <a:gd name="adj1" fmla="val 45192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AF70996-2987-3653-7435-DBC672AEC312}"/>
              </a:ext>
            </a:extLst>
          </p:cNvPr>
          <p:cNvSpPr txBox="1"/>
          <p:nvPr/>
        </p:nvSpPr>
        <p:spPr>
          <a:xfrm>
            <a:off x="5988627" y="277099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55E4CB-361D-277B-18F8-66F209CF6F0F}"/>
              </a:ext>
            </a:extLst>
          </p:cNvPr>
          <p:cNvSpPr txBox="1"/>
          <p:nvPr/>
        </p:nvSpPr>
        <p:spPr>
          <a:xfrm>
            <a:off x="2384746" y="276771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FCE47B8-A5F2-8F30-682C-05C2AC09E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893761"/>
              </p:ext>
            </p:extLst>
          </p:nvPr>
        </p:nvGraphicFramePr>
        <p:xfrm>
          <a:off x="6724940" y="836712"/>
          <a:ext cx="3035919" cy="414324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개인 폴더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사용자가 폴더를 추가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수정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삭제하여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결재함과 별개로 폴더 내 결재문서를 보관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관리 할 수 있도록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지원하는 화면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폴더 생성을 위한 폴더 생성 팝업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폴더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Tree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를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버튼 클릭 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폴더 삭제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폴더내에 문서가 있거나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하위 폴더가 있어도 삭제 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706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버튼 클릭 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폴더명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수정을 위한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폴더명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수정 팝업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13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선택한 문서를 폴더에서 삭제 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선택한 문서를 다른 폴더로 이동할 수 있도록 폴더선택 팝업을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Tree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폴더 내 결재문서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#8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541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폴더내 문서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보관일시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문서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보관일시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양식명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D9DF6CE-8ECF-2831-8A7E-82499FB40B92}"/>
              </a:ext>
            </a:extLst>
          </p:cNvPr>
          <p:cNvSpPr txBox="1"/>
          <p:nvPr/>
        </p:nvSpPr>
        <p:spPr>
          <a:xfrm>
            <a:off x="2809023" y="276771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E9B83D-C86E-7D7B-9AD3-3089E4CBA049}"/>
              </a:ext>
            </a:extLst>
          </p:cNvPr>
          <p:cNvSpPr txBox="1"/>
          <p:nvPr/>
        </p:nvSpPr>
        <p:spPr>
          <a:xfrm>
            <a:off x="149766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74CAB7B-A540-9D68-08D2-97ED343E5A6B}"/>
              </a:ext>
            </a:extLst>
          </p:cNvPr>
          <p:cNvSpPr/>
          <p:nvPr/>
        </p:nvSpPr>
        <p:spPr bwMode="auto">
          <a:xfrm>
            <a:off x="337478" y="2903532"/>
            <a:ext cx="468435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797C30-5B57-C0F5-4ACC-8B03F92BB0A9}"/>
              </a:ext>
            </a:extLst>
          </p:cNvPr>
          <p:cNvSpPr/>
          <p:nvPr/>
        </p:nvSpPr>
        <p:spPr bwMode="auto">
          <a:xfrm>
            <a:off x="2848776" y="2903532"/>
            <a:ext cx="537130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E550A2A7-66E6-9C20-AFEC-EE5B3AAB5C88}"/>
              </a:ext>
            </a:extLst>
          </p:cNvPr>
          <p:cNvCxnSpPr>
            <a:cxnSpLocks/>
            <a:stCxn id="39" idx="0"/>
            <a:endCxn id="31" idx="2"/>
          </p:cNvCxnSpPr>
          <p:nvPr/>
        </p:nvCxnSpPr>
        <p:spPr>
          <a:xfrm rot="16200000" flipV="1">
            <a:off x="2792999" y="2579189"/>
            <a:ext cx="348949" cy="299737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08C39B6-B2D0-12BC-ECAF-D95DCC5A6787}"/>
              </a:ext>
            </a:extLst>
          </p:cNvPr>
          <p:cNvSpPr txBox="1"/>
          <p:nvPr/>
        </p:nvSpPr>
        <p:spPr>
          <a:xfrm>
            <a:off x="1892722" y="8474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534BE8A-A5E7-E43F-01D5-D872FA347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929" y="1047518"/>
            <a:ext cx="870230" cy="370098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654583E-779C-B477-2590-29828ADED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210" y="1047518"/>
            <a:ext cx="716856" cy="43678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C6A5206-5991-7682-F2FC-E477EE409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27" y="1047518"/>
            <a:ext cx="1673776" cy="536809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4441F84-88E1-C8BC-5E0E-04E4643BF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34" y="5935670"/>
            <a:ext cx="1657105" cy="560148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C2B7988-D425-E5F0-D078-6DEDF9B3EB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4053" y="1047518"/>
            <a:ext cx="1647102" cy="150706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859F4DA8-39BC-D178-6955-ED8915031BC7}"/>
              </a:ext>
            </a:extLst>
          </p:cNvPr>
          <p:cNvCxnSpPr>
            <a:cxnSpLocks/>
            <a:stCxn id="68" idx="3"/>
            <a:endCxn id="28" idx="2"/>
          </p:cNvCxnSpPr>
          <p:nvPr/>
        </p:nvCxnSpPr>
        <p:spPr>
          <a:xfrm flipV="1">
            <a:off x="805913" y="1584327"/>
            <a:ext cx="286202" cy="1440858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581272B-6F61-F8D4-F20D-BDB1B6A29017}"/>
              </a:ext>
            </a:extLst>
          </p:cNvPr>
          <p:cNvSpPr/>
          <p:nvPr/>
        </p:nvSpPr>
        <p:spPr bwMode="auto">
          <a:xfrm>
            <a:off x="1855084" y="3912069"/>
            <a:ext cx="147837" cy="14608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E802948E-0831-C8A4-5EA5-D09DFA8A2FB5}"/>
              </a:ext>
            </a:extLst>
          </p:cNvPr>
          <p:cNvCxnSpPr>
            <a:cxnSpLocks/>
            <a:stCxn id="64" idx="2"/>
            <a:endCxn id="29" idx="0"/>
          </p:cNvCxnSpPr>
          <p:nvPr/>
        </p:nvCxnSpPr>
        <p:spPr>
          <a:xfrm rot="5400000">
            <a:off x="500435" y="4507101"/>
            <a:ext cx="1877521" cy="979616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B001696-FB4D-3328-0911-D7C9D7969CAF}"/>
              </a:ext>
            </a:extLst>
          </p:cNvPr>
          <p:cNvSpPr/>
          <p:nvPr/>
        </p:nvSpPr>
        <p:spPr bwMode="auto">
          <a:xfrm>
            <a:off x="2020669" y="3912069"/>
            <a:ext cx="147837" cy="14608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12230249-C64D-BB37-72DD-0F3F14F7D321}"/>
              </a:ext>
            </a:extLst>
          </p:cNvPr>
          <p:cNvCxnSpPr>
            <a:cxnSpLocks/>
            <a:stCxn id="76" idx="0"/>
            <a:endCxn id="28" idx="2"/>
          </p:cNvCxnSpPr>
          <p:nvPr/>
        </p:nvCxnSpPr>
        <p:spPr>
          <a:xfrm rot="16200000" flipV="1">
            <a:off x="429481" y="2246961"/>
            <a:ext cx="2327742" cy="1002473"/>
          </a:xfrm>
          <a:prstGeom prst="bentConnector3">
            <a:avLst>
              <a:gd name="adj1" fmla="val 10717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974D5BB-2BE6-D9F0-2272-7ED7E2FD2993}"/>
              </a:ext>
            </a:extLst>
          </p:cNvPr>
          <p:cNvSpPr txBox="1"/>
          <p:nvPr/>
        </p:nvSpPr>
        <p:spPr>
          <a:xfrm>
            <a:off x="1919454" y="4006840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7015C10-D8BF-8BCD-6D8F-4AD41318DD7C}"/>
              </a:ext>
            </a:extLst>
          </p:cNvPr>
          <p:cNvSpPr txBox="1"/>
          <p:nvPr/>
        </p:nvSpPr>
        <p:spPr>
          <a:xfrm>
            <a:off x="1550589" y="3758066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50459E6-C86C-78EC-6829-DD0798826C0A}"/>
              </a:ext>
            </a:extLst>
          </p:cNvPr>
          <p:cNvSpPr txBox="1"/>
          <p:nvPr/>
        </p:nvSpPr>
        <p:spPr>
          <a:xfrm>
            <a:off x="1747917" y="3758066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59E4C6C-3445-9846-C0C7-EE467D97756C}"/>
              </a:ext>
            </a:extLst>
          </p:cNvPr>
          <p:cNvSpPr txBox="1"/>
          <p:nvPr/>
        </p:nvSpPr>
        <p:spPr>
          <a:xfrm>
            <a:off x="32103" y="573614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111C26-9B0D-5326-5D9C-54FC68E69278}"/>
              </a:ext>
            </a:extLst>
          </p:cNvPr>
          <p:cNvSpPr txBox="1"/>
          <p:nvPr/>
        </p:nvSpPr>
        <p:spPr>
          <a:xfrm>
            <a:off x="2283671" y="329727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9733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1C4D-AE04-F0C8-93DE-DD3100DC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C5667B0-46DD-6128-22EB-B1B162991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3" y="900817"/>
            <a:ext cx="6088277" cy="34409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7C420D54-8F9D-A59B-B14D-8DA7B7DA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 </a:t>
            </a:r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/>
              <a:t>대결설정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B44BE-2D65-F6CC-FF71-8140660346BB}"/>
              </a:ext>
            </a:extLst>
          </p:cNvPr>
          <p:cNvSpPr txBox="1"/>
          <p:nvPr/>
        </p:nvSpPr>
        <p:spPr>
          <a:xfrm>
            <a:off x="3241511" y="247715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862AE-0FB9-A4FB-A6C5-EAAE4A72ED25}"/>
              </a:ext>
            </a:extLst>
          </p:cNvPr>
          <p:cNvSpPr txBox="1"/>
          <p:nvPr/>
        </p:nvSpPr>
        <p:spPr>
          <a:xfrm>
            <a:off x="255227" y="300309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D313EA-4A9D-A2CA-E0E7-AB5C162B86B9}"/>
              </a:ext>
            </a:extLst>
          </p:cNvPr>
          <p:cNvSpPr txBox="1"/>
          <p:nvPr/>
        </p:nvSpPr>
        <p:spPr>
          <a:xfrm>
            <a:off x="280664" y="3429000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1-5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31DF2AD-ECB8-C6DD-FCDB-65CDE060B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943234"/>
              </p:ext>
            </p:extLst>
          </p:nvPr>
        </p:nvGraphicFramePr>
        <p:xfrm>
          <a:off x="6724940" y="836712"/>
          <a:ext cx="3035919" cy="290196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환경설정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대결설정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부재 기간에 대리 결재자를 지정하거나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자동 승인 처리 되도록 설정하는 화면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설정 화면 표시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대결 설정 사용여부 지정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706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대리결재자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사용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or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부재중 자동 승인 옵션 선택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13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옵션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(#1-2)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대리결재자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사용시 활성화 되며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조직도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(#1-6)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를 통하여 사용자 지정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기간 설정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225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사유 입력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대리결재자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선택을 위해 조직도를 화면에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설정한 내용을 저장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541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0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710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98164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40B642B6-8F61-0559-FD90-4EAA8AD1AB2C}"/>
              </a:ext>
            </a:extLst>
          </p:cNvPr>
          <p:cNvSpPr txBox="1"/>
          <p:nvPr/>
        </p:nvSpPr>
        <p:spPr>
          <a:xfrm>
            <a:off x="149766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91B258-99FA-D241-1D43-25EFAD598FA9}"/>
              </a:ext>
            </a:extLst>
          </p:cNvPr>
          <p:cNvSpPr/>
          <p:nvPr/>
        </p:nvSpPr>
        <p:spPr bwMode="auto">
          <a:xfrm>
            <a:off x="3344089" y="2655585"/>
            <a:ext cx="244834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0914CE4-0FB8-468D-BC4A-A659C2C68358}"/>
              </a:ext>
            </a:extLst>
          </p:cNvPr>
          <p:cNvCxnSpPr>
            <a:cxnSpLocks/>
            <a:stCxn id="39" idx="3"/>
            <a:endCxn id="9" idx="0"/>
          </p:cNvCxnSpPr>
          <p:nvPr/>
        </p:nvCxnSpPr>
        <p:spPr>
          <a:xfrm>
            <a:off x="3588923" y="2777238"/>
            <a:ext cx="1371369" cy="1606592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3D4ECF49-9077-13C3-C4D3-BFE12FE61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51" y="4383830"/>
            <a:ext cx="3330881" cy="2120561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CC36F6-BD90-22C7-0C48-4E21AF0AD54F}"/>
              </a:ext>
            </a:extLst>
          </p:cNvPr>
          <p:cNvSpPr txBox="1"/>
          <p:nvPr/>
        </p:nvSpPr>
        <p:spPr>
          <a:xfrm>
            <a:off x="703352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79582-B08B-762A-1215-8504F2405236}"/>
              </a:ext>
            </a:extLst>
          </p:cNvPr>
          <p:cNvSpPr txBox="1"/>
          <p:nvPr/>
        </p:nvSpPr>
        <p:spPr>
          <a:xfrm>
            <a:off x="1453181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BD390C-0979-9739-8F02-853E2C527C3D}"/>
              </a:ext>
            </a:extLst>
          </p:cNvPr>
          <p:cNvSpPr txBox="1"/>
          <p:nvPr/>
        </p:nvSpPr>
        <p:spPr>
          <a:xfrm>
            <a:off x="1981153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B350-8F6E-63E7-6347-BB411CA904B1}"/>
              </a:ext>
            </a:extLst>
          </p:cNvPr>
          <p:cNvSpPr txBox="1"/>
          <p:nvPr/>
        </p:nvSpPr>
        <p:spPr>
          <a:xfrm>
            <a:off x="256933" y="1670658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BB3C72-0F50-08AA-84FA-BFAFC91A102B}"/>
              </a:ext>
            </a:extLst>
          </p:cNvPr>
          <p:cNvSpPr txBox="1"/>
          <p:nvPr/>
        </p:nvSpPr>
        <p:spPr>
          <a:xfrm>
            <a:off x="256933" y="215127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38B523-FEA7-9A42-518B-88958E9ADC24}"/>
              </a:ext>
            </a:extLst>
          </p:cNvPr>
          <p:cNvSpPr txBox="1"/>
          <p:nvPr/>
        </p:nvSpPr>
        <p:spPr>
          <a:xfrm>
            <a:off x="256933" y="257718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2F6A24-D7BA-A10C-0628-44BE88660B99}"/>
              </a:ext>
            </a:extLst>
          </p:cNvPr>
          <p:cNvSpPr txBox="1"/>
          <p:nvPr/>
        </p:nvSpPr>
        <p:spPr>
          <a:xfrm>
            <a:off x="2889896" y="387214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18F54A-F56D-3DC5-E854-F19995EBDC07}"/>
              </a:ext>
            </a:extLst>
          </p:cNvPr>
          <p:cNvSpPr txBox="1"/>
          <p:nvPr/>
        </p:nvSpPr>
        <p:spPr>
          <a:xfrm>
            <a:off x="3212101" y="422622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7159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B57D-07A7-95F2-F107-948E01A1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04E42A9-17CD-CB04-619B-3AB05AB2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 </a:t>
            </a:r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/>
              <a:t>비밀번호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9025A3A-11C8-5F2D-BF6D-1B3011FB1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499704"/>
              </p:ext>
            </p:extLst>
          </p:nvPr>
        </p:nvGraphicFramePr>
        <p:xfrm>
          <a:off x="6724940" y="836712"/>
          <a:ext cx="3035919" cy="22702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환경설정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비밀번호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기안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시 암호 사용에 대해 설정하는 화면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설정 화면 표시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비밀번호 설정 사용여부 지정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34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 강제 변경 여부 설정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515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 입력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287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암호 확인을 위한 입력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092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설정한 내용을 저장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215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pic>
        <p:nvPicPr>
          <p:cNvPr id="48" name="그림 47">
            <a:extLst>
              <a:ext uri="{FF2B5EF4-FFF2-40B4-BE49-F238E27FC236}">
                <a16:creationId xmlns:a16="http://schemas.microsoft.com/office/drawing/2014/main" id="{8C8822E2-024E-889E-DF66-1C58549F7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3" y="900817"/>
            <a:ext cx="6061603" cy="296745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41D21CE-C98F-A6FF-BFBF-FAF75EC57FAF}"/>
              </a:ext>
            </a:extLst>
          </p:cNvPr>
          <p:cNvSpPr txBox="1"/>
          <p:nvPr/>
        </p:nvSpPr>
        <p:spPr>
          <a:xfrm>
            <a:off x="149766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1100EF-2590-4F11-DBBC-1DD9FB84ACB3}"/>
              </a:ext>
            </a:extLst>
          </p:cNvPr>
          <p:cNvSpPr txBox="1"/>
          <p:nvPr/>
        </p:nvSpPr>
        <p:spPr>
          <a:xfrm>
            <a:off x="703352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0C939B-B3E6-E4D5-EEFD-3280B47498B3}"/>
              </a:ext>
            </a:extLst>
          </p:cNvPr>
          <p:cNvSpPr txBox="1"/>
          <p:nvPr/>
        </p:nvSpPr>
        <p:spPr>
          <a:xfrm>
            <a:off x="1453181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CBD5E3-3088-C70C-23CC-603C34A225AD}"/>
              </a:ext>
            </a:extLst>
          </p:cNvPr>
          <p:cNvSpPr txBox="1"/>
          <p:nvPr/>
        </p:nvSpPr>
        <p:spPr>
          <a:xfrm>
            <a:off x="1981153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882ABE-F5B0-6E2D-EDAE-FAE790197B3C}"/>
              </a:ext>
            </a:extLst>
          </p:cNvPr>
          <p:cNvSpPr txBox="1"/>
          <p:nvPr/>
        </p:nvSpPr>
        <p:spPr>
          <a:xfrm>
            <a:off x="256933" y="1670658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B9349E-EECD-4CA8-3D36-CB07ACABF55E}"/>
              </a:ext>
            </a:extLst>
          </p:cNvPr>
          <p:cNvSpPr txBox="1"/>
          <p:nvPr/>
        </p:nvSpPr>
        <p:spPr>
          <a:xfrm>
            <a:off x="256933" y="215127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82D0AC-5A46-619C-4FAA-67EAF80E784E}"/>
              </a:ext>
            </a:extLst>
          </p:cNvPr>
          <p:cNvSpPr txBox="1"/>
          <p:nvPr/>
        </p:nvSpPr>
        <p:spPr>
          <a:xfrm>
            <a:off x="256933" y="2567658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07709C-D205-E78E-4F21-AF63FCD82774}"/>
              </a:ext>
            </a:extLst>
          </p:cNvPr>
          <p:cNvSpPr txBox="1"/>
          <p:nvPr/>
        </p:nvSpPr>
        <p:spPr>
          <a:xfrm>
            <a:off x="256933" y="299331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2D78AE-C965-547D-2206-CA582C3BAFB3}"/>
              </a:ext>
            </a:extLst>
          </p:cNvPr>
          <p:cNvSpPr txBox="1"/>
          <p:nvPr/>
        </p:nvSpPr>
        <p:spPr>
          <a:xfrm>
            <a:off x="2864768" y="3429000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3794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FB2C-872F-90C4-20CA-85EAED8C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175500C-FDE0-88BE-E4F4-D24311FD2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1763" y="900817"/>
            <a:ext cx="6101614" cy="43744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02B0698-2CB1-7286-553A-19DE7F4F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 </a:t>
            </a:r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/>
              <a:t>알림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C96F6AC-F0EF-AC09-2898-60C3C4F14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590590"/>
              </p:ext>
            </p:extLst>
          </p:nvPr>
        </p:nvGraphicFramePr>
        <p:xfrm>
          <a:off x="6724940" y="836712"/>
          <a:ext cx="3035919" cy="200436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환경설정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알림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전자결재의 다양한 이벤트에 대한 알림을 설정하는 화면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설정 화면 표시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알림 전체 수신에 대한 사용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해제 처리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15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알림 유형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종류에 따른 수신에 대한 사용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해제 설정을 위한 목록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580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설정한 내용을 저장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515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2B6EE9A6-ADB4-F343-CC02-24FDA56AB1A3}"/>
              </a:ext>
            </a:extLst>
          </p:cNvPr>
          <p:cNvSpPr txBox="1"/>
          <p:nvPr/>
        </p:nvSpPr>
        <p:spPr>
          <a:xfrm>
            <a:off x="164633" y="1539398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4DF328-F2F2-9346-D429-DBCE32133A95}"/>
              </a:ext>
            </a:extLst>
          </p:cNvPr>
          <p:cNvSpPr txBox="1"/>
          <p:nvPr/>
        </p:nvSpPr>
        <p:spPr>
          <a:xfrm>
            <a:off x="164633" y="1814563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3-2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8C87A5-BB49-2263-7C34-E158934AE6B3}"/>
              </a:ext>
            </a:extLst>
          </p:cNvPr>
          <p:cNvSpPr txBox="1"/>
          <p:nvPr/>
        </p:nvSpPr>
        <p:spPr>
          <a:xfrm>
            <a:off x="149766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829BD1-D2E6-2211-A0B6-6800E82DC46E}"/>
              </a:ext>
            </a:extLst>
          </p:cNvPr>
          <p:cNvSpPr txBox="1"/>
          <p:nvPr/>
        </p:nvSpPr>
        <p:spPr>
          <a:xfrm>
            <a:off x="703352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340834-CCD9-496A-9559-E08B0B0BE9E1}"/>
              </a:ext>
            </a:extLst>
          </p:cNvPr>
          <p:cNvSpPr txBox="1"/>
          <p:nvPr/>
        </p:nvSpPr>
        <p:spPr>
          <a:xfrm>
            <a:off x="1453181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285B95-113A-7B6F-A897-1E3301DFB802}"/>
              </a:ext>
            </a:extLst>
          </p:cNvPr>
          <p:cNvSpPr txBox="1"/>
          <p:nvPr/>
        </p:nvSpPr>
        <p:spPr>
          <a:xfrm>
            <a:off x="1981153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93991A-FC3B-AF13-B4E6-5D27298810CE}"/>
              </a:ext>
            </a:extLst>
          </p:cNvPr>
          <p:cNvSpPr txBox="1"/>
          <p:nvPr/>
        </p:nvSpPr>
        <p:spPr>
          <a:xfrm>
            <a:off x="2864768" y="4808220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3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6969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4941-437A-AE86-4B61-78716E35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153AA4A-9C86-B601-379A-87CB7F5D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3" y="900817"/>
            <a:ext cx="4567875" cy="28407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AA9060-66F9-8943-11A4-9BD413D6B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448" y="3494832"/>
            <a:ext cx="2800741" cy="296745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13C3988-EF97-3741-6D9E-581DE242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 </a:t>
            </a:r>
            <a:r>
              <a:rPr lang="ko-KR" altLang="en-US" dirty="0"/>
              <a:t>환경설정 </a:t>
            </a:r>
            <a:r>
              <a:rPr lang="en-US" altLang="ko-KR" dirty="0"/>
              <a:t>– </a:t>
            </a:r>
            <a:r>
              <a:rPr lang="ko-KR" altLang="en-US" dirty="0"/>
              <a:t>서명 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70BEE-E597-52C7-1AC9-F1C6E90F6E9D}"/>
              </a:ext>
            </a:extLst>
          </p:cNvPr>
          <p:cNvSpPr txBox="1"/>
          <p:nvPr/>
        </p:nvSpPr>
        <p:spPr>
          <a:xfrm>
            <a:off x="164633" y="207472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358FC2E-16FB-BB26-50FF-3F6FE4B3B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927459"/>
              </p:ext>
            </p:extLst>
          </p:nvPr>
        </p:nvGraphicFramePr>
        <p:xfrm>
          <a:off x="6724940" y="836712"/>
          <a:ext cx="3035919" cy="188244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환경설정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전자결재에서 사용할 서명 이미지를 설정하는 화면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대결 설정 화면 표시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설정 화면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이미지 추가를 위해 서명등록 팝업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706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대표 서명 이미지를 변경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13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서명 이미지를 삭제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545FBFE0-1CB1-4902-1DA9-0045466803FF}"/>
              </a:ext>
            </a:extLst>
          </p:cNvPr>
          <p:cNvSpPr txBox="1"/>
          <p:nvPr/>
        </p:nvSpPr>
        <p:spPr>
          <a:xfrm>
            <a:off x="149766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53AC65-7EC3-2443-D10F-3E570C02DD6C}"/>
              </a:ext>
            </a:extLst>
          </p:cNvPr>
          <p:cNvSpPr/>
          <p:nvPr/>
        </p:nvSpPr>
        <p:spPr bwMode="auto">
          <a:xfrm>
            <a:off x="1640633" y="2346960"/>
            <a:ext cx="744428" cy="7219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1584624D-EF93-BE1E-74C1-565C7D6250CA}"/>
              </a:ext>
            </a:extLst>
          </p:cNvPr>
          <p:cNvCxnSpPr>
            <a:cxnSpLocks/>
            <a:stCxn id="39" idx="3"/>
            <a:endCxn id="3" idx="0"/>
          </p:cNvCxnSpPr>
          <p:nvPr/>
        </p:nvCxnSpPr>
        <p:spPr>
          <a:xfrm>
            <a:off x="2385061" y="2707960"/>
            <a:ext cx="2659758" cy="786872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8185BC-0A3B-BE97-0EE3-3B38998D2BC4}"/>
              </a:ext>
            </a:extLst>
          </p:cNvPr>
          <p:cNvSpPr txBox="1"/>
          <p:nvPr/>
        </p:nvSpPr>
        <p:spPr>
          <a:xfrm>
            <a:off x="703352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0E31DA-7DD1-3C84-20F9-870E2A8B49D1}"/>
              </a:ext>
            </a:extLst>
          </p:cNvPr>
          <p:cNvSpPr txBox="1"/>
          <p:nvPr/>
        </p:nvSpPr>
        <p:spPr>
          <a:xfrm>
            <a:off x="1453181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5E244F-C1DC-B4F7-623D-9638768F7ED8}"/>
              </a:ext>
            </a:extLst>
          </p:cNvPr>
          <p:cNvSpPr txBox="1"/>
          <p:nvPr/>
        </p:nvSpPr>
        <p:spPr>
          <a:xfrm>
            <a:off x="1981153" y="1193697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7BDD38-B1C8-36DA-76A1-410FF75F7110}"/>
              </a:ext>
            </a:extLst>
          </p:cNvPr>
          <p:cNvSpPr txBox="1"/>
          <p:nvPr/>
        </p:nvSpPr>
        <p:spPr>
          <a:xfrm>
            <a:off x="164633" y="1502505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171888-CC0B-DE8B-36CC-9B59F0654FD1}"/>
              </a:ext>
            </a:extLst>
          </p:cNvPr>
          <p:cNvSpPr txBox="1"/>
          <p:nvPr/>
        </p:nvSpPr>
        <p:spPr>
          <a:xfrm>
            <a:off x="3527228" y="329477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E6076-285D-D419-BA66-6E734E17EEE2}"/>
              </a:ext>
            </a:extLst>
          </p:cNvPr>
          <p:cNvSpPr txBox="1"/>
          <p:nvPr/>
        </p:nvSpPr>
        <p:spPr>
          <a:xfrm>
            <a:off x="1074425" y="207472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8DCA8-C704-0E29-E6D9-332861B5A68E}"/>
              </a:ext>
            </a:extLst>
          </p:cNvPr>
          <p:cNvSpPr txBox="1"/>
          <p:nvPr/>
        </p:nvSpPr>
        <p:spPr>
          <a:xfrm>
            <a:off x="1729600" y="217475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F92CB0-267C-F16B-7683-9717DEF74900}"/>
              </a:ext>
            </a:extLst>
          </p:cNvPr>
          <p:cNvSpPr/>
          <p:nvPr/>
        </p:nvSpPr>
        <p:spPr bwMode="auto">
          <a:xfrm>
            <a:off x="238678" y="1652807"/>
            <a:ext cx="363302" cy="24457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A184CA8-06CC-E2CD-3220-C6D8EA49596D}"/>
              </a:ext>
            </a:extLst>
          </p:cNvPr>
          <p:cNvCxnSpPr>
            <a:cxnSpLocks/>
            <a:stCxn id="17" idx="3"/>
            <a:endCxn id="3" idx="0"/>
          </p:cNvCxnSpPr>
          <p:nvPr/>
        </p:nvCxnSpPr>
        <p:spPr>
          <a:xfrm>
            <a:off x="601980" y="1775094"/>
            <a:ext cx="4442839" cy="1719738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248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E6C236D-022C-7937-62C2-99E0DD35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결재문서 작성</a:t>
            </a:r>
          </a:p>
        </p:txBody>
      </p:sp>
    </p:spTree>
    <p:extLst>
      <p:ext uri="{BB962C8B-B14F-4D97-AF65-F5344CB8AC3E}">
        <p14:creationId xmlns:p14="http://schemas.microsoft.com/office/powerpoint/2010/main" val="1434765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8EB5-4319-E2E6-CE43-D9250F95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1F611DE4-7CE8-30DC-AC81-869CE16EB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46" y="877429"/>
            <a:ext cx="2991673" cy="5616625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AD8FC5C5-77F4-D1C9-48EE-16953B61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 </a:t>
            </a:r>
            <a:r>
              <a:rPr lang="ko-KR" altLang="en-US" dirty="0"/>
              <a:t>결재문서 기본 서식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B298131-073E-625C-94E7-AD8341A7A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21300"/>
              </p:ext>
            </p:extLst>
          </p:nvPr>
        </p:nvGraphicFramePr>
        <p:xfrm>
          <a:off x="6724940" y="836712"/>
          <a:ext cx="3035919" cy="386100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 기본서식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모든 전자결재 문서는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   1.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기능 버튼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   2.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상단 공통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   3.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본문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   4.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하단 공통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으로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구성 됨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버튼 영역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임시저장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문서연결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기록물철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불러오기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미리보기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같은 결재자의 행위를 위한 버튼과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긴급결재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기밀문서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예약기안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예약배포 와 같은 설정 버튼들로 구성 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상단 공통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양식 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작성부서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문서분류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보안등급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보존년한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참조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같이 모든 문서의 공통적으로 사용되는 표준 서식으로 구성 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본문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기안문과 같은 비 정형양식의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에디터가 삽입되어 있고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휴가신청서와 같은 정형 양식의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HTML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양식이 삽입되어 표시 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시스템 연동을 위한 결재문서는 정형 양식을 사용하여야 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하단 공통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연관문서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EDMS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첨부목록 으로 구성 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0AE8CDE-CA45-6783-1B34-B5151ED80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4" y="880145"/>
            <a:ext cx="2975314" cy="5616624"/>
          </a:xfrm>
          <a:prstGeom prst="rect">
            <a:avLst/>
          </a:prstGeom>
        </p:spPr>
      </p:pic>
      <p:sp>
        <p:nvSpPr>
          <p:cNvPr id="11" name="직사각형 12">
            <a:extLst>
              <a:ext uri="{FF2B5EF4-FFF2-40B4-BE49-F238E27FC236}">
                <a16:creationId xmlns:a16="http://schemas.microsoft.com/office/drawing/2014/main" id="{C357B517-346F-C91C-A9B9-4E48D9A34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3" y="1124744"/>
            <a:ext cx="6448057" cy="288032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2" name="직사각형 12">
            <a:extLst>
              <a:ext uri="{FF2B5EF4-FFF2-40B4-BE49-F238E27FC236}">
                <a16:creationId xmlns:a16="http://schemas.microsoft.com/office/drawing/2014/main" id="{DA700DEB-4704-5054-4A31-CA42910FE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3" y="4931242"/>
            <a:ext cx="6448057" cy="1522095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86AC18-35FA-024D-7421-9EBA93A29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4" y="1484784"/>
            <a:ext cx="2975314" cy="168386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9DAE82-2567-288E-42AC-5EDD506FF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3020914"/>
            <a:ext cx="2982420" cy="188636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61165-4D71-05E3-D1A1-FA4EFADD9C92}"/>
              </a:ext>
            </a:extLst>
          </p:cNvPr>
          <p:cNvSpPr txBox="1"/>
          <p:nvPr/>
        </p:nvSpPr>
        <p:spPr>
          <a:xfrm>
            <a:off x="3208060" y="116873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52454-9695-C63F-299A-FD0BBCDD0580}"/>
              </a:ext>
            </a:extLst>
          </p:cNvPr>
          <p:cNvSpPr txBox="1"/>
          <p:nvPr/>
        </p:nvSpPr>
        <p:spPr>
          <a:xfrm>
            <a:off x="3208060" y="21408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33F56E-5306-8AD1-6392-1B4FBF7C0DA0}"/>
              </a:ext>
            </a:extLst>
          </p:cNvPr>
          <p:cNvSpPr txBox="1"/>
          <p:nvPr/>
        </p:nvSpPr>
        <p:spPr>
          <a:xfrm>
            <a:off x="3208060" y="384178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4F27F6-3763-4D48-E009-140A5372A972}"/>
              </a:ext>
            </a:extLst>
          </p:cNvPr>
          <p:cNvSpPr txBox="1"/>
          <p:nvPr/>
        </p:nvSpPr>
        <p:spPr>
          <a:xfrm>
            <a:off x="3208060" y="558924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6EA9C0-9777-F1E3-253B-E74AAEEC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3" y="3200400"/>
            <a:ext cx="2975314" cy="170688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E0455E-02E3-FA12-F9AC-F88D6BA10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48" y="1484784"/>
            <a:ext cx="2991671" cy="150606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76568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EA9A-8460-7E2A-67EF-5A0ACD3F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C5490064-45E3-E806-B4F3-63D624C3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95" y="1172204"/>
            <a:ext cx="4947975" cy="112696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8DFDE809-5DEE-AB7B-1A91-D1A74F8D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 </a:t>
            </a:r>
            <a:r>
              <a:rPr lang="ko-KR" altLang="en-US" dirty="0"/>
              <a:t>결재선 및 문서정보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6C93073-EDEF-CBB5-994F-6DA3C2033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814602"/>
              </p:ext>
            </p:extLst>
          </p:nvPr>
        </p:nvGraphicFramePr>
        <p:xfrm>
          <a:off x="6724940" y="836712"/>
          <a:ext cx="3035919" cy="2886792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 기본서식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상단 공통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결재선 및 공통영역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박스형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좌측에는 기안부서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우측에는 담당부서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표시 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담당부서가 있을 경우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담당부서 결재선이 표시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목록형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상단에 기안부서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하단에는 담당부서가 표시 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합의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협조 인 경우 표시 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결재자가 많아지는 경우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칸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문서정보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작성자 명칭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작성부서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작성자의 부서명칭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문서번호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고유번호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 후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발번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문서분류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분류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Meta Data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보안등급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문서 보안등급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Meta Data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보존년한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문서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보존년한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Meta Data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5BD9FB3B-A872-D386-FD70-48282D0D4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95" y="5271052"/>
            <a:ext cx="4993958" cy="620078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18FD890-FC4E-CBE5-ED31-261EFA27B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95" y="2400038"/>
            <a:ext cx="5033963" cy="1626870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57CE7F-2BD7-6BB6-036D-240A496DB693}"/>
              </a:ext>
            </a:extLst>
          </p:cNvPr>
          <p:cNvSpPr txBox="1"/>
          <p:nvPr/>
        </p:nvSpPr>
        <p:spPr>
          <a:xfrm>
            <a:off x="311671" y="112268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66ED1B-8064-4176-C187-BDFB857859F4}"/>
              </a:ext>
            </a:extLst>
          </p:cNvPr>
          <p:cNvSpPr txBox="1"/>
          <p:nvPr/>
        </p:nvSpPr>
        <p:spPr>
          <a:xfrm>
            <a:off x="350064" y="2399572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907CC0-4F3F-B3B7-05CF-AF53314BE50C}"/>
              </a:ext>
            </a:extLst>
          </p:cNvPr>
          <p:cNvSpPr txBox="1"/>
          <p:nvPr/>
        </p:nvSpPr>
        <p:spPr>
          <a:xfrm>
            <a:off x="437332" y="521434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A8BB21B-8998-5FD0-8433-3B08CAF7EC40}"/>
              </a:ext>
            </a:extLst>
          </p:cNvPr>
          <p:cNvGrpSpPr/>
          <p:nvPr/>
        </p:nvGrpSpPr>
        <p:grpSpPr>
          <a:xfrm>
            <a:off x="127917" y="834889"/>
            <a:ext cx="1335299" cy="276999"/>
            <a:chOff x="100762" y="787418"/>
            <a:chExt cx="1335299" cy="276999"/>
          </a:xfrm>
        </p:grpSpPr>
        <p:sp>
          <p:nvSpPr>
            <p:cNvPr id="28" name="원형: 비어 있음 27">
              <a:extLst>
                <a:ext uri="{FF2B5EF4-FFF2-40B4-BE49-F238E27FC236}">
                  <a16:creationId xmlns:a16="http://schemas.microsoft.com/office/drawing/2014/main" id="{B94B523D-E27E-BFFA-569C-19D622B7F956}"/>
                </a:ext>
              </a:extLst>
            </p:cNvPr>
            <p:cNvSpPr/>
            <p:nvPr/>
          </p:nvSpPr>
          <p:spPr>
            <a:xfrm>
              <a:off x="100762" y="836711"/>
              <a:ext cx="178412" cy="178412"/>
            </a:xfrm>
            <a:prstGeom prst="don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8435FB-E98F-D321-9DE8-23B4BD12E8EE}"/>
                </a:ext>
              </a:extLst>
            </p:cNvPr>
            <p:cNvSpPr txBox="1"/>
            <p:nvPr/>
          </p:nvSpPr>
          <p:spPr>
            <a:xfrm>
              <a:off x="219061" y="787418"/>
              <a:ext cx="12170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+mn-ea"/>
                </a:rPr>
                <a:t>결재선</a:t>
              </a:r>
              <a:r>
                <a:rPr lang="en-US" altLang="ko-KR" sz="1200" b="1" dirty="0">
                  <a:ea typeface="+mn-ea"/>
                </a:rPr>
                <a:t>(</a:t>
              </a:r>
              <a:r>
                <a:rPr lang="ko-KR" altLang="en-US" sz="1200" b="1" dirty="0" err="1">
                  <a:ea typeface="+mn-ea"/>
                </a:rPr>
                <a:t>결재방</a:t>
              </a:r>
              <a:r>
                <a:rPr lang="en-US" altLang="ko-KR" sz="1200" b="1" dirty="0">
                  <a:ea typeface="+mn-ea"/>
                </a:rPr>
                <a:t>)</a:t>
              </a:r>
              <a:endParaRPr lang="ko-KR" altLang="en-US" sz="1200" b="1" dirty="0">
                <a:ea typeface="+mn-ea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F435753-2D93-97F0-6DFF-BA47C22A0EBA}"/>
              </a:ext>
            </a:extLst>
          </p:cNvPr>
          <p:cNvGrpSpPr/>
          <p:nvPr/>
        </p:nvGrpSpPr>
        <p:grpSpPr>
          <a:xfrm>
            <a:off x="127917" y="4949689"/>
            <a:ext cx="918518" cy="276999"/>
            <a:chOff x="100762" y="787418"/>
            <a:chExt cx="918518" cy="276999"/>
          </a:xfrm>
        </p:grpSpPr>
        <p:sp>
          <p:nvSpPr>
            <p:cNvPr id="32" name="원형: 비어 있음 31">
              <a:extLst>
                <a:ext uri="{FF2B5EF4-FFF2-40B4-BE49-F238E27FC236}">
                  <a16:creationId xmlns:a16="http://schemas.microsoft.com/office/drawing/2014/main" id="{C3530C76-AF58-878A-4A8C-EE6965762A5A}"/>
                </a:ext>
              </a:extLst>
            </p:cNvPr>
            <p:cNvSpPr/>
            <p:nvPr/>
          </p:nvSpPr>
          <p:spPr>
            <a:xfrm>
              <a:off x="100762" y="836711"/>
              <a:ext cx="178412" cy="178412"/>
            </a:xfrm>
            <a:prstGeom prst="don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BF34500-6752-EC24-01D7-FA575C6F0A8C}"/>
                </a:ext>
              </a:extLst>
            </p:cNvPr>
            <p:cNvSpPr txBox="1"/>
            <p:nvPr/>
          </p:nvSpPr>
          <p:spPr>
            <a:xfrm>
              <a:off x="219061" y="787418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+mn-ea"/>
                </a:rPr>
                <a:t>문서정보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254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10045-0DEF-9342-BB23-1699C8CD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D62A5B-65A2-6588-0ADC-C0701F643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38" y="1110654"/>
            <a:ext cx="4947975" cy="1820482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FBBE4C41-75F3-574C-C6E6-35584D1C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 </a:t>
            </a:r>
            <a:r>
              <a:rPr lang="ko-KR" altLang="en-US" dirty="0"/>
              <a:t>프로세스 별 결재선</a:t>
            </a:r>
            <a:r>
              <a:rPr lang="en-US" altLang="ko-KR" dirty="0"/>
              <a:t>(</a:t>
            </a:r>
            <a:r>
              <a:rPr lang="ko-KR" altLang="en-US" dirty="0" err="1"/>
              <a:t>결재방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D9F9521-2A85-87D8-3CDC-7D882505A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197006"/>
              </p:ext>
            </p:extLst>
          </p:nvPr>
        </p:nvGraphicFramePr>
        <p:xfrm>
          <a:off x="6724940" y="836712"/>
          <a:ext cx="3035919" cy="2057736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 기본서식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상단 공통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결재선 및 공통영역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품의 유형 결재선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발신부서 결재선이 우측에 표시되며 합의자는 발신부서 결재선 하단에 목록으로 표시된다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유형 결재선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발신부서 결재선이 우측에 표시되며 발신부서 결재 완료 후 배포되는 수신처와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참조처는 문서 공통영역 하단에 표시된다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신청서 유형 결재선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발신부서 결재선이 좌측으로 표시되며 처리부서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or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수신 담당자는 우측으로 정렬되어 표시된다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2F31994-D172-61B7-97CC-E2EBCB3FCD86}"/>
              </a:ext>
            </a:extLst>
          </p:cNvPr>
          <p:cNvSpPr txBox="1"/>
          <p:nvPr/>
        </p:nvSpPr>
        <p:spPr>
          <a:xfrm>
            <a:off x="458709" y="1110654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B6F1E7-275A-EB2D-BD43-E205E9007250}"/>
              </a:ext>
            </a:extLst>
          </p:cNvPr>
          <p:cNvSpPr txBox="1"/>
          <p:nvPr/>
        </p:nvSpPr>
        <p:spPr>
          <a:xfrm>
            <a:off x="458709" y="342464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0DF1-B7EF-7E8B-E627-076356059BF2}"/>
              </a:ext>
            </a:extLst>
          </p:cNvPr>
          <p:cNvSpPr txBox="1"/>
          <p:nvPr/>
        </p:nvSpPr>
        <p:spPr>
          <a:xfrm>
            <a:off x="458709" y="533831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56D757E-513D-FAB6-BF03-F38F23CDB293}"/>
              </a:ext>
            </a:extLst>
          </p:cNvPr>
          <p:cNvGrpSpPr/>
          <p:nvPr/>
        </p:nvGrpSpPr>
        <p:grpSpPr>
          <a:xfrm>
            <a:off x="127917" y="834889"/>
            <a:ext cx="1489187" cy="276999"/>
            <a:chOff x="100762" y="787418"/>
            <a:chExt cx="1489187" cy="276999"/>
          </a:xfrm>
        </p:grpSpPr>
        <p:sp>
          <p:nvSpPr>
            <p:cNvPr id="28" name="원형: 비어 있음 27">
              <a:extLst>
                <a:ext uri="{FF2B5EF4-FFF2-40B4-BE49-F238E27FC236}">
                  <a16:creationId xmlns:a16="http://schemas.microsoft.com/office/drawing/2014/main" id="{C5E10508-EC96-2058-5D3D-6E1CBB54E1D9}"/>
                </a:ext>
              </a:extLst>
            </p:cNvPr>
            <p:cNvSpPr/>
            <p:nvPr/>
          </p:nvSpPr>
          <p:spPr>
            <a:xfrm>
              <a:off x="100762" y="836711"/>
              <a:ext cx="178412" cy="178412"/>
            </a:xfrm>
            <a:prstGeom prst="don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A17C1D-3726-41C2-5266-771A896878C1}"/>
                </a:ext>
              </a:extLst>
            </p:cNvPr>
            <p:cNvSpPr txBox="1"/>
            <p:nvPr/>
          </p:nvSpPr>
          <p:spPr>
            <a:xfrm>
              <a:off x="219061" y="787418"/>
              <a:ext cx="13708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+mn-ea"/>
                </a:rPr>
                <a:t>품의 유형 결재선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E36599A-D339-643C-8E24-2DA2A1397AB2}"/>
              </a:ext>
            </a:extLst>
          </p:cNvPr>
          <p:cNvGrpSpPr/>
          <p:nvPr/>
        </p:nvGrpSpPr>
        <p:grpSpPr>
          <a:xfrm>
            <a:off x="127917" y="5061313"/>
            <a:ext cx="1643075" cy="276999"/>
            <a:chOff x="100762" y="787418"/>
            <a:chExt cx="1643075" cy="276999"/>
          </a:xfrm>
        </p:grpSpPr>
        <p:sp>
          <p:nvSpPr>
            <p:cNvPr id="32" name="원형: 비어 있음 31">
              <a:extLst>
                <a:ext uri="{FF2B5EF4-FFF2-40B4-BE49-F238E27FC236}">
                  <a16:creationId xmlns:a16="http://schemas.microsoft.com/office/drawing/2014/main" id="{1AD7923C-05C6-22B4-20ED-1845F9213F24}"/>
                </a:ext>
              </a:extLst>
            </p:cNvPr>
            <p:cNvSpPr/>
            <p:nvPr/>
          </p:nvSpPr>
          <p:spPr>
            <a:xfrm>
              <a:off x="100762" y="836711"/>
              <a:ext cx="178412" cy="178412"/>
            </a:xfrm>
            <a:prstGeom prst="don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54A08D-5B71-3BCE-E3B4-1172835DF52C}"/>
                </a:ext>
              </a:extLst>
            </p:cNvPr>
            <p:cNvSpPr txBox="1"/>
            <p:nvPr/>
          </p:nvSpPr>
          <p:spPr>
            <a:xfrm>
              <a:off x="219061" y="787418"/>
              <a:ext cx="1524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+mn-ea"/>
                </a:rPr>
                <a:t>신청서 유형 결재선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FDC85C5D-2DD2-DBD7-3BA0-21B040AC1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71" y="5338312"/>
            <a:ext cx="4941307" cy="112029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CD3F477-F8AE-D458-C1FA-C7477EA22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38" y="3424649"/>
            <a:ext cx="4960620" cy="1473518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17CD0A-B91D-79F7-B61F-23D5DB626610}"/>
              </a:ext>
            </a:extLst>
          </p:cNvPr>
          <p:cNvGrpSpPr/>
          <p:nvPr/>
        </p:nvGrpSpPr>
        <p:grpSpPr>
          <a:xfrm>
            <a:off x="127917" y="3147650"/>
            <a:ext cx="1489187" cy="276999"/>
            <a:chOff x="100762" y="787418"/>
            <a:chExt cx="1489187" cy="276999"/>
          </a:xfrm>
        </p:grpSpPr>
        <p:sp>
          <p:nvSpPr>
            <p:cNvPr id="15" name="원형: 비어 있음 14">
              <a:extLst>
                <a:ext uri="{FF2B5EF4-FFF2-40B4-BE49-F238E27FC236}">
                  <a16:creationId xmlns:a16="http://schemas.microsoft.com/office/drawing/2014/main" id="{048EA23C-82C8-56D0-9A7C-C7B289CD986B}"/>
                </a:ext>
              </a:extLst>
            </p:cNvPr>
            <p:cNvSpPr/>
            <p:nvPr/>
          </p:nvSpPr>
          <p:spPr>
            <a:xfrm>
              <a:off x="100762" y="836711"/>
              <a:ext cx="178412" cy="178412"/>
            </a:xfrm>
            <a:prstGeom prst="don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AA6679-68B7-E5A2-7329-E846373B4D0D}"/>
                </a:ext>
              </a:extLst>
            </p:cNvPr>
            <p:cNvSpPr txBox="1"/>
            <p:nvPr/>
          </p:nvSpPr>
          <p:spPr>
            <a:xfrm>
              <a:off x="219061" y="787418"/>
              <a:ext cx="13708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+mn-ea"/>
                </a:rPr>
                <a:t>배포 유형 결재선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8431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D662-9602-58AF-AE51-C63E82C9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>
            <a:extLst>
              <a:ext uri="{FF2B5EF4-FFF2-40B4-BE49-F238E27FC236}">
                <a16:creationId xmlns:a16="http://schemas.microsoft.com/office/drawing/2014/main" id="{94FD35DC-DBD8-C081-BACD-BF911D212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07" y="2532106"/>
            <a:ext cx="6453759" cy="26993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B364223-6047-80C2-730C-962BEEB1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 </a:t>
            </a:r>
            <a:r>
              <a:rPr lang="ko-KR" altLang="en-US" dirty="0"/>
              <a:t>결재선 설정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98390E0-CC14-06C7-5899-CF7C854E6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751613"/>
              </p:ext>
            </p:extLst>
          </p:nvPr>
        </p:nvGraphicFramePr>
        <p:xfrm>
          <a:off x="6724940" y="836712"/>
          <a:ext cx="3035919" cy="5248512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+mj-lt"/>
                          <a:ea typeface="+mn-ea"/>
                        </a:rPr>
                        <a:t>전자결재 기본서식 </a:t>
                      </a:r>
                      <a:r>
                        <a:rPr lang="en-US" altLang="ko-KR" sz="800" b="0" i="0" dirty="0">
                          <a:latin typeface="+mj-lt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+mj-lt"/>
                          <a:ea typeface="+mn-ea"/>
                        </a:rPr>
                        <a:t>상단 공통 영역</a:t>
                      </a:r>
                      <a:endParaRPr lang="en-US" altLang="ko-KR" sz="800" b="0" i="0" dirty="0">
                        <a:latin typeface="+mj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결재선 및 공통영역</a:t>
                      </a:r>
                      <a:endParaRPr lang="ko-KR" altLang="en-US" sz="800" dirty="0">
                        <a:latin typeface="+mj-lt"/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조직도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Tree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영역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#3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영역에 부서원을 표시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.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검색 영역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개인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부서 선택 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검색어 입력하여 검색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.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검색에 따른 결과는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#3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영역에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부서원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검색 결과 표시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부서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or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사용자를 표시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선택한 항목은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#5, #6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버튼에 의해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#9, #10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영역에 추가 됨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전결규정이 설정된 양식에서만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전결규정을 선택하는 팝업이 표시 됨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73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결재목록에 추가를 위한 버튼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▼ 클릭 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다양한 결재 유형을 추가 할 수 있음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585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참조 추가를 위한 버튼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사전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사후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참조자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or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참조부서를 추가 할 수 있음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941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결재목록 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결재선과 참조에 대한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를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255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배포목록 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배포할 수신처에 대한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를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047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설정한 결재자 목록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순서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결재자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부서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),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유형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7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9-1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개인결재선으로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저장을 위한 팝업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46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설정한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참조자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목록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참조자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부서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937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개인 결재선 영역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저장되어 있는 개인 결재선 목록을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349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11-1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선택한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개인결재선으로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결재자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참조자를 변경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74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확인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설정한 결재선 정보를 결재문서에 전달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닫기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–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클릭 시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화면 종료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3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5" name="직사각형 12">
            <a:extLst>
              <a:ext uri="{FF2B5EF4-FFF2-40B4-BE49-F238E27FC236}">
                <a16:creationId xmlns:a16="http://schemas.microsoft.com/office/drawing/2014/main" id="{0DEC98B4-9BBB-ED36-4067-1588428D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34" y="2556344"/>
            <a:ext cx="1381116" cy="14006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D7E72-80F6-098F-F0D6-B9DCC9AAFF2F}"/>
              </a:ext>
            </a:extLst>
          </p:cNvPr>
          <p:cNvSpPr txBox="1"/>
          <p:nvPr/>
        </p:nvSpPr>
        <p:spPr>
          <a:xfrm>
            <a:off x="106463" y="24057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12">
            <a:extLst>
              <a:ext uri="{FF2B5EF4-FFF2-40B4-BE49-F238E27FC236}">
                <a16:creationId xmlns:a16="http://schemas.microsoft.com/office/drawing/2014/main" id="{3E840072-8485-3DC0-9C42-7B6E24353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3647" y="2556344"/>
            <a:ext cx="1018127" cy="233221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D3450323-041F-3B13-6E20-8528AE6D0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760" y="2561302"/>
            <a:ext cx="1040965" cy="233221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1A2FE4-972F-DA62-3F79-09D9D94D3B2C}"/>
              </a:ext>
            </a:extLst>
          </p:cNvPr>
          <p:cNvSpPr txBox="1"/>
          <p:nvPr/>
        </p:nvSpPr>
        <p:spPr>
          <a:xfrm>
            <a:off x="1171888" y="24057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2">
            <a:extLst>
              <a:ext uri="{FF2B5EF4-FFF2-40B4-BE49-F238E27FC236}">
                <a16:creationId xmlns:a16="http://schemas.microsoft.com/office/drawing/2014/main" id="{FE2326D0-EAE3-F276-9CCA-C5200E5A0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249" y="2770641"/>
            <a:ext cx="2231651" cy="1164021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0" name="직사각형 12">
            <a:extLst>
              <a:ext uri="{FF2B5EF4-FFF2-40B4-BE49-F238E27FC236}">
                <a16:creationId xmlns:a16="http://schemas.microsoft.com/office/drawing/2014/main" id="{CF804D35-3E8D-26A7-7414-99173B79C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066" y="3988637"/>
            <a:ext cx="2221310" cy="90487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274C3A-AA59-F8F4-6337-681DD8F15029}"/>
              </a:ext>
            </a:extLst>
          </p:cNvPr>
          <p:cNvSpPr txBox="1"/>
          <p:nvPr/>
        </p:nvSpPr>
        <p:spPr>
          <a:xfrm>
            <a:off x="2608669" y="299615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C508C-7CEF-C247-5D0F-848CED83DBAD}"/>
              </a:ext>
            </a:extLst>
          </p:cNvPr>
          <p:cNvSpPr txBox="1"/>
          <p:nvPr/>
        </p:nvSpPr>
        <p:spPr>
          <a:xfrm>
            <a:off x="2637419" y="407188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B0D98C-BC80-1B60-2CF4-91E6B1226701}"/>
              </a:ext>
            </a:extLst>
          </p:cNvPr>
          <p:cNvSpPr txBox="1"/>
          <p:nvPr/>
        </p:nvSpPr>
        <p:spPr>
          <a:xfrm>
            <a:off x="3761593" y="24057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직사각형 12">
            <a:extLst>
              <a:ext uri="{FF2B5EF4-FFF2-40B4-BE49-F238E27FC236}">
                <a16:creationId xmlns:a16="http://schemas.microsoft.com/office/drawing/2014/main" id="{674E6982-F088-1A02-A494-9757DD022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97" y="2756368"/>
            <a:ext cx="1381116" cy="2137143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F42BC7-D748-DD5E-E087-8F05C2018208}"/>
              </a:ext>
            </a:extLst>
          </p:cNvPr>
          <p:cNvSpPr txBox="1"/>
          <p:nvPr/>
        </p:nvSpPr>
        <p:spPr>
          <a:xfrm>
            <a:off x="3107293" y="24057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79E1EA-3D64-2683-58C0-F5CDB85D3FA5}"/>
              </a:ext>
            </a:extLst>
          </p:cNvPr>
          <p:cNvSpPr txBox="1"/>
          <p:nvPr/>
        </p:nvSpPr>
        <p:spPr>
          <a:xfrm>
            <a:off x="1171888" y="262558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08B4AB-F9FE-D49C-B57A-62FB64884833}"/>
              </a:ext>
            </a:extLst>
          </p:cNvPr>
          <p:cNvSpPr txBox="1"/>
          <p:nvPr/>
        </p:nvSpPr>
        <p:spPr>
          <a:xfrm>
            <a:off x="2608669" y="240578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7B9AD1-3FEA-010A-2D7A-082B99E38681}"/>
              </a:ext>
            </a:extLst>
          </p:cNvPr>
          <p:cNvSpPr txBox="1"/>
          <p:nvPr/>
        </p:nvSpPr>
        <p:spPr>
          <a:xfrm>
            <a:off x="2971683" y="272960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992C3-5977-2A46-06FE-1EAA06D001F1}"/>
              </a:ext>
            </a:extLst>
          </p:cNvPr>
          <p:cNvSpPr txBox="1"/>
          <p:nvPr/>
        </p:nvSpPr>
        <p:spPr>
          <a:xfrm>
            <a:off x="2926281" y="3908776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F537CE-9BD6-49D0-DFA9-F4D3641993C1}"/>
              </a:ext>
            </a:extLst>
          </p:cNvPr>
          <p:cNvSpPr txBox="1"/>
          <p:nvPr/>
        </p:nvSpPr>
        <p:spPr>
          <a:xfrm>
            <a:off x="5457056" y="240578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B3DE55F-E197-F1AA-595D-2FD012EF2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680" y="3294763"/>
            <a:ext cx="281499" cy="6298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3FCE918-08F9-F0D0-38B0-4D149D5DDD36}"/>
              </a:ext>
            </a:extLst>
          </p:cNvPr>
          <p:cNvSpPr txBox="1"/>
          <p:nvPr/>
        </p:nvSpPr>
        <p:spPr>
          <a:xfrm>
            <a:off x="4618150" y="3657874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0231527-60CC-CCFA-CA16-AFE179449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381" y="5829256"/>
            <a:ext cx="783540" cy="663509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20DA262-8AE5-F36A-1D56-C1F15D841D88}"/>
              </a:ext>
            </a:extLst>
          </p:cNvPr>
          <p:cNvSpPr txBox="1"/>
          <p:nvPr/>
        </p:nvSpPr>
        <p:spPr>
          <a:xfrm>
            <a:off x="5830391" y="3252623"/>
            <a:ext cx="4251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11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999524-33CB-5B5D-83E5-73403158631C}"/>
              </a:ext>
            </a:extLst>
          </p:cNvPr>
          <p:cNvSpPr txBox="1"/>
          <p:nvPr/>
        </p:nvSpPr>
        <p:spPr>
          <a:xfrm>
            <a:off x="4664899" y="4884924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BAF2BE-56E6-F80C-3BFF-3FD08107A7B6}"/>
              </a:ext>
            </a:extLst>
          </p:cNvPr>
          <p:cNvSpPr txBox="1"/>
          <p:nvPr/>
        </p:nvSpPr>
        <p:spPr>
          <a:xfrm>
            <a:off x="5757827" y="5637788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B16D4C4-258D-DEB7-481C-55A9F6A31FF9}"/>
              </a:ext>
            </a:extLst>
          </p:cNvPr>
          <p:cNvSpPr/>
          <p:nvPr/>
        </p:nvSpPr>
        <p:spPr bwMode="auto">
          <a:xfrm>
            <a:off x="4711456" y="3812197"/>
            <a:ext cx="624342" cy="9051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48A9CAAC-AD82-C30B-47CF-7A3D4B2EF127}"/>
              </a:ext>
            </a:extLst>
          </p:cNvPr>
          <p:cNvCxnSpPr>
            <a:cxnSpLocks/>
            <a:stCxn id="49" idx="2"/>
            <a:endCxn id="45" idx="0"/>
          </p:cNvCxnSpPr>
          <p:nvPr/>
        </p:nvCxnSpPr>
        <p:spPr>
          <a:xfrm rot="16200000" flipH="1">
            <a:off x="4663115" y="4263220"/>
            <a:ext cx="1926548" cy="1205524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그림 57">
            <a:extLst>
              <a:ext uri="{FF2B5EF4-FFF2-40B4-BE49-F238E27FC236}">
                <a16:creationId xmlns:a16="http://schemas.microsoft.com/office/drawing/2014/main" id="{54DD0D5F-8846-14F0-BE2E-1AE793FCB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93" y="995866"/>
            <a:ext cx="3310876" cy="128367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9ACBAF95-CCE8-88E1-2D4C-991AFA20D18A}"/>
              </a:ext>
            </a:extLst>
          </p:cNvPr>
          <p:cNvSpPr/>
          <p:nvPr/>
        </p:nvSpPr>
        <p:spPr bwMode="auto">
          <a:xfrm>
            <a:off x="2701923" y="2556691"/>
            <a:ext cx="391321" cy="1399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BA5A83-9730-997C-D1AF-911F5A88CA5B}"/>
              </a:ext>
            </a:extLst>
          </p:cNvPr>
          <p:cNvSpPr txBox="1"/>
          <p:nvPr/>
        </p:nvSpPr>
        <p:spPr>
          <a:xfrm>
            <a:off x="1171888" y="804398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F2899584-0269-1E31-8622-C53614FA10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9884" y="5300426"/>
            <a:ext cx="2793492" cy="88658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99BBF8D4-BC7D-1DEF-8B04-54E0B6ED218C}"/>
              </a:ext>
            </a:extLst>
          </p:cNvPr>
          <p:cNvCxnSpPr>
            <a:cxnSpLocks/>
            <a:stCxn id="61" idx="0"/>
            <a:endCxn id="58" idx="2"/>
          </p:cNvCxnSpPr>
          <p:nvPr/>
        </p:nvCxnSpPr>
        <p:spPr>
          <a:xfrm rot="16200000" flipV="1">
            <a:off x="2758982" y="2418088"/>
            <a:ext cx="277152" cy="53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DC24A02-36D9-F4FD-A260-27698DF0CF6F}"/>
              </a:ext>
            </a:extLst>
          </p:cNvPr>
          <p:cNvSpPr txBox="1"/>
          <p:nvPr/>
        </p:nvSpPr>
        <p:spPr>
          <a:xfrm>
            <a:off x="3761593" y="524696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3A76FC-08DC-994E-E638-8EF570E1F80B}"/>
              </a:ext>
            </a:extLst>
          </p:cNvPr>
          <p:cNvSpPr txBox="1"/>
          <p:nvPr/>
        </p:nvSpPr>
        <p:spPr>
          <a:xfrm>
            <a:off x="3107293" y="524696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2999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B78D-F0BB-E1A4-B8BF-17390D3C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E7D139-44FA-9C3C-89DE-928F93C5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6.5. </a:t>
            </a:r>
            <a:r>
              <a:rPr lang="ko-KR" altLang="en-US" dirty="0"/>
              <a:t>문서연결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1CAA25A-9245-3544-AF6D-00A2A89EF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645163"/>
              </p:ext>
            </p:extLst>
          </p:nvPr>
        </p:nvGraphicFramePr>
        <p:xfrm>
          <a:off x="6724940" y="836712"/>
          <a:ext cx="3035919" cy="22108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+mj-lt"/>
                          <a:ea typeface="+mn-ea"/>
                        </a:rPr>
                        <a:t>전자결재 기본서식 </a:t>
                      </a:r>
                      <a:r>
                        <a:rPr lang="en-US" altLang="ko-KR" sz="800" b="0" i="0" dirty="0">
                          <a:latin typeface="+mj-lt"/>
                          <a:ea typeface="+mn-ea"/>
                        </a:rPr>
                        <a:t>– </a:t>
                      </a:r>
                      <a:r>
                        <a:rPr lang="ko-KR" altLang="en-US" sz="800" b="0" i="0" dirty="0">
                          <a:latin typeface="+mj-lt"/>
                          <a:ea typeface="+mn-ea"/>
                        </a:rPr>
                        <a:t>상단 공통 영역</a:t>
                      </a:r>
                      <a:endParaRPr lang="en-US" altLang="ko-KR" sz="800" b="0" i="0" dirty="0">
                        <a:latin typeface="+mj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결재선 및 공통영역</a:t>
                      </a:r>
                      <a:endParaRPr lang="ko-KR" altLang="en-US" sz="800" dirty="0">
                        <a:latin typeface="+mj-lt"/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검색 조건 입력 영역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기안일자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검색조건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문서함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검색 조건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4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문서함 선택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21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검색 결과 목록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#1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영역의 검색 조건에 해당하는 결재 문서 목록을 표시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문서번호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일시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+mj-lt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문서연결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#2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영역의 선택된 결재 문서를 연결문서로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7313" algn="l"/>
                        </a:tabLst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닫기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화면 종료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F304EBD-0791-5BD5-B701-10605B50F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28" y="1988840"/>
            <a:ext cx="5724525" cy="36004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AAD1E81-F520-F33C-6101-562D53AE795C}"/>
              </a:ext>
            </a:extLst>
          </p:cNvPr>
          <p:cNvSpPr/>
          <p:nvPr/>
        </p:nvSpPr>
        <p:spPr bwMode="auto">
          <a:xfrm>
            <a:off x="4700687" y="2663105"/>
            <a:ext cx="1009551" cy="14438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1AA1BFDE-08DA-9067-41A6-CECBDA343095}"/>
              </a:ext>
            </a:extLst>
          </p:cNvPr>
          <p:cNvCxnSpPr>
            <a:cxnSpLocks/>
            <a:stCxn id="10" idx="0"/>
            <a:endCxn id="2" idx="2"/>
          </p:cNvCxnSpPr>
          <p:nvPr/>
        </p:nvCxnSpPr>
        <p:spPr>
          <a:xfrm rot="5400000" flipH="1" flipV="1">
            <a:off x="5372071" y="2036489"/>
            <a:ext cx="460009" cy="793225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DCAA976-85B7-1A67-0026-BAA4B6C8E050}"/>
              </a:ext>
            </a:extLst>
          </p:cNvPr>
          <p:cNvSpPr txBox="1"/>
          <p:nvPr/>
        </p:nvSpPr>
        <p:spPr>
          <a:xfrm>
            <a:off x="125298" y="244400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3BBA5B-AADB-8772-D59E-BD4146EF921D}"/>
              </a:ext>
            </a:extLst>
          </p:cNvPr>
          <p:cNvSpPr txBox="1"/>
          <p:nvPr/>
        </p:nvSpPr>
        <p:spPr>
          <a:xfrm>
            <a:off x="4397306" y="256307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D80421-0466-B56F-FE09-410613789422}"/>
              </a:ext>
            </a:extLst>
          </p:cNvPr>
          <p:cNvSpPr txBox="1"/>
          <p:nvPr/>
        </p:nvSpPr>
        <p:spPr>
          <a:xfrm>
            <a:off x="5309417" y="91254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B25155-39E6-D4F7-3039-533C5B1AD991}"/>
              </a:ext>
            </a:extLst>
          </p:cNvPr>
          <p:cNvSpPr txBox="1"/>
          <p:nvPr/>
        </p:nvSpPr>
        <p:spPr>
          <a:xfrm>
            <a:off x="125298" y="282769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CB4486-9730-94D6-753E-7A48FAAD5D27}"/>
              </a:ext>
            </a:extLst>
          </p:cNvPr>
          <p:cNvSpPr txBox="1"/>
          <p:nvPr/>
        </p:nvSpPr>
        <p:spPr>
          <a:xfrm>
            <a:off x="2665349" y="5157192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12">
            <a:extLst>
              <a:ext uri="{FF2B5EF4-FFF2-40B4-BE49-F238E27FC236}">
                <a16:creationId xmlns:a16="http://schemas.microsoft.com/office/drawing/2014/main" id="{8373D23A-1EB8-CCA3-8A2C-739477BA5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607469"/>
            <a:ext cx="5474017" cy="254794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0CE3E443-9611-2847-3B73-F8815918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217" y="1115617"/>
            <a:ext cx="476250" cy="80962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48DF8A8-595C-2B9F-3D98-DAA92A683920}"/>
              </a:ext>
            </a:extLst>
          </p:cNvPr>
          <p:cNvSpPr txBox="1"/>
          <p:nvPr/>
        </p:nvSpPr>
        <p:spPr>
          <a:xfrm>
            <a:off x="1430995" y="91254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CAFB63-71F1-7AED-4B93-2830A47C37EE}"/>
              </a:ext>
            </a:extLst>
          </p:cNvPr>
          <p:cNvSpPr/>
          <p:nvPr/>
        </p:nvSpPr>
        <p:spPr bwMode="auto">
          <a:xfrm>
            <a:off x="1669255" y="2663105"/>
            <a:ext cx="475433" cy="14438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CC196B-CF16-F045-1B3C-4E83385F1332}"/>
              </a:ext>
            </a:extLst>
          </p:cNvPr>
          <p:cNvSpPr txBox="1"/>
          <p:nvPr/>
        </p:nvSpPr>
        <p:spPr>
          <a:xfrm>
            <a:off x="1379527" y="256307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843EEAF3-A9F3-14DA-8F46-B35A49DD4737}"/>
              </a:ext>
            </a:extLst>
          </p:cNvPr>
          <p:cNvCxnSpPr>
            <a:cxnSpLocks/>
            <a:stCxn id="40" idx="0"/>
            <a:endCxn id="37" idx="2"/>
          </p:cNvCxnSpPr>
          <p:nvPr/>
        </p:nvCxnSpPr>
        <p:spPr>
          <a:xfrm rot="16200000" flipV="1">
            <a:off x="1472226" y="2228359"/>
            <a:ext cx="737863" cy="13163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508" y="1062326"/>
            <a:ext cx="1300359" cy="1140770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804342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68C1658-D6DE-8BB2-1217-1DBDC20C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결재문서 보기</a:t>
            </a:r>
            <a:r>
              <a:rPr lang="en-US" altLang="ko-KR" dirty="0"/>
              <a:t>/</a:t>
            </a:r>
            <a:r>
              <a:rPr lang="ko-KR" altLang="en-US" dirty="0"/>
              <a:t>결재</a:t>
            </a:r>
            <a:r>
              <a:rPr lang="en-US" altLang="ko-KR" dirty="0"/>
              <a:t>(</a:t>
            </a:r>
            <a:r>
              <a:rPr lang="ko-KR" altLang="en-US" dirty="0"/>
              <a:t>승인</a:t>
            </a:r>
            <a:r>
              <a:rPr lang="en-US" altLang="ko-KR" dirty="0"/>
              <a:t>/</a:t>
            </a:r>
            <a:r>
              <a:rPr lang="ko-KR" altLang="en-US" dirty="0"/>
              <a:t>반려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83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4B01-830C-6BB7-1CF0-ECA61D8A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0BF4600D-FDC2-41CE-14A3-71B4931AD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254" y="888209"/>
            <a:ext cx="3610479" cy="5611008"/>
          </a:xfrm>
          <a:prstGeom prst="rect">
            <a:avLst/>
          </a:prstGeom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D479FF83-D642-477F-F1AD-FF46447DF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974" y="1453543"/>
            <a:ext cx="766843" cy="183375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A8400C44-E55E-C3C2-96B7-E1F5ACF3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 </a:t>
            </a:r>
            <a:r>
              <a:rPr lang="ko-KR" altLang="en-US" dirty="0"/>
              <a:t>진행문서</a:t>
            </a:r>
            <a:r>
              <a:rPr lang="en-US" altLang="ko-KR" dirty="0"/>
              <a:t>(</a:t>
            </a:r>
            <a:r>
              <a:rPr lang="ko-KR" altLang="en-US" dirty="0"/>
              <a:t>결재하기</a:t>
            </a:r>
            <a:r>
              <a:rPr lang="en-US" altLang="ko-KR" dirty="0"/>
              <a:t>)(1)</a:t>
            </a:r>
            <a:endParaRPr lang="ko-KR" altLang="en-US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0001623-9B53-DB54-7BC7-D9A5A7B85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930444"/>
              </p:ext>
            </p:extLst>
          </p:nvPr>
        </p:nvGraphicFramePr>
        <p:xfrm>
          <a:off x="6724940" y="836712"/>
          <a:ext cx="3035919" cy="4397376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 보기 화면으로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진행중인 문서를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진행함에서 열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취소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승인취소를 할 수 있으며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 미결함에서 열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승인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반려와 같은 결재 행위를 할 수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기능 버튼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ea typeface="+mn-ea"/>
                        </a:rPr>
                        <a:t>결재문서 주요 상태 표시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추가 기능 버튼 영역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편집할 수 있는 형태로 변경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60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승인하기 위한 의견 작성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111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반려하기 위한 의견 작성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119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지정반려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이전 결재자에게 반려하기 위한 의견 작성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1007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 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보류하기 위한 의견 작성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44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지정을 위한 결재선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019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출력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현재 문서를 인쇄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85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회수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기안자에게만 나타나는 버튼으로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기안자가 기안을 취소할 수 있음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첫번째 결재자가 결재하기 전에 가능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72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기안자에게만 나타나는 버튼으로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기안자가 결재문서를 취소할 수 있음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01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승인취소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결재자가 아닌 결재자에게만 나타나는 버튼으로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 승인한 결재자가 승인을 취소할 수 있음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결재자가 결재행위를 하기 전에 가능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07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긴급결재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긴급결재로 설정한 결재문서에 표시 됨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기밀문서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기밀문서로 설정한 결재문서에 표시 됨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4447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8358E3E-6C3B-25F2-9502-2A2F58ED3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478" y="1941571"/>
            <a:ext cx="1505903" cy="155162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960A94-DCBC-25FA-7BC7-98BA69862BA5}"/>
              </a:ext>
            </a:extLst>
          </p:cNvPr>
          <p:cNvSpPr txBox="1"/>
          <p:nvPr/>
        </p:nvSpPr>
        <p:spPr>
          <a:xfrm>
            <a:off x="1662725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549BFC-391C-62B5-1176-93F9DE88D67E}"/>
              </a:ext>
            </a:extLst>
          </p:cNvPr>
          <p:cNvSpPr txBox="1"/>
          <p:nvPr/>
        </p:nvSpPr>
        <p:spPr>
          <a:xfrm>
            <a:off x="4277623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12">
            <a:extLst>
              <a:ext uri="{FF2B5EF4-FFF2-40B4-BE49-F238E27FC236}">
                <a16:creationId xmlns:a16="http://schemas.microsoft.com/office/drawing/2014/main" id="{26AAC882-753A-E231-9FAB-B2129C99A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697" y="1226851"/>
            <a:ext cx="511968" cy="139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17" name="직사각형 12">
            <a:extLst>
              <a:ext uri="{FF2B5EF4-FFF2-40B4-BE49-F238E27FC236}">
                <a16:creationId xmlns:a16="http://schemas.microsoft.com/office/drawing/2014/main" id="{DE6F2B55-7CF2-C481-1831-A7FF17ECB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910" y="1231613"/>
            <a:ext cx="722361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C7ED9F-5D69-B2EE-01C8-562B9C95F15C}"/>
              </a:ext>
            </a:extLst>
          </p:cNvPr>
          <p:cNvSpPr txBox="1"/>
          <p:nvPr/>
        </p:nvSpPr>
        <p:spPr>
          <a:xfrm>
            <a:off x="1939462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626ECE-4334-4D7E-C449-60489C31079D}"/>
              </a:ext>
            </a:extLst>
          </p:cNvPr>
          <p:cNvSpPr txBox="1"/>
          <p:nvPr/>
        </p:nvSpPr>
        <p:spPr>
          <a:xfrm>
            <a:off x="2212242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68874-CCBA-A287-4B5E-723481646FCE}"/>
              </a:ext>
            </a:extLst>
          </p:cNvPr>
          <p:cNvSpPr txBox="1"/>
          <p:nvPr/>
        </p:nvSpPr>
        <p:spPr>
          <a:xfrm>
            <a:off x="2481212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0BAF7-7785-F24E-97BC-3C6827F89BC0}"/>
              </a:ext>
            </a:extLst>
          </p:cNvPr>
          <p:cNvSpPr txBox="1"/>
          <p:nvPr/>
        </p:nvSpPr>
        <p:spPr>
          <a:xfrm>
            <a:off x="2745531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DDB6D8-81E4-EB4D-F25B-901E54D5CBE3}"/>
              </a:ext>
            </a:extLst>
          </p:cNvPr>
          <p:cNvSpPr txBox="1"/>
          <p:nvPr/>
        </p:nvSpPr>
        <p:spPr>
          <a:xfrm>
            <a:off x="2997336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19733A-BC56-15EF-FE88-859D20193D15}"/>
              </a:ext>
            </a:extLst>
          </p:cNvPr>
          <p:cNvSpPr txBox="1"/>
          <p:nvPr/>
        </p:nvSpPr>
        <p:spPr>
          <a:xfrm>
            <a:off x="3263494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F57949-7C95-7E1C-7569-0ECF99AF9FE7}"/>
              </a:ext>
            </a:extLst>
          </p:cNvPr>
          <p:cNvSpPr txBox="1"/>
          <p:nvPr/>
        </p:nvSpPr>
        <p:spPr>
          <a:xfrm>
            <a:off x="3537433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D7B44C-0B0C-2277-0999-FFA960986CF7}"/>
              </a:ext>
            </a:extLst>
          </p:cNvPr>
          <p:cNvSpPr txBox="1"/>
          <p:nvPr/>
        </p:nvSpPr>
        <p:spPr>
          <a:xfrm>
            <a:off x="3804983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703724-3FF8-AA00-9178-4B2EDBC11975}"/>
              </a:ext>
            </a:extLst>
          </p:cNvPr>
          <p:cNvSpPr txBox="1"/>
          <p:nvPr/>
        </p:nvSpPr>
        <p:spPr>
          <a:xfrm>
            <a:off x="4663205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0E71F2C-7DF3-6E21-CD39-8ADB63351C25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 rot="16200000" flipH="1">
            <a:off x="2097689" y="1455830"/>
            <a:ext cx="574732" cy="396749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그림 54">
            <a:extLst>
              <a:ext uri="{FF2B5EF4-FFF2-40B4-BE49-F238E27FC236}">
                <a16:creationId xmlns:a16="http://schemas.microsoft.com/office/drawing/2014/main" id="{47B2BCB0-7A76-362F-8134-EDF886FBB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08" y="1688241"/>
            <a:ext cx="1531834" cy="1548981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AF8DC507-F3EE-31EE-C7E1-24EA6BD7F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197" y="1688241"/>
            <a:ext cx="3148965" cy="1794510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39B44D78-F027-7661-9232-5696D7091738}"/>
              </a:ext>
            </a:extLst>
          </p:cNvPr>
          <p:cNvCxnSpPr>
            <a:cxnSpLocks/>
            <a:stCxn id="69" idx="2"/>
            <a:endCxn id="57" idx="0"/>
          </p:cNvCxnSpPr>
          <p:nvPr/>
        </p:nvCxnSpPr>
        <p:spPr>
          <a:xfrm rot="16200000" flipH="1">
            <a:off x="3907726" y="580287"/>
            <a:ext cx="321402" cy="1894506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직사각형 12">
            <a:extLst>
              <a:ext uri="{FF2B5EF4-FFF2-40B4-BE49-F238E27FC236}">
                <a16:creationId xmlns:a16="http://schemas.microsoft.com/office/drawing/2014/main" id="{58E4E696-DE03-1DB1-5915-E72534C8E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1226851"/>
            <a:ext cx="247945" cy="139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68" name="직사각형 12">
            <a:extLst>
              <a:ext uri="{FF2B5EF4-FFF2-40B4-BE49-F238E27FC236}">
                <a16:creationId xmlns:a16="http://schemas.microsoft.com/office/drawing/2014/main" id="{BC9D767B-9487-E57B-9112-3E8229092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882" y="1226851"/>
            <a:ext cx="247945" cy="139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69" name="직사각형 12">
            <a:extLst>
              <a:ext uri="{FF2B5EF4-FFF2-40B4-BE49-F238E27FC236}">
                <a16:creationId xmlns:a16="http://schemas.microsoft.com/office/drawing/2014/main" id="{44A43071-5F87-6E49-4D8F-AC210E475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1" y="1226851"/>
            <a:ext cx="247945" cy="139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8659A09B-EBB9-AD68-7AC0-94A470A2CBEB}"/>
              </a:ext>
            </a:extLst>
          </p:cNvPr>
          <p:cNvCxnSpPr>
            <a:cxnSpLocks/>
            <a:stCxn id="68" idx="2"/>
            <a:endCxn id="3" idx="0"/>
          </p:cNvCxnSpPr>
          <p:nvPr/>
        </p:nvCxnSpPr>
        <p:spPr>
          <a:xfrm rot="5400000">
            <a:off x="2432777" y="1517493"/>
            <a:ext cx="574732" cy="273425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8242424-26C0-7FC9-1928-E73F55D01C69}"/>
              </a:ext>
            </a:extLst>
          </p:cNvPr>
          <p:cNvCxnSpPr>
            <a:cxnSpLocks/>
            <a:stCxn id="65" idx="0"/>
            <a:endCxn id="55" idx="0"/>
          </p:cNvCxnSpPr>
          <p:nvPr/>
        </p:nvCxnSpPr>
        <p:spPr>
          <a:xfrm rot="16200000" flipH="1" flipV="1">
            <a:off x="1508786" y="604490"/>
            <a:ext cx="461390" cy="1706111"/>
          </a:xfrm>
          <a:prstGeom prst="bentConnector3">
            <a:avLst>
              <a:gd name="adj1" fmla="val -49546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6264F06-523A-7429-D712-23B898148F9D}"/>
              </a:ext>
            </a:extLst>
          </p:cNvPr>
          <p:cNvSpPr txBox="1"/>
          <p:nvPr/>
        </p:nvSpPr>
        <p:spPr>
          <a:xfrm>
            <a:off x="102957" y="1558448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D4B31B3-DDBD-24AD-71BC-176BB6FED8C9}"/>
              </a:ext>
            </a:extLst>
          </p:cNvPr>
          <p:cNvSpPr txBox="1"/>
          <p:nvPr/>
        </p:nvSpPr>
        <p:spPr>
          <a:xfrm>
            <a:off x="3441803" y="1580663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BC93D6B-970E-6159-2FAA-937D709BB79C}"/>
              </a:ext>
            </a:extLst>
          </p:cNvPr>
          <p:cNvSpPr txBox="1"/>
          <p:nvPr/>
        </p:nvSpPr>
        <p:spPr>
          <a:xfrm>
            <a:off x="1839218" y="1831251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#1-2, 1-3, 1-5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2714E25-FDAB-3CFD-730E-EBD967844EA3}"/>
              </a:ext>
            </a:extLst>
          </p:cNvPr>
          <p:cNvSpPr txBox="1"/>
          <p:nvPr/>
        </p:nvSpPr>
        <p:spPr>
          <a:xfrm>
            <a:off x="1591514" y="1382511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E319D17-8C11-DF91-578B-0F868FE6FE24}"/>
              </a:ext>
            </a:extLst>
          </p:cNvPr>
          <p:cNvSpPr txBox="1"/>
          <p:nvPr/>
        </p:nvSpPr>
        <p:spPr>
          <a:xfrm>
            <a:off x="1832532" y="1382511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26F45BA-6F0F-BFF0-DD23-FEE855D1F324}"/>
              </a:ext>
            </a:extLst>
          </p:cNvPr>
          <p:cNvSpPr txBox="1"/>
          <p:nvPr/>
        </p:nvSpPr>
        <p:spPr>
          <a:xfrm>
            <a:off x="2096850" y="1382511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562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D5D5-A603-B0F2-C625-0F2B2D69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60E772-2EB7-97B9-2A97-49BCE277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61" y="891302"/>
            <a:ext cx="3610479" cy="5620534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1A9DE1C-4AD9-B7E5-9C7D-E5332D50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7.1. </a:t>
            </a:r>
            <a:r>
              <a:rPr lang="ko-KR" altLang="en-US" dirty="0"/>
              <a:t>진행문서</a:t>
            </a:r>
            <a:r>
              <a:rPr lang="en-US" altLang="ko-KR" dirty="0"/>
              <a:t>(</a:t>
            </a:r>
            <a:r>
              <a:rPr lang="ko-KR" altLang="en-US" dirty="0"/>
              <a:t>결재하기</a:t>
            </a:r>
            <a:r>
              <a:rPr lang="en-US" altLang="ko-KR" dirty="0"/>
              <a:t>)(2)</a:t>
            </a:r>
            <a:endParaRPr lang="ko-KR" altLang="en-US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047A599-F96A-B368-378F-3BE3A10AA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469551"/>
              </p:ext>
            </p:extLst>
          </p:nvPr>
        </p:nvGraphicFramePr>
        <p:xfrm>
          <a:off x="6724940" y="836712"/>
          <a:ext cx="3035919" cy="175104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전자결재 보기 화면으로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진행중인 문서를 미결함에서 열 경우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승인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반려와 같은 결재 행위를 할 수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기능 버튼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ea typeface="+mn-ea"/>
                        </a:rPr>
                        <a:t>결재문서 주요 상태 표시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3.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추가 기능 버튼 영역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히스티리보기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결재문서에 편집된 내역을 확인하고 비교할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91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의견보기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현재 결재문서에 의견을 확인 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64215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44472"/>
                  </a:ext>
                </a:extLst>
              </a:tr>
            </a:tbl>
          </a:graphicData>
        </a:graphic>
      </p:graphicFrame>
      <p:sp>
        <p:nvSpPr>
          <p:cNvPr id="19" name="직사각형 12">
            <a:extLst>
              <a:ext uri="{FF2B5EF4-FFF2-40B4-BE49-F238E27FC236}">
                <a16:creationId xmlns:a16="http://schemas.microsoft.com/office/drawing/2014/main" id="{853A9571-6784-B5BE-769C-8B840BCBF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1740" y="1422693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083975-005F-0A8E-92F1-40BCE62E4618}"/>
              </a:ext>
            </a:extLst>
          </p:cNvPr>
          <p:cNvSpPr txBox="1"/>
          <p:nvPr/>
        </p:nvSpPr>
        <p:spPr>
          <a:xfrm>
            <a:off x="4750982" y="1557919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DF62CB-08B4-9950-7C71-80177837FD4A}"/>
              </a:ext>
            </a:extLst>
          </p:cNvPr>
          <p:cNvSpPr txBox="1"/>
          <p:nvPr/>
        </p:nvSpPr>
        <p:spPr>
          <a:xfrm>
            <a:off x="4958855" y="1557919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264BF62B-7093-05DD-2471-98EB82C09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126" y="2342418"/>
            <a:ext cx="1548765" cy="161734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CFE61A1C-F2B0-E9A3-9FC2-7F1841A05C10}"/>
              </a:ext>
            </a:extLst>
          </p:cNvPr>
          <p:cNvCxnSpPr>
            <a:cxnSpLocks/>
            <a:stCxn id="19" idx="3"/>
            <a:endCxn id="49" idx="0"/>
          </p:cNvCxnSpPr>
          <p:nvPr/>
        </p:nvCxnSpPr>
        <p:spPr>
          <a:xfrm>
            <a:off x="5070098" y="1490306"/>
            <a:ext cx="577411" cy="852112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12">
            <a:extLst>
              <a:ext uri="{FF2B5EF4-FFF2-40B4-BE49-F238E27FC236}">
                <a16:creationId xmlns:a16="http://schemas.microsoft.com/office/drawing/2014/main" id="{DC33B7EB-9D74-A03D-F5B5-9F3F415B7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876" y="1422693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3656422B-2626-D80E-7407-8EE93ED77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165" y="1988840"/>
            <a:ext cx="2423160" cy="221170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41D6E50C-BA8B-1A2D-EFEC-1F31010EA3C2}"/>
              </a:ext>
            </a:extLst>
          </p:cNvPr>
          <p:cNvCxnSpPr>
            <a:cxnSpLocks/>
            <a:stCxn id="73" idx="1"/>
            <a:endCxn id="93" idx="0"/>
          </p:cNvCxnSpPr>
          <p:nvPr/>
        </p:nvCxnSpPr>
        <p:spPr>
          <a:xfrm rot="10800000" flipV="1">
            <a:off x="3218746" y="1490306"/>
            <a:ext cx="1556131" cy="498534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64035B-8B96-BABE-3361-27B253B890AE}"/>
              </a:ext>
            </a:extLst>
          </p:cNvPr>
          <p:cNvSpPr txBox="1"/>
          <p:nvPr/>
        </p:nvSpPr>
        <p:spPr>
          <a:xfrm>
            <a:off x="2007165" y="1867661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335A6B-6ADE-D51C-007E-823E30511FCE}"/>
              </a:ext>
            </a:extLst>
          </p:cNvPr>
          <p:cNvSpPr txBox="1"/>
          <p:nvPr/>
        </p:nvSpPr>
        <p:spPr>
          <a:xfrm>
            <a:off x="4877386" y="221461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348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E122-DE40-820C-04D2-B87955E5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06824A8-B111-BFEC-283A-DE716577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66" y="871548"/>
            <a:ext cx="3600953" cy="5611008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81E292DC-003F-E3C9-AF63-610B23A5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 </a:t>
            </a:r>
            <a:r>
              <a:rPr lang="ko-KR" altLang="en-US" dirty="0"/>
              <a:t>완료문서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21EE402-B8DE-CF65-FD46-F624EA84D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435676"/>
              </p:ext>
            </p:extLst>
          </p:nvPr>
        </p:nvGraphicFramePr>
        <p:xfrm>
          <a:off x="6724940" y="836712"/>
          <a:ext cx="3035919" cy="189504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완료된 전자결재 보기 화면으로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완료된 문서는 전반적인 결재 진행상황에 대해 확인 할 수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또한 타 시스템으로 이관 및 전달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가능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기능 버튼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+mn-ea"/>
                        </a:rPr>
                        <a:t>2.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추가 기능 버튼 영역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결재현항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(#8.3)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조회할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60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재사용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본문 및 결재선을 재사용하여 작성화면으로 전환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111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현재 문서를 인쇄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119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양식도움말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결재양식에 설정된 도움말이 있는 경우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버튼이 표시되며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결재양식의 도움말을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10078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444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3CB7BE-AEDF-2996-8DC5-F8E979B057CF}"/>
              </a:ext>
            </a:extLst>
          </p:cNvPr>
          <p:cNvSpPr txBox="1"/>
          <p:nvPr/>
        </p:nvSpPr>
        <p:spPr>
          <a:xfrm>
            <a:off x="1661887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12">
            <a:extLst>
              <a:ext uri="{FF2B5EF4-FFF2-40B4-BE49-F238E27FC236}">
                <a16:creationId xmlns:a16="http://schemas.microsoft.com/office/drawing/2014/main" id="{C4BE41A3-6D86-C71F-809C-D0DA2B0F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344" y="1226851"/>
            <a:ext cx="255983" cy="139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7A026-845D-6C0C-2FC1-28A969A123CD}"/>
              </a:ext>
            </a:extLst>
          </p:cNvPr>
          <p:cNvSpPr txBox="1"/>
          <p:nvPr/>
        </p:nvSpPr>
        <p:spPr>
          <a:xfrm>
            <a:off x="1920127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3DC55-8B7A-1531-F445-1518BBFB674F}"/>
              </a:ext>
            </a:extLst>
          </p:cNvPr>
          <p:cNvSpPr txBox="1"/>
          <p:nvPr/>
        </p:nvSpPr>
        <p:spPr>
          <a:xfrm>
            <a:off x="2192907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DAE695-04CD-D4D3-C672-A3909A02DF6B}"/>
              </a:ext>
            </a:extLst>
          </p:cNvPr>
          <p:cNvSpPr txBox="1"/>
          <p:nvPr/>
        </p:nvSpPr>
        <p:spPr>
          <a:xfrm>
            <a:off x="2461877" y="11317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C7EAA025-0CA7-384B-E457-B0880BF396B9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1236336" y="1401869"/>
            <a:ext cx="580030" cy="50997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직사각형 12">
            <a:extLst>
              <a:ext uri="{FF2B5EF4-FFF2-40B4-BE49-F238E27FC236}">
                <a16:creationId xmlns:a16="http://schemas.microsoft.com/office/drawing/2014/main" id="{879D5E44-5F10-B70C-3075-210F4D3CF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857" y="1226851"/>
            <a:ext cx="300701" cy="139988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401ADC2D-CF8C-7E45-07E0-23615954C230}"/>
              </a:ext>
            </a:extLst>
          </p:cNvPr>
          <p:cNvCxnSpPr>
            <a:cxnSpLocks/>
            <a:stCxn id="65" idx="2"/>
            <a:endCxn id="24" idx="0"/>
          </p:cNvCxnSpPr>
          <p:nvPr/>
        </p:nvCxnSpPr>
        <p:spPr>
          <a:xfrm rot="16200000" flipH="1">
            <a:off x="1577692" y="2399354"/>
            <a:ext cx="2110874" cy="45843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B226FE6B-12B4-0093-9FE7-1CCBB2E31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8" y="1946869"/>
            <a:ext cx="2085975" cy="102584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CC75A53-CDF3-2C6E-C1EC-5AFF6EEE5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400" y="3477713"/>
            <a:ext cx="1683302" cy="113458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672306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9A3C-6920-2A8D-DE7B-06DC0AFA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806C394-A6F0-ABFE-D970-4EF68FA5F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2014066"/>
            <a:ext cx="3600953" cy="44392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CBE762-FB14-A87C-1677-AFF35B6F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585" y="837054"/>
            <a:ext cx="1548765" cy="161734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58E51492-6397-2D21-9112-00AFB5D0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7.2. </a:t>
            </a:r>
            <a:r>
              <a:rPr lang="ko-KR" altLang="en-US" dirty="0"/>
              <a:t>완료문서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B814296-07BD-054F-C625-B407F0D27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870179"/>
              </p:ext>
            </p:extLst>
          </p:nvPr>
        </p:nvGraphicFramePr>
        <p:xfrm>
          <a:off x="6724940" y="836712"/>
          <a:ext cx="3035919" cy="328032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완료된 전자결재 보기 화면으로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완료된 문서는 전반적인 결재 진행상황에 대해 확인 할 수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또한 타 시스템으로 이관 및 전달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가능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1.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기능 버튼 영역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+mn-ea"/>
                        </a:rPr>
                        <a:t>2.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추가 기능 버튼 영역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히스티리보기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결재문서에 편집된 내역을 확인하고 비교할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85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수신현황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수신처 접수 여부를 확인 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23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회람현황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 여부를 확인 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회람할 사용자를 선택할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의견보기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현재 결재문서에 의견을 확인 할 수 있는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추가의견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된 결재문서에 의견을 추가 할 수 잇는 팝업 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메일보내기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보내기 위한 팝업 표시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작성화면에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pdf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 변환하여 첨부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122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결재문서를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pdf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파일로 다운로드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9113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44472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75B1AA73-6532-2726-0F0A-AB1FCA580FB6}"/>
              </a:ext>
            </a:extLst>
          </p:cNvPr>
          <p:cNvSpPr txBox="1"/>
          <p:nvPr/>
        </p:nvSpPr>
        <p:spPr>
          <a:xfrm>
            <a:off x="3956688" y="2454399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9BFB27-704A-9C5A-B1B1-4E1DC39E8CEB}"/>
              </a:ext>
            </a:extLst>
          </p:cNvPr>
          <p:cNvSpPr txBox="1"/>
          <p:nvPr/>
        </p:nvSpPr>
        <p:spPr>
          <a:xfrm>
            <a:off x="4088001" y="267367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1E49DC05-8026-2FD9-443D-1BC25CE693F1}"/>
              </a:ext>
            </a:extLst>
          </p:cNvPr>
          <p:cNvCxnSpPr>
            <a:cxnSpLocks/>
            <a:stCxn id="19" idx="2"/>
            <a:endCxn id="58" idx="0"/>
          </p:cNvCxnSpPr>
          <p:nvPr/>
        </p:nvCxnSpPr>
        <p:spPr>
          <a:xfrm rot="16200000" flipH="1">
            <a:off x="5178288" y="2279401"/>
            <a:ext cx="268896" cy="1086448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12">
            <a:extLst>
              <a:ext uri="{FF2B5EF4-FFF2-40B4-BE49-F238E27FC236}">
                <a16:creationId xmlns:a16="http://schemas.microsoft.com/office/drawing/2014/main" id="{B24B4457-A052-BDB6-F764-5FE81A20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253" y="2552952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F654C392-571A-EF27-E54B-D84191FA87D0}"/>
              </a:ext>
            </a:extLst>
          </p:cNvPr>
          <p:cNvCxnSpPr>
            <a:cxnSpLocks/>
            <a:stCxn id="73" idx="2"/>
            <a:endCxn id="51" idx="0"/>
          </p:cNvCxnSpPr>
          <p:nvPr/>
        </p:nvCxnSpPr>
        <p:spPr>
          <a:xfrm rot="16200000" flipH="1">
            <a:off x="3678033" y="3479577"/>
            <a:ext cx="1917943" cy="335144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그림 50">
            <a:extLst>
              <a:ext uri="{FF2B5EF4-FFF2-40B4-BE49-F238E27FC236}">
                <a16:creationId xmlns:a16="http://schemas.microsoft.com/office/drawing/2014/main" id="{6C3A2792-2C11-47BA-2E79-C7129ED50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108" y="4606121"/>
            <a:ext cx="2908935" cy="186023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1E4CB94-7088-885D-97A9-97EB76815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330" y="2957073"/>
            <a:ext cx="1523260" cy="1551839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2C7AE98-62E9-9FAA-A4F8-4CA0809EAC33}"/>
              </a:ext>
            </a:extLst>
          </p:cNvPr>
          <p:cNvSpPr txBox="1"/>
          <p:nvPr/>
        </p:nvSpPr>
        <p:spPr>
          <a:xfrm>
            <a:off x="4242090" y="2454399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6B4412-AE7E-06BE-908F-E4659AC8EC3B}"/>
              </a:ext>
            </a:extLst>
          </p:cNvPr>
          <p:cNvSpPr txBox="1"/>
          <p:nvPr/>
        </p:nvSpPr>
        <p:spPr>
          <a:xfrm>
            <a:off x="4528511" y="2454399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2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A76B7F-D72E-33BB-6983-4D1C68B9C92B}"/>
              </a:ext>
            </a:extLst>
          </p:cNvPr>
          <p:cNvSpPr txBox="1"/>
          <p:nvPr/>
        </p:nvSpPr>
        <p:spPr>
          <a:xfrm>
            <a:off x="4385705" y="267367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2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7C4F7C-D96C-CEF1-ADA9-4B5C617F4434}"/>
              </a:ext>
            </a:extLst>
          </p:cNvPr>
          <p:cNvSpPr txBox="1"/>
          <p:nvPr/>
        </p:nvSpPr>
        <p:spPr>
          <a:xfrm>
            <a:off x="4694065" y="267367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2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D843AD-AD04-165B-0B4F-1E981E7B5052}"/>
              </a:ext>
            </a:extLst>
          </p:cNvPr>
          <p:cNvSpPr txBox="1"/>
          <p:nvPr/>
        </p:nvSpPr>
        <p:spPr>
          <a:xfrm>
            <a:off x="4829442" y="2454399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2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C05B68-04F4-8023-2DC7-182BA7B55936}"/>
              </a:ext>
            </a:extLst>
          </p:cNvPr>
          <p:cNvSpPr txBox="1"/>
          <p:nvPr/>
        </p:nvSpPr>
        <p:spPr>
          <a:xfrm>
            <a:off x="4994996" y="267367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2</a:t>
            </a:r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-8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12">
            <a:extLst>
              <a:ext uri="{FF2B5EF4-FFF2-40B4-BE49-F238E27FC236}">
                <a16:creationId xmlns:a16="http://schemas.microsoft.com/office/drawing/2014/main" id="{89641570-1490-CC25-A82F-59722042A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294" y="2556756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22449EC-A6D9-3BC0-C282-6F3CD16816FB}"/>
              </a:ext>
            </a:extLst>
          </p:cNvPr>
          <p:cNvCxnSpPr>
            <a:cxnSpLocks/>
            <a:stCxn id="3" idx="0"/>
            <a:endCxn id="11" idx="1"/>
          </p:cNvCxnSpPr>
          <p:nvPr/>
        </p:nvCxnSpPr>
        <p:spPr>
          <a:xfrm rot="5400000" flipH="1" flipV="1">
            <a:off x="4384515" y="1880686"/>
            <a:ext cx="911029" cy="441112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1D9B1A-16A8-7548-727E-A950C1AA7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130" y="2557140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9A66B5D-E2A5-92F7-C15B-7AFF55531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22" y="4222246"/>
            <a:ext cx="2423160" cy="221170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BC19139-21BE-6CB6-027B-62680E850308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5400000">
            <a:off x="2195866" y="2398803"/>
            <a:ext cx="1529880" cy="2117007"/>
          </a:xfrm>
          <a:prstGeom prst="bentConnector3">
            <a:avLst>
              <a:gd name="adj1" fmla="val 82375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4C11E9-27DD-E482-5B7D-00FF6343A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171" y="2557140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476B4FF-D4B5-BCA4-8253-54C1C23B5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64" y="2512307"/>
            <a:ext cx="2920773" cy="132606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57D8CF7-C75F-928F-F101-D4F821D132C7}"/>
              </a:ext>
            </a:extLst>
          </p:cNvPr>
          <p:cNvCxnSpPr>
            <a:cxnSpLocks/>
            <a:stCxn id="21" idx="0"/>
            <a:endCxn id="25" idx="0"/>
          </p:cNvCxnSpPr>
          <p:nvPr/>
        </p:nvCxnSpPr>
        <p:spPr>
          <a:xfrm rot="16200000" flipV="1">
            <a:off x="2853835" y="1241624"/>
            <a:ext cx="44833" cy="2586199"/>
          </a:xfrm>
          <a:prstGeom prst="bentConnector3">
            <a:avLst>
              <a:gd name="adj1" fmla="val 609892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26670A40-059E-6925-C5F1-79084EEE8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60" y="836712"/>
            <a:ext cx="2937920" cy="1340355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788EE4F7-A88B-2401-398F-F1DC3ECB7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212" y="2557140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C92D9E0A-92D2-8604-70C8-DE7F68BB7101}"/>
              </a:ext>
            </a:extLst>
          </p:cNvPr>
          <p:cNvCxnSpPr>
            <a:cxnSpLocks/>
            <a:stCxn id="85" idx="0"/>
            <a:endCxn id="41" idx="3"/>
          </p:cNvCxnSpPr>
          <p:nvPr/>
        </p:nvCxnSpPr>
        <p:spPr>
          <a:xfrm rot="16200000" flipV="1">
            <a:off x="3163561" y="1401309"/>
            <a:ext cx="1050250" cy="1261411"/>
          </a:xfrm>
          <a:prstGeom prst="bentConnector2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2">
            <a:extLst>
              <a:ext uri="{FF2B5EF4-FFF2-40B4-BE49-F238E27FC236}">
                <a16:creationId xmlns:a16="http://schemas.microsoft.com/office/drawing/2014/main" id="{5E9CD59A-DF34-1DE3-4142-92A42807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33" y="2552951"/>
            <a:ext cx="128358" cy="135226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971790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3E89B-F4EA-3677-844D-262303B4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기타 기능</a:t>
            </a:r>
          </a:p>
        </p:txBody>
      </p:sp>
    </p:spTree>
    <p:extLst>
      <p:ext uri="{BB962C8B-B14F-4D97-AF65-F5344CB8AC3E}">
        <p14:creationId xmlns:p14="http://schemas.microsoft.com/office/powerpoint/2010/main" val="1307633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3D99-8613-8D7D-84C4-A46AAAF5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D1F2CA-D113-A895-5831-689907055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47" y="2244211"/>
            <a:ext cx="6108283" cy="42811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3B6F17BC-5867-5983-76CA-98EEE551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 </a:t>
            </a:r>
            <a:r>
              <a:rPr lang="ko-KR" altLang="en-US" dirty="0" err="1"/>
              <a:t>담당업무함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F2467-28A8-162C-9F5A-DF17FD9A439A}"/>
              </a:ext>
            </a:extLst>
          </p:cNvPr>
          <p:cNvSpPr txBox="1"/>
          <p:nvPr/>
        </p:nvSpPr>
        <p:spPr>
          <a:xfrm>
            <a:off x="4304928" y="206891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2EEB49-F393-8AA0-EA9C-4D8A6170A135}"/>
              </a:ext>
            </a:extLst>
          </p:cNvPr>
          <p:cNvSpPr/>
          <p:nvPr/>
        </p:nvSpPr>
        <p:spPr bwMode="auto">
          <a:xfrm>
            <a:off x="5822324" y="2261278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983E884-373D-ECBE-8ABF-2AB1BA047CF8}"/>
              </a:ext>
            </a:extLst>
          </p:cNvPr>
          <p:cNvSpPr/>
          <p:nvPr/>
        </p:nvSpPr>
        <p:spPr bwMode="auto">
          <a:xfrm>
            <a:off x="416496" y="4354872"/>
            <a:ext cx="2736304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2D2217-BE81-1976-485A-67AD78174BE3}"/>
              </a:ext>
            </a:extLst>
          </p:cNvPr>
          <p:cNvSpPr txBox="1"/>
          <p:nvPr/>
        </p:nvSpPr>
        <p:spPr>
          <a:xfrm>
            <a:off x="5784224" y="208520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07DF9-2890-BED1-35CA-07735627D390}"/>
              </a:ext>
            </a:extLst>
          </p:cNvPr>
          <p:cNvSpPr txBox="1"/>
          <p:nvPr/>
        </p:nvSpPr>
        <p:spPr>
          <a:xfrm>
            <a:off x="233661" y="257421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AF26AF-83A4-B3D2-67B6-B279B006EF6A}"/>
              </a:ext>
            </a:extLst>
          </p:cNvPr>
          <p:cNvSpPr txBox="1"/>
          <p:nvPr/>
        </p:nvSpPr>
        <p:spPr>
          <a:xfrm>
            <a:off x="261095" y="287383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B19DEC-2887-4776-5FA2-284F5B14E4A4}"/>
              </a:ext>
            </a:extLst>
          </p:cNvPr>
          <p:cNvSpPr txBox="1"/>
          <p:nvPr/>
        </p:nvSpPr>
        <p:spPr>
          <a:xfrm>
            <a:off x="163504" y="322772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F98CF-95AA-0390-8984-A3117BF83BCC}"/>
              </a:ext>
            </a:extLst>
          </p:cNvPr>
          <p:cNvSpPr txBox="1"/>
          <p:nvPr/>
        </p:nvSpPr>
        <p:spPr>
          <a:xfrm>
            <a:off x="200472" y="377133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73D304-6326-7DCF-E2D0-348FF567F4B7}"/>
              </a:ext>
            </a:extLst>
          </p:cNvPr>
          <p:cNvSpPr/>
          <p:nvPr/>
        </p:nvSpPr>
        <p:spPr bwMode="auto">
          <a:xfrm>
            <a:off x="1017453" y="4013049"/>
            <a:ext cx="167887" cy="1884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86807A-D658-2A46-F53A-D93070ED2C42}"/>
              </a:ext>
            </a:extLst>
          </p:cNvPr>
          <p:cNvSpPr txBox="1"/>
          <p:nvPr/>
        </p:nvSpPr>
        <p:spPr>
          <a:xfrm>
            <a:off x="344488" y="422108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2AD2F64-D136-4199-B7F9-7D1E3D9245A5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rot="16200000" flipV="1">
            <a:off x="5000971" y="1209984"/>
            <a:ext cx="651707" cy="1450881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2F4D41B-EEFF-6287-4194-7505A72040CF}"/>
              </a:ext>
            </a:extLst>
          </p:cNvPr>
          <p:cNvSpPr/>
          <p:nvPr/>
        </p:nvSpPr>
        <p:spPr bwMode="auto">
          <a:xfrm>
            <a:off x="6029791" y="3010025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A034F-C884-C449-1E4C-45E8240CDBB5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AA6CF5-317E-6187-3996-35B3EC16D127}"/>
              </a:ext>
            </a:extLst>
          </p:cNvPr>
          <p:cNvSpPr txBox="1"/>
          <p:nvPr/>
        </p:nvSpPr>
        <p:spPr>
          <a:xfrm>
            <a:off x="5695305" y="28703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E081D-EDE3-90C6-0B43-FA3977BAAAFD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53CDDCAD-B660-F43D-55FC-2E6F76531DFA}"/>
              </a:ext>
            </a:extLst>
          </p:cNvPr>
          <p:cNvCxnSpPr>
            <a:cxnSpLocks/>
            <a:stCxn id="32" idx="3"/>
            <a:endCxn id="24" idx="3"/>
          </p:cNvCxnSpPr>
          <p:nvPr/>
        </p:nvCxnSpPr>
        <p:spPr>
          <a:xfrm flipV="1">
            <a:off x="6272678" y="1366649"/>
            <a:ext cx="99808" cy="1765029"/>
          </a:xfrm>
          <a:prstGeom prst="bentConnector3">
            <a:avLst>
              <a:gd name="adj1" fmla="val 32904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577AEA1-7117-A8B2-8A6A-6DD62F3F03F4}"/>
              </a:ext>
            </a:extLst>
          </p:cNvPr>
          <p:cNvSpPr txBox="1"/>
          <p:nvPr/>
        </p:nvSpPr>
        <p:spPr>
          <a:xfrm>
            <a:off x="5967196" y="28703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D6C86E3-41FB-BD91-6B49-B14423233D02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1366338" y="3936562"/>
            <a:ext cx="153368" cy="683251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B34E550-F72A-5387-FCB8-D25FAFA346B4}"/>
              </a:ext>
            </a:extLst>
          </p:cNvPr>
          <p:cNvSpPr txBox="1"/>
          <p:nvPr/>
        </p:nvSpPr>
        <p:spPr>
          <a:xfrm>
            <a:off x="807406" y="2873831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4-2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BEE4B6D-544B-EF78-D8E9-6E84961CE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355041"/>
              </p:ext>
            </p:extLst>
          </p:nvPr>
        </p:nvGraphicFramePr>
        <p:xfrm>
          <a:off x="6724940" y="836712"/>
          <a:ext cx="3035919" cy="477492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관리자에 의해 관리되는 담당업무에 대하여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담당업무 사용자로 지정된 사용자에게 표시되며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해당 업무를 관리 할 수 있도록 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담당업무로 지정 된 목록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59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 미결 중인 결재함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 진행 중인 결재함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74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 완료된 결재함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47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담당업무 반려된 결재함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9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결재할 문서를 복수로 선택하여 일괄적으로 결재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8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81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소속부서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8136CDC-7613-21D6-FD08-11E2BEE45753}"/>
              </a:ext>
            </a:extLst>
          </p:cNvPr>
          <p:cNvSpPr/>
          <p:nvPr/>
        </p:nvSpPr>
        <p:spPr bwMode="auto">
          <a:xfrm>
            <a:off x="312529" y="3926384"/>
            <a:ext cx="5934917" cy="3667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644C49-23F8-9BA6-459E-18ECE4B82ECF}"/>
              </a:ext>
            </a:extLst>
          </p:cNvPr>
          <p:cNvSpPr txBox="1"/>
          <p:nvPr/>
        </p:nvSpPr>
        <p:spPr>
          <a:xfrm>
            <a:off x="823006" y="3880194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BAD2D4-8B93-129F-93A8-262288624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974" y="1047517"/>
            <a:ext cx="1290818" cy="56205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49B5661-1849-0635-CEAE-0FF69E74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168" y="1047517"/>
            <a:ext cx="1019318" cy="63826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D28B73-D204-FE09-BA4B-20AB5FDED908}"/>
              </a:ext>
            </a:extLst>
          </p:cNvPr>
          <p:cNvSpPr txBox="1"/>
          <p:nvPr/>
        </p:nvSpPr>
        <p:spPr>
          <a:xfrm>
            <a:off x="904981" y="208520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B17F5C-AFFA-97A8-F389-6DF2222248FB}"/>
              </a:ext>
            </a:extLst>
          </p:cNvPr>
          <p:cNvSpPr txBox="1"/>
          <p:nvPr/>
        </p:nvSpPr>
        <p:spPr>
          <a:xfrm>
            <a:off x="709986" y="257421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DEF344-BD58-9546-B1C6-6423202B8370}"/>
              </a:ext>
            </a:extLst>
          </p:cNvPr>
          <p:cNvSpPr txBox="1"/>
          <p:nvPr/>
        </p:nvSpPr>
        <p:spPr>
          <a:xfrm>
            <a:off x="1194000" y="257421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81753E-ABEB-8CF3-068A-C42BCAB7FA1C}"/>
              </a:ext>
            </a:extLst>
          </p:cNvPr>
          <p:cNvSpPr txBox="1"/>
          <p:nvPr/>
        </p:nvSpPr>
        <p:spPr>
          <a:xfrm>
            <a:off x="1664140" y="257421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D817D2-268C-16ED-75DB-A54F8994B304}"/>
              </a:ext>
            </a:extLst>
          </p:cNvPr>
          <p:cNvSpPr txBox="1"/>
          <p:nvPr/>
        </p:nvSpPr>
        <p:spPr>
          <a:xfrm>
            <a:off x="4979614" y="28703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65173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E8F6-0442-29B4-31C3-46C0132E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25274A-3EEC-9486-335C-56E20948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80"/>
          <a:stretch/>
        </p:blipFill>
        <p:spPr>
          <a:xfrm>
            <a:off x="248097" y="2244211"/>
            <a:ext cx="6088277" cy="42091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BD91ABBE-6931-F549-41A5-D5CFF8D7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 </a:t>
            </a:r>
            <a:r>
              <a:rPr lang="ko-KR" altLang="en-US" dirty="0" err="1"/>
              <a:t>업무문서함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6E57C-4933-D5DD-0E27-1F01C828A32A}"/>
              </a:ext>
            </a:extLst>
          </p:cNvPr>
          <p:cNvSpPr txBox="1"/>
          <p:nvPr/>
        </p:nvSpPr>
        <p:spPr>
          <a:xfrm>
            <a:off x="4304928" y="206891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8F9CBD-EDD0-2F1B-D388-83AE713A3B8A}"/>
              </a:ext>
            </a:extLst>
          </p:cNvPr>
          <p:cNvSpPr/>
          <p:nvPr/>
        </p:nvSpPr>
        <p:spPr bwMode="auto">
          <a:xfrm>
            <a:off x="5822324" y="2261278"/>
            <a:ext cx="459879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D13F7D-568C-7910-71CF-26EA36C00435}"/>
              </a:ext>
            </a:extLst>
          </p:cNvPr>
          <p:cNvSpPr/>
          <p:nvPr/>
        </p:nvSpPr>
        <p:spPr bwMode="auto">
          <a:xfrm>
            <a:off x="416496" y="4354872"/>
            <a:ext cx="5830950" cy="12343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64FA1-8D63-AF83-C237-65E97650386E}"/>
              </a:ext>
            </a:extLst>
          </p:cNvPr>
          <p:cNvSpPr txBox="1"/>
          <p:nvPr/>
        </p:nvSpPr>
        <p:spPr>
          <a:xfrm>
            <a:off x="5784224" y="2085206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8385A6-9D7F-92D8-627A-8D201B461704}"/>
              </a:ext>
            </a:extLst>
          </p:cNvPr>
          <p:cNvSpPr txBox="1"/>
          <p:nvPr/>
        </p:nvSpPr>
        <p:spPr>
          <a:xfrm>
            <a:off x="233661" y="257421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F3E4F-54D7-955A-4BAB-525E0A64F706}"/>
              </a:ext>
            </a:extLst>
          </p:cNvPr>
          <p:cNvSpPr txBox="1"/>
          <p:nvPr/>
        </p:nvSpPr>
        <p:spPr>
          <a:xfrm>
            <a:off x="261095" y="287383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67B140-CDBD-4677-30CA-155260E9F22D}"/>
              </a:ext>
            </a:extLst>
          </p:cNvPr>
          <p:cNvSpPr txBox="1"/>
          <p:nvPr/>
        </p:nvSpPr>
        <p:spPr>
          <a:xfrm>
            <a:off x="163504" y="3227720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#8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97CE4C-8844-6F84-2CF1-FC8C9EA53108}"/>
              </a:ext>
            </a:extLst>
          </p:cNvPr>
          <p:cNvSpPr txBox="1"/>
          <p:nvPr/>
        </p:nvSpPr>
        <p:spPr>
          <a:xfrm>
            <a:off x="200472" y="3771339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#9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8A08C8-BF1D-EF16-9E00-3EEAB44914BF}"/>
              </a:ext>
            </a:extLst>
          </p:cNvPr>
          <p:cNvSpPr/>
          <p:nvPr/>
        </p:nvSpPr>
        <p:spPr bwMode="auto">
          <a:xfrm>
            <a:off x="1017453" y="4013049"/>
            <a:ext cx="167887" cy="18845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C9FC7B-9640-A7E7-F712-E10F14594D5A}"/>
              </a:ext>
            </a:extLst>
          </p:cNvPr>
          <p:cNvSpPr txBox="1"/>
          <p:nvPr/>
        </p:nvSpPr>
        <p:spPr>
          <a:xfrm>
            <a:off x="344488" y="422108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4AB0061-A8BB-CBC6-EAFE-D4456E3949DD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rot="16200000" flipV="1">
            <a:off x="5000971" y="1209984"/>
            <a:ext cx="651707" cy="1450881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A8C19E0-A43A-3A2F-BD20-9D324BD6F3DB}"/>
              </a:ext>
            </a:extLst>
          </p:cNvPr>
          <p:cNvSpPr/>
          <p:nvPr/>
        </p:nvSpPr>
        <p:spPr bwMode="auto">
          <a:xfrm>
            <a:off x="6029791" y="3010025"/>
            <a:ext cx="242887" cy="24330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972175-7593-BA63-C42A-D38D38CE2BC4}"/>
              </a:ext>
            </a:extLst>
          </p:cNvPr>
          <p:cNvSpPr txBox="1"/>
          <p:nvPr/>
        </p:nvSpPr>
        <p:spPr>
          <a:xfrm>
            <a:off x="5307299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7E40A-6E46-A0D1-E999-5A32568653B6}"/>
              </a:ext>
            </a:extLst>
          </p:cNvPr>
          <p:cNvSpPr txBox="1"/>
          <p:nvPr/>
        </p:nvSpPr>
        <p:spPr>
          <a:xfrm>
            <a:off x="5695305" y="28703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</a:t>
            </a:r>
            <a:r>
              <a:rPr lang="en-US" altLang="ko-KR" sz="700" dirty="0">
                <a:solidFill>
                  <a:srgbClr val="FF0000"/>
                </a:solidFill>
                <a:ea typeface="맑은 고딕" pitchFamily="50" charset="-127"/>
              </a:rPr>
              <a:t>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1E8D4-B39E-689C-1F52-676DB6A6E965}"/>
              </a:ext>
            </a:extLst>
          </p:cNvPr>
          <p:cNvSpPr txBox="1"/>
          <p:nvPr/>
        </p:nvSpPr>
        <p:spPr>
          <a:xfrm>
            <a:off x="3875803" y="847463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9F3876C-FF08-7ECF-C2E4-1D3323A0DDFA}"/>
              </a:ext>
            </a:extLst>
          </p:cNvPr>
          <p:cNvCxnSpPr>
            <a:cxnSpLocks/>
            <a:stCxn id="32" idx="3"/>
            <a:endCxn id="24" idx="3"/>
          </p:cNvCxnSpPr>
          <p:nvPr/>
        </p:nvCxnSpPr>
        <p:spPr>
          <a:xfrm flipV="1">
            <a:off x="6272678" y="1366649"/>
            <a:ext cx="99808" cy="1765029"/>
          </a:xfrm>
          <a:prstGeom prst="bentConnector3">
            <a:avLst>
              <a:gd name="adj1" fmla="val 32904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34CD9C3-3F76-7125-3008-933BFC6E80A1}"/>
              </a:ext>
            </a:extLst>
          </p:cNvPr>
          <p:cNvSpPr txBox="1"/>
          <p:nvPr/>
        </p:nvSpPr>
        <p:spPr>
          <a:xfrm>
            <a:off x="5967196" y="28703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#7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617F0A3-A9F6-B666-79E3-BF602A98594A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16200000" flipH="1">
            <a:off x="2140000" y="3162901"/>
            <a:ext cx="153368" cy="2230574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17612B1-F737-1DDD-4ADA-AD7DBC9E1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729700"/>
              </p:ext>
            </p:extLst>
          </p:nvPr>
        </p:nvGraphicFramePr>
        <p:xfrm>
          <a:off x="6724940" y="836712"/>
          <a:ext cx="3035919" cy="431508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관리자에 의해 관리되는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업무문서함에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대하여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업무문서함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사용자로 지정된 사용자에게 표시되며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해당 업무를 관리 할 수 있도록 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업무문서함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59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가능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43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상세 검색 가능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검색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 중인 업무 결재함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74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완료된 업무 결재함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47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선택된 문서함의 검색 조건에 맞는 전체 페이지 목록을 엑셀로 저장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보기 필터링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기안부서별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양식별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81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목록을 새로 고침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2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 보기 상세 설정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목록개수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대상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유형에 대한 보기 설정 가능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85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결재함 목록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결재문서 정보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의견유무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수정유무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01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문서 긴급여부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소속부서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기안일시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양식명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 본문 새 창으로 팝업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74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기안자 클릭 시 결재 상세 보기가 나타남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현재 결재 문서의 진행 상태를 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 목록 표시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 표시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7494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82986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C9A73529-B605-15C7-067C-04531766FA0A}"/>
              </a:ext>
            </a:extLst>
          </p:cNvPr>
          <p:cNvSpPr/>
          <p:nvPr/>
        </p:nvSpPr>
        <p:spPr bwMode="auto">
          <a:xfrm>
            <a:off x="312529" y="3926384"/>
            <a:ext cx="5934917" cy="36671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6D39FB-5A79-C206-CE05-B6C09117EBCC}"/>
              </a:ext>
            </a:extLst>
          </p:cNvPr>
          <p:cNvSpPr txBox="1"/>
          <p:nvPr/>
        </p:nvSpPr>
        <p:spPr>
          <a:xfrm>
            <a:off x="823006" y="3880194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#10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43F727-DEE3-40F8-A0A2-BA87AAA0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974" y="1047517"/>
            <a:ext cx="1290818" cy="56205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069C2BC-1C47-3CB8-1577-0FF9CAD8C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168" y="1047517"/>
            <a:ext cx="1019318" cy="63826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B705DDF-E29C-5891-4E1F-6AE96DE17931}"/>
              </a:ext>
            </a:extLst>
          </p:cNvPr>
          <p:cNvSpPr txBox="1"/>
          <p:nvPr/>
        </p:nvSpPr>
        <p:spPr>
          <a:xfrm>
            <a:off x="904981" y="2085205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6629EC-EE29-2846-342F-EE6860D0454C}"/>
              </a:ext>
            </a:extLst>
          </p:cNvPr>
          <p:cNvSpPr txBox="1"/>
          <p:nvPr/>
        </p:nvSpPr>
        <p:spPr>
          <a:xfrm>
            <a:off x="709986" y="2574217"/>
            <a:ext cx="3754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#3-2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282573-EA5C-2A6B-5CE5-7D62EB6598D0}"/>
              </a:ext>
            </a:extLst>
          </p:cNvPr>
          <p:cNvSpPr txBox="1"/>
          <p:nvPr/>
        </p:nvSpPr>
        <p:spPr>
          <a:xfrm>
            <a:off x="4979614" y="2870311"/>
            <a:ext cx="288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875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D710-6243-8044-584A-F17E7C64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817E6620-D3E7-7118-BD46-9B72A94C9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76" b="30901"/>
          <a:stretch/>
        </p:blipFill>
        <p:spPr>
          <a:xfrm>
            <a:off x="126919" y="867071"/>
            <a:ext cx="6108283" cy="275924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4D79EC-8023-DB70-369C-2F5B93C4CA1E}"/>
              </a:ext>
            </a:extLst>
          </p:cNvPr>
          <p:cNvSpPr/>
          <p:nvPr/>
        </p:nvSpPr>
        <p:spPr>
          <a:xfrm>
            <a:off x="200472" y="1412776"/>
            <a:ext cx="5832648" cy="1728192"/>
          </a:xfrm>
          <a:prstGeom prst="rect">
            <a:avLst/>
          </a:prstGeom>
          <a:solidFill>
            <a:srgbClr val="FF0000">
              <a:alpha val="30000"/>
            </a:srgbClr>
          </a:solidFill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순서도: 수동 입력 31">
            <a:extLst>
              <a:ext uri="{FF2B5EF4-FFF2-40B4-BE49-F238E27FC236}">
                <a16:creationId xmlns:a16="http://schemas.microsoft.com/office/drawing/2014/main" id="{9A9C0CF2-8977-FC3C-1728-27AC39CEC199}"/>
              </a:ext>
            </a:extLst>
          </p:cNvPr>
          <p:cNvSpPr/>
          <p:nvPr/>
        </p:nvSpPr>
        <p:spPr>
          <a:xfrm flipV="1">
            <a:off x="568132" y="1870100"/>
            <a:ext cx="281880" cy="460381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158 w 10000"/>
              <a:gd name="connsiteY3" fmla="*/ 7779 h 10000"/>
              <a:gd name="connsiteX4" fmla="*/ 0 w 10000"/>
              <a:gd name="connsiteY4" fmla="*/ 2000 h 10000"/>
              <a:gd name="connsiteX0" fmla="*/ 0 w 10823"/>
              <a:gd name="connsiteY0" fmla="*/ 6014 h 10000"/>
              <a:gd name="connsiteX1" fmla="*/ 10823 w 10823"/>
              <a:gd name="connsiteY1" fmla="*/ 0 h 10000"/>
              <a:gd name="connsiteX2" fmla="*/ 10823 w 10823"/>
              <a:gd name="connsiteY2" fmla="*/ 10000 h 10000"/>
              <a:gd name="connsiteX3" fmla="*/ 981 w 10823"/>
              <a:gd name="connsiteY3" fmla="*/ 7779 h 10000"/>
              <a:gd name="connsiteX4" fmla="*/ 0 w 10823"/>
              <a:gd name="connsiteY4" fmla="*/ 6014 h 10000"/>
              <a:gd name="connsiteX0" fmla="*/ 0 w 10823"/>
              <a:gd name="connsiteY0" fmla="*/ 6014 h 10000"/>
              <a:gd name="connsiteX1" fmla="*/ 10823 w 10823"/>
              <a:gd name="connsiteY1" fmla="*/ 0 h 10000"/>
              <a:gd name="connsiteX2" fmla="*/ 10823 w 10823"/>
              <a:gd name="connsiteY2" fmla="*/ 10000 h 10000"/>
              <a:gd name="connsiteX3" fmla="*/ 393 w 10823"/>
              <a:gd name="connsiteY3" fmla="*/ 8279 h 10000"/>
              <a:gd name="connsiteX4" fmla="*/ 0 w 10823"/>
              <a:gd name="connsiteY4" fmla="*/ 6014 h 10000"/>
              <a:gd name="connsiteX0" fmla="*/ 0 w 10470"/>
              <a:gd name="connsiteY0" fmla="*/ 6636 h 10000"/>
              <a:gd name="connsiteX1" fmla="*/ 10470 w 10470"/>
              <a:gd name="connsiteY1" fmla="*/ 0 h 10000"/>
              <a:gd name="connsiteX2" fmla="*/ 10470 w 10470"/>
              <a:gd name="connsiteY2" fmla="*/ 10000 h 10000"/>
              <a:gd name="connsiteX3" fmla="*/ 40 w 10470"/>
              <a:gd name="connsiteY3" fmla="*/ 8279 h 10000"/>
              <a:gd name="connsiteX4" fmla="*/ 0 w 10470"/>
              <a:gd name="connsiteY4" fmla="*/ 6636 h 10000"/>
              <a:gd name="connsiteX0" fmla="*/ 0 w 10470"/>
              <a:gd name="connsiteY0" fmla="*/ 6636 h 10000"/>
              <a:gd name="connsiteX1" fmla="*/ 10470 w 10470"/>
              <a:gd name="connsiteY1" fmla="*/ 0 h 10000"/>
              <a:gd name="connsiteX2" fmla="*/ 10470 w 10470"/>
              <a:gd name="connsiteY2" fmla="*/ 10000 h 10000"/>
              <a:gd name="connsiteX3" fmla="*/ 213 w 10470"/>
              <a:gd name="connsiteY3" fmla="*/ 9620 h 10000"/>
              <a:gd name="connsiteX4" fmla="*/ 0 w 10470"/>
              <a:gd name="connsiteY4" fmla="*/ 6636 h 10000"/>
              <a:gd name="connsiteX0" fmla="*/ 0 w 10297"/>
              <a:gd name="connsiteY0" fmla="*/ 8225 h 10000"/>
              <a:gd name="connsiteX1" fmla="*/ 10297 w 10297"/>
              <a:gd name="connsiteY1" fmla="*/ 0 h 10000"/>
              <a:gd name="connsiteX2" fmla="*/ 10297 w 10297"/>
              <a:gd name="connsiteY2" fmla="*/ 10000 h 10000"/>
              <a:gd name="connsiteX3" fmla="*/ 40 w 10297"/>
              <a:gd name="connsiteY3" fmla="*/ 9620 h 10000"/>
              <a:gd name="connsiteX4" fmla="*/ 0 w 10297"/>
              <a:gd name="connsiteY4" fmla="*/ 8225 h 10000"/>
              <a:gd name="connsiteX0" fmla="*/ 0 w 10297"/>
              <a:gd name="connsiteY0" fmla="*/ 8225 h 10299"/>
              <a:gd name="connsiteX1" fmla="*/ 10297 w 10297"/>
              <a:gd name="connsiteY1" fmla="*/ 0 h 10299"/>
              <a:gd name="connsiteX2" fmla="*/ 10297 w 10297"/>
              <a:gd name="connsiteY2" fmla="*/ 10000 h 10299"/>
              <a:gd name="connsiteX3" fmla="*/ 386 w 10297"/>
              <a:gd name="connsiteY3" fmla="*/ 10299 h 10299"/>
              <a:gd name="connsiteX4" fmla="*/ 0 w 10297"/>
              <a:gd name="connsiteY4" fmla="*/ 8225 h 10299"/>
              <a:gd name="connsiteX0" fmla="*/ 0 w 10297"/>
              <a:gd name="connsiteY0" fmla="*/ 8225 h 10382"/>
              <a:gd name="connsiteX1" fmla="*/ 10297 w 10297"/>
              <a:gd name="connsiteY1" fmla="*/ 0 h 10382"/>
              <a:gd name="connsiteX2" fmla="*/ 10297 w 10297"/>
              <a:gd name="connsiteY2" fmla="*/ 10000 h 10382"/>
              <a:gd name="connsiteX3" fmla="*/ 40 w 10297"/>
              <a:gd name="connsiteY3" fmla="*/ 10382 h 10382"/>
              <a:gd name="connsiteX4" fmla="*/ 0 w 10297"/>
              <a:gd name="connsiteY4" fmla="*/ 8225 h 10382"/>
              <a:gd name="connsiteX0" fmla="*/ 0 w 10297"/>
              <a:gd name="connsiteY0" fmla="*/ 8225 h 10000"/>
              <a:gd name="connsiteX1" fmla="*/ 10297 w 10297"/>
              <a:gd name="connsiteY1" fmla="*/ 0 h 10000"/>
              <a:gd name="connsiteX2" fmla="*/ 10297 w 10297"/>
              <a:gd name="connsiteY2" fmla="*/ 10000 h 10000"/>
              <a:gd name="connsiteX3" fmla="*/ 311 w 10297"/>
              <a:gd name="connsiteY3" fmla="*/ 9785 h 10000"/>
              <a:gd name="connsiteX4" fmla="*/ 0 w 10297"/>
              <a:gd name="connsiteY4" fmla="*/ 8225 h 10000"/>
              <a:gd name="connsiteX0" fmla="*/ 0 w 10026"/>
              <a:gd name="connsiteY0" fmla="*/ 8192 h 10000"/>
              <a:gd name="connsiteX1" fmla="*/ 10026 w 10026"/>
              <a:gd name="connsiteY1" fmla="*/ 0 h 10000"/>
              <a:gd name="connsiteX2" fmla="*/ 10026 w 10026"/>
              <a:gd name="connsiteY2" fmla="*/ 10000 h 10000"/>
              <a:gd name="connsiteX3" fmla="*/ 40 w 10026"/>
              <a:gd name="connsiteY3" fmla="*/ 9785 h 10000"/>
              <a:gd name="connsiteX4" fmla="*/ 0 w 10026"/>
              <a:gd name="connsiteY4" fmla="*/ 819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6" h="10000">
                <a:moveTo>
                  <a:pt x="0" y="8192"/>
                </a:moveTo>
                <a:lnTo>
                  <a:pt x="10026" y="0"/>
                </a:lnTo>
                <a:lnTo>
                  <a:pt x="10026" y="10000"/>
                </a:lnTo>
                <a:lnTo>
                  <a:pt x="40" y="9785"/>
                </a:lnTo>
                <a:cubicBezTo>
                  <a:pt x="-13" y="7859"/>
                  <a:pt x="53" y="10118"/>
                  <a:pt x="0" y="8192"/>
                </a:cubicBez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E44D9CD-3F8E-7890-4357-D64C5E16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8.4. </a:t>
            </a:r>
            <a:r>
              <a:rPr lang="ko-KR" altLang="en-US" dirty="0"/>
              <a:t>결재현황보기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12A36B7-C98E-B65C-297B-B6CA383B1EE9}"/>
              </a:ext>
            </a:extLst>
          </p:cNvPr>
          <p:cNvGraphicFramePr>
            <a:graphicFrameLocks noGrp="1"/>
          </p:cNvGraphicFramePr>
          <p:nvPr/>
        </p:nvGraphicFramePr>
        <p:xfrm>
          <a:off x="6724940" y="836712"/>
          <a:ext cx="3035919" cy="2770560"/>
        </p:xfrm>
        <a:graphic>
          <a:graphicData uri="http://schemas.openxmlformats.org/drawingml/2006/table">
            <a:tbl>
              <a:tblPr/>
              <a:tblGrid>
                <a:gridCol w="316292">
                  <a:extLst>
                    <a:ext uri="{9D8B030D-6E8A-4147-A177-3AD203B41FA5}">
                      <a16:colId xmlns:a16="http://schemas.microsoft.com/office/drawing/2014/main" val="588665191"/>
                    </a:ext>
                  </a:extLst>
                </a:gridCol>
                <a:gridCol w="2719627">
                  <a:extLst>
                    <a:ext uri="{9D8B030D-6E8A-4147-A177-3AD203B41FA5}">
                      <a16:colId xmlns:a16="http://schemas.microsoft.com/office/drawing/2014/main" val="18543260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결재문서 또는 결재함에서 결재현황을 확인 할 수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그래픽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첨부목록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</a:t>
                      </a:r>
                      <a:endParaRPr lang="ko-KR" altLang="en-US" sz="800" dirty="0">
                        <a:ea typeface="+mn-ea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25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그래프 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 진행상황에 대해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Flow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형태의 이미지화 하여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85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리스트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순번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이름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 상태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종류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결재일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수신일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모바일결재에 대해 진행상황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23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참조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회람함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회람지정자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지정일자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 err="1">
                          <a:latin typeface="맑은 고딕" panose="020B0503020000020004" pitchFamily="50" charset="-127"/>
                          <a:ea typeface="+mn-ea"/>
                        </a:rPr>
                        <a:t>회람자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회람부서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확인일자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의견에 대해 참조</a:t>
                      </a:r>
                      <a:r>
                        <a:rPr lang="en-US" altLang="ko-KR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baseline="0" dirty="0">
                          <a:latin typeface="맑은 고딕" panose="020B0503020000020004" pitchFamily="50" charset="-127"/>
                          <a:ea typeface="+mn-ea"/>
                        </a:rPr>
                        <a:t>회람 현황을 표시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2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첨부목록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순번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파일명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이름에 대해 첨부파일을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mpd="sng">
                      <a:solidFill>
                        <a:srgbClr val="0081E2"/>
                      </a:solidFill>
                      <a:prstDash val="sysDot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9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수신현황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수신처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수신자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접수여부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진행상태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결재결과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접수시간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완료시간에 대해 수신현황을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750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</a:t>
                      </a:r>
                      <a:endParaRPr lang="en-US" altLang="ko-KR" sz="800" b="0" i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이름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+mn-ea"/>
                        </a:rPr>
                        <a:t>읽음확인에 대해 결재문서 읽음 상태를 표시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1320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i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mpd="sng">
                      <a:solidFill>
                        <a:srgbClr val="0081E2"/>
                      </a:solidFill>
                      <a:prstDash val="sysDot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0081E2"/>
                      </a:solidFill>
                      <a:prstDash val="sysDot"/>
                    </a:lnR>
                    <a:lnT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1E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44472"/>
                  </a:ext>
                </a:extLst>
              </a:tr>
            </a:tbl>
          </a:graphicData>
        </a:graphic>
      </p:graphicFrame>
      <p:pic>
        <p:nvPicPr>
          <p:cNvPr id="39" name="그림 38">
            <a:extLst>
              <a:ext uri="{FF2B5EF4-FFF2-40B4-BE49-F238E27FC236}">
                <a16:creationId xmlns:a16="http://schemas.microsoft.com/office/drawing/2014/main" id="{6E39A909-C177-F333-03ED-B9F201CEE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2"/>
          <a:stretch/>
        </p:blipFill>
        <p:spPr>
          <a:xfrm>
            <a:off x="850011" y="1870118"/>
            <a:ext cx="5760748" cy="4553541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0307519-07A1-6F0F-AABA-0F6DDF9951F2}"/>
              </a:ext>
            </a:extLst>
          </p:cNvPr>
          <p:cNvSpPr txBox="1"/>
          <p:nvPr/>
        </p:nvSpPr>
        <p:spPr>
          <a:xfrm>
            <a:off x="920552" y="2034215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#1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39236E-D3CA-51E5-F508-6D918084F81B}"/>
              </a:ext>
            </a:extLst>
          </p:cNvPr>
          <p:cNvSpPr txBox="1"/>
          <p:nvPr/>
        </p:nvSpPr>
        <p:spPr>
          <a:xfrm>
            <a:off x="920552" y="280102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#2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CB7340-2CC0-60E9-CA42-EF6E1BB366FA}"/>
              </a:ext>
            </a:extLst>
          </p:cNvPr>
          <p:cNvSpPr txBox="1"/>
          <p:nvPr/>
        </p:nvSpPr>
        <p:spPr>
          <a:xfrm>
            <a:off x="920552" y="3677002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#3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4F3517-736F-7A76-A395-37EEB99740C6}"/>
              </a:ext>
            </a:extLst>
          </p:cNvPr>
          <p:cNvSpPr txBox="1"/>
          <p:nvPr/>
        </p:nvSpPr>
        <p:spPr>
          <a:xfrm>
            <a:off x="920552" y="4562827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#4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5F5B6F-5987-58CC-4AF0-9436A6188654}"/>
              </a:ext>
            </a:extLst>
          </p:cNvPr>
          <p:cNvSpPr txBox="1"/>
          <p:nvPr/>
        </p:nvSpPr>
        <p:spPr>
          <a:xfrm>
            <a:off x="920552" y="5298633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#5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763BB5-A8C4-8633-DAE8-E55399CD931F}"/>
              </a:ext>
            </a:extLst>
          </p:cNvPr>
          <p:cNvSpPr txBox="1"/>
          <p:nvPr/>
        </p:nvSpPr>
        <p:spPr>
          <a:xfrm>
            <a:off x="920552" y="5841558"/>
            <a:ext cx="1907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700" b="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#6</a:t>
            </a:r>
            <a:endParaRPr lang="ko-KR" altLang="en-US" sz="700" b="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E78FD0-AFE7-33B5-F3C4-65D5DB210CC8}"/>
              </a:ext>
            </a:extLst>
          </p:cNvPr>
          <p:cNvSpPr/>
          <p:nvPr/>
        </p:nvSpPr>
        <p:spPr bwMode="auto">
          <a:xfrm>
            <a:off x="888636" y="1896386"/>
            <a:ext cx="2910248" cy="77823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911A199-069E-57B2-66FD-76B9416EB7B1}"/>
              </a:ext>
            </a:extLst>
          </p:cNvPr>
          <p:cNvSpPr/>
          <p:nvPr/>
        </p:nvSpPr>
        <p:spPr bwMode="auto">
          <a:xfrm>
            <a:off x="888636" y="2700196"/>
            <a:ext cx="5687424" cy="82786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BCBE8F1-2B3E-3A51-2FB1-D15FB231464A}"/>
              </a:ext>
            </a:extLst>
          </p:cNvPr>
          <p:cNvSpPr/>
          <p:nvPr/>
        </p:nvSpPr>
        <p:spPr bwMode="auto">
          <a:xfrm>
            <a:off x="888636" y="3558540"/>
            <a:ext cx="5687424" cy="86868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A10D0CD-2749-C40E-85A4-1F0B9FFAA0B1}"/>
              </a:ext>
            </a:extLst>
          </p:cNvPr>
          <p:cNvSpPr/>
          <p:nvPr/>
        </p:nvSpPr>
        <p:spPr bwMode="auto">
          <a:xfrm>
            <a:off x="888636" y="4467462"/>
            <a:ext cx="5687424" cy="6607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6A8DFD4-D6BA-3DDB-C5E4-7C5E3BD348A8}"/>
              </a:ext>
            </a:extLst>
          </p:cNvPr>
          <p:cNvSpPr/>
          <p:nvPr/>
        </p:nvSpPr>
        <p:spPr bwMode="auto">
          <a:xfrm>
            <a:off x="888636" y="5175822"/>
            <a:ext cx="5687424" cy="5086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028DF10-D26F-5D28-A2AE-064C0372D511}"/>
              </a:ext>
            </a:extLst>
          </p:cNvPr>
          <p:cNvSpPr/>
          <p:nvPr/>
        </p:nvSpPr>
        <p:spPr bwMode="auto">
          <a:xfrm>
            <a:off x="888636" y="5723670"/>
            <a:ext cx="5687424" cy="65765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269205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bb38__xc11c__xc124__xba85_ xmlns="2aae6fcb-43e3-4396-89be-baa0995eb0b9">포탈 UI 설계서</_xbb38__xc11c__xc124__xba85_>
  </documentManagement>
</p:properties>
</file>

<file path=customXml/itemProps1.xml><?xml version="1.0" encoding="utf-8"?>
<ds:datastoreItem xmlns:ds="http://schemas.openxmlformats.org/officeDocument/2006/customXml" ds:itemID="{F618E6D8-3BBC-4A9B-975D-D6E409661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A953BB-DA1D-4820-9803-BA078D4239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C0F584-A722-4840-A616-9AC05F1E7CDF}">
  <ds:schemaRefs>
    <ds:schemaRef ds:uri="http://purl.org/dc/terms/"/>
    <ds:schemaRef ds:uri="http://www.w3.org/XML/1998/namespace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2aae6fcb-43e3-4396-89be-baa0995eb0b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28827</TotalTime>
  <Words>5446</Words>
  <Application>Microsoft Office PowerPoint</Application>
  <PresentationFormat>A4 용지(210x297mm)</PresentationFormat>
  <Paragraphs>1242</Paragraphs>
  <Slides>42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7" baseType="lpstr">
      <vt:lpstr>나눔고딕</vt:lpstr>
      <vt:lpstr>맑은 고딕</vt:lpstr>
      <vt:lpstr>Arial</vt:lpstr>
      <vt:lpstr>Calibri</vt:lpstr>
      <vt:lpstr>디자인 사용자 지정</vt:lpstr>
      <vt:lpstr>[UTI] 전자결재 화면 설계서</vt:lpstr>
      <vt:lpstr>문서 버전 이력</vt:lpstr>
      <vt:lpstr>목차</vt:lpstr>
      <vt:lpstr>1. 메인/메뉴 구성</vt:lpstr>
      <vt:lpstr>1.1. 메인 화면</vt:lpstr>
      <vt:lpstr>1.2. 메뉴</vt:lpstr>
      <vt:lpstr>2. 결재작성</vt:lpstr>
      <vt:lpstr>1.2. 결재작성(양식함)</vt:lpstr>
      <vt:lpstr>3. 개인결재함</vt:lpstr>
      <vt:lpstr>3.1. 개인함 – 예고함</vt:lpstr>
      <vt:lpstr>3.2. 개인함 – 미결함</vt:lpstr>
      <vt:lpstr>3.3. 개인함 – 진행함</vt:lpstr>
      <vt:lpstr>3.4. 개인함 – 완료함</vt:lpstr>
      <vt:lpstr>3.5. 개인함 – 반려함</vt:lpstr>
      <vt:lpstr>3.6. 개인함 – 임시함</vt:lpstr>
      <vt:lpstr>3.7. 개인함 – 참조/회람함</vt:lpstr>
      <vt:lpstr>4. 부서결재함</vt:lpstr>
      <vt:lpstr>4.1. 부서함 – 완료함/발신함/수신처리함</vt:lpstr>
      <vt:lpstr>4.2. 부서함 – 수신함</vt:lpstr>
      <vt:lpstr>4.4. 부서함 – 수신진행함</vt:lpstr>
      <vt:lpstr>4.3. 부서함 – 참조/회람함</vt:lpstr>
      <vt:lpstr>5. 개인 폴더 및 환경설정</vt:lpstr>
      <vt:lpstr>5.1. 개인 폴더</vt:lpstr>
      <vt:lpstr>5.2. 환경설정 – 대결설정</vt:lpstr>
      <vt:lpstr>5.2. 환경설정 – 비밀번호 설정</vt:lpstr>
      <vt:lpstr>5.2. 환경설정 – 알림 설정</vt:lpstr>
      <vt:lpstr>5.2. 환경설정 – 서명 설정</vt:lpstr>
      <vt:lpstr>6. 결재문서 작성</vt:lpstr>
      <vt:lpstr>6.1. 결재문서 기본 서식</vt:lpstr>
      <vt:lpstr>6.2. 결재선 및 문서정보</vt:lpstr>
      <vt:lpstr>6.3. 프로세스 별 결재선(결재방)</vt:lpstr>
      <vt:lpstr>6.4. 결재선 설정</vt:lpstr>
      <vt:lpstr>6.5. 문서연결</vt:lpstr>
      <vt:lpstr>7. 결재문서 보기/결재(승인/반려)</vt:lpstr>
      <vt:lpstr>7.1. 진행문서(결재하기)(1)</vt:lpstr>
      <vt:lpstr>7.1. 진행문서(결재하기)(2)</vt:lpstr>
      <vt:lpstr>7.2. 완료문서(1)</vt:lpstr>
      <vt:lpstr>7.2. 완료문서(2)</vt:lpstr>
      <vt:lpstr>8. 기타 기능</vt:lpstr>
      <vt:lpstr>8.1. 담당업무함</vt:lpstr>
      <vt:lpstr>8.2. 업무문서함</vt:lpstr>
      <vt:lpstr>8.4. 결재현황보기</vt:lpstr>
    </vt:vector>
  </TitlesOfParts>
  <Company>Covision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CoviSmart²-DES_UI 설계서_Ver.1.0 -  포탈</dc:title>
  <dc:creator>Heebum Shin</dc:creator>
  <cp:lastModifiedBy>방영환</cp:lastModifiedBy>
  <cp:revision>1344</cp:revision>
  <cp:lastPrinted>2012-07-09T13:34:08Z</cp:lastPrinted>
  <dcterms:created xsi:type="dcterms:W3CDTF">2011-03-14T11:54:00Z</dcterms:created>
  <dcterms:modified xsi:type="dcterms:W3CDTF">2026-03-16T08:16:22Z</dcterms:modified>
</cp:coreProperties>
</file>