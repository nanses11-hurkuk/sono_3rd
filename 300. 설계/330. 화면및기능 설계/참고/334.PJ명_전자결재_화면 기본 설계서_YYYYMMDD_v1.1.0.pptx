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8" r:id="rId4"/>
  </p:sldMasterIdLst>
  <p:notesMasterIdLst>
    <p:notesMasterId r:id="rId59"/>
  </p:notesMasterIdLst>
  <p:handoutMasterIdLst>
    <p:handoutMasterId r:id="rId60"/>
  </p:handoutMasterIdLst>
  <p:sldIdLst>
    <p:sldId id="424" r:id="rId5"/>
    <p:sldId id="425" r:id="rId6"/>
    <p:sldId id="1168" r:id="rId7"/>
    <p:sldId id="1274" r:id="rId8"/>
    <p:sldId id="1169" r:id="rId9"/>
    <p:sldId id="1284" r:id="rId10"/>
    <p:sldId id="1226" r:id="rId11"/>
    <p:sldId id="1227" r:id="rId12"/>
    <p:sldId id="1275" r:id="rId13"/>
    <p:sldId id="1285" r:id="rId14"/>
    <p:sldId id="1232" r:id="rId15"/>
    <p:sldId id="1246" r:id="rId16"/>
    <p:sldId id="1248" r:id="rId17"/>
    <p:sldId id="1247" r:id="rId18"/>
    <p:sldId id="1249" r:id="rId19"/>
    <p:sldId id="1250" r:id="rId20"/>
    <p:sldId id="1251" r:id="rId21"/>
    <p:sldId id="1276" r:id="rId22"/>
    <p:sldId id="1286" r:id="rId23"/>
    <p:sldId id="1252" r:id="rId24"/>
    <p:sldId id="1254" r:id="rId25"/>
    <p:sldId id="1253" r:id="rId26"/>
    <p:sldId id="1255" r:id="rId27"/>
    <p:sldId id="1256" r:id="rId28"/>
    <p:sldId id="1257" r:id="rId29"/>
    <p:sldId id="1277" r:id="rId30"/>
    <p:sldId id="1287" r:id="rId31"/>
    <p:sldId id="1228" r:id="rId32"/>
    <p:sldId id="1229" r:id="rId33"/>
    <p:sldId id="1261" r:id="rId34"/>
    <p:sldId id="1262" r:id="rId35"/>
    <p:sldId id="1283" r:id="rId36"/>
    <p:sldId id="1263" r:id="rId37"/>
    <p:sldId id="1264" r:id="rId38"/>
    <p:sldId id="1278" r:id="rId39"/>
    <p:sldId id="1288" r:id="rId40"/>
    <p:sldId id="1266" r:id="rId41"/>
    <p:sldId id="1267" r:id="rId42"/>
    <p:sldId id="1268" r:id="rId43"/>
    <p:sldId id="1279" r:id="rId44"/>
    <p:sldId id="1289" r:id="rId45"/>
    <p:sldId id="1270" r:id="rId46"/>
    <p:sldId id="1271" r:id="rId47"/>
    <p:sldId id="1280" r:id="rId48"/>
    <p:sldId id="1290" r:id="rId49"/>
    <p:sldId id="1233" r:id="rId50"/>
    <p:sldId id="1234" r:id="rId51"/>
    <p:sldId id="1235" r:id="rId52"/>
    <p:sldId id="1236" r:id="rId53"/>
    <p:sldId id="1237" r:id="rId54"/>
    <p:sldId id="1238" r:id="rId55"/>
    <p:sldId id="1273" r:id="rId56"/>
    <p:sldId id="1281" r:id="rId57"/>
    <p:sldId id="1282" r:id="rId58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42" userDrawn="1">
          <p15:clr>
            <a:srgbClr val="A4A3A4"/>
          </p15:clr>
        </p15:guide>
        <p15:guide id="4" orient="horz" pos="2840" userDrawn="1">
          <p15:clr>
            <a:srgbClr val="A4A3A4"/>
          </p15:clr>
        </p15:guide>
        <p15:guide id="6" pos="204">
          <p15:clr>
            <a:srgbClr val="A4A3A4"/>
          </p15:clr>
        </p15:guide>
        <p15:guide id="7" pos="5556">
          <p15:clr>
            <a:srgbClr val="A4A3A4"/>
          </p15:clr>
        </p15:guide>
        <p15:guide id="8" orient="horz" pos="4156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orient="horz" pos="1253">
          <p15:clr>
            <a:srgbClr val="A4A3A4"/>
          </p15:clr>
        </p15:guide>
        <p15:guide id="11" pos="249">
          <p15:clr>
            <a:srgbClr val="A4A3A4"/>
          </p15:clr>
        </p15:guide>
        <p15:guide id="12" pos="5647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1888">
          <p15:clr>
            <a:srgbClr val="A4A3A4"/>
          </p15:clr>
        </p15:guide>
        <p15:guide id="15" orient="horz" pos="3929">
          <p15:clr>
            <a:srgbClr val="A4A3A4"/>
          </p15:clr>
        </p15:guide>
        <p15:guide id="16" orient="horz" pos="2523">
          <p15:clr>
            <a:srgbClr val="A4A3A4"/>
          </p15:clr>
        </p15:guide>
        <p15:guide id="17" pos="3121">
          <p15:clr>
            <a:srgbClr val="A4A3A4"/>
          </p15:clr>
        </p15:guide>
        <p15:guide id="18" pos="221">
          <p15:clr>
            <a:srgbClr val="A4A3A4"/>
          </p15:clr>
        </p15:guide>
        <p15:guide id="19" pos="6019">
          <p15:clr>
            <a:srgbClr val="A4A3A4"/>
          </p15:clr>
        </p15:guide>
        <p15:guide id="20" pos="270">
          <p15:clr>
            <a:srgbClr val="A4A3A4"/>
          </p15:clr>
        </p15:guide>
        <p15:guide id="21" pos="5676">
          <p15:clr>
            <a:srgbClr val="A4A3A4"/>
          </p15:clr>
        </p15:guide>
        <p15:guide id="22" pos="1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심규호" initials="심" lastIdx="1" clrIdx="0">
    <p:extLst>
      <p:ext uri="{19B8F6BF-5375-455C-9EA6-DF929625EA0E}">
        <p15:presenceInfo xmlns:p15="http://schemas.microsoft.com/office/powerpoint/2012/main" userId="S-1-5-21-933205674-2470888985-2010034987-86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9"/>
    <a:srgbClr val="374D5B"/>
    <a:srgbClr val="4F9BD5"/>
    <a:srgbClr val="EAEAEA"/>
    <a:srgbClr val="5F666E"/>
    <a:srgbClr val="3A4450"/>
    <a:srgbClr val="0000FF"/>
    <a:srgbClr val="0081E2"/>
    <a:srgbClr val="2069BA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4953" autoAdjust="0"/>
  </p:normalViewPr>
  <p:slideViewPr>
    <p:cSldViewPr>
      <p:cViewPr varScale="1">
        <p:scale>
          <a:sx n="109" d="100"/>
          <a:sy n="109" d="100"/>
        </p:scale>
        <p:origin x="828" y="114"/>
      </p:cViewPr>
      <p:guideLst>
        <p:guide orient="horz" pos="4292"/>
        <p:guide pos="2880"/>
        <p:guide orient="horz" pos="1842"/>
        <p:guide orient="horz" pos="2840"/>
        <p:guide pos="204"/>
        <p:guide pos="5556"/>
        <p:guide orient="horz" pos="4156"/>
        <p:guide orient="horz" pos="1480"/>
        <p:guide orient="horz" pos="1253"/>
        <p:guide pos="249"/>
        <p:guide pos="5647"/>
        <p:guide pos="158"/>
        <p:guide orient="horz" pos="1888"/>
        <p:guide orient="horz" pos="3929"/>
        <p:guide orient="horz" pos="2523"/>
        <p:guide pos="3121"/>
        <p:guide pos="221"/>
        <p:guide pos="6019"/>
        <p:guide pos="270"/>
        <p:guide pos="5676"/>
        <p:guide pos="171"/>
      </p:guideLst>
    </p:cSldViewPr>
  </p:slideViewPr>
  <p:outlineViewPr>
    <p:cViewPr>
      <p:scale>
        <a:sx n="33" d="100"/>
        <a:sy n="33" d="100"/>
      </p:scale>
      <p:origin x="18" y="415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3564" y="-660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DCE8DAC-A2B6-4292-9F5B-A4CA7FE0BF99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49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735A60D-814D-4287-881B-077213EAB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51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5608C8B-8066-49A5-A56D-E711F19F9BB1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003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11312" y="4825653"/>
            <a:ext cx="5444806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06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1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64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8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5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787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422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90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58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603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202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55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05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0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E7BFFA7-7560-4AB5-BEA5-ACDC48231C81}" type="datetimeFigureOut">
              <a:rPr lang="ko-KR" altLang="en-US" smtClean="0"/>
              <a:t>2020-11-09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0ED1-B1E2-4070-A731-AEACA44238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88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03740" y="6534356"/>
            <a:ext cx="895350" cy="222250"/>
          </a:xfrm>
        </p:spPr>
        <p:txBody>
          <a:bodyPr/>
          <a:lstStyle>
            <a:lvl1pPr algn="ctr">
              <a:defRPr sz="1000" b="1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B886FFA8-E887-4332-8901-9FB0E79AAA37}" type="slidenum">
              <a:rPr lang="ko-KR" altLang="en-US" smtClean="0"/>
              <a:pPr>
                <a:defRPr/>
              </a:pPr>
              <a:t>‹#›</a:t>
            </a:fld>
            <a:r>
              <a:rPr lang="ko-KR" altLang="en-US"/>
              <a:t> </a:t>
            </a:r>
            <a:endParaRPr lang="ko-KR" altLang="en-US" dirty="0"/>
          </a:p>
        </p:txBody>
      </p:sp>
      <p:grpSp>
        <p:nvGrpSpPr>
          <p:cNvPr id="18" name="Group 11"/>
          <p:cNvGrpSpPr>
            <a:grpSpLocks/>
          </p:cNvGrpSpPr>
          <p:nvPr userDrawn="1"/>
        </p:nvGrpSpPr>
        <p:grpSpPr bwMode="auto">
          <a:xfrm>
            <a:off x="0" y="415374"/>
            <a:ext cx="9906000" cy="71438"/>
            <a:chOff x="0" y="720"/>
            <a:chExt cx="5760" cy="45"/>
          </a:xfrm>
        </p:grpSpPr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44230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Content Placeholder 4"/>
          <p:cNvSpPr>
            <a:spLocks noGrp="1"/>
          </p:cNvSpPr>
          <p:nvPr>
            <p:ph sz="quarter" idx="13"/>
          </p:nvPr>
        </p:nvSpPr>
        <p:spPr>
          <a:xfrm>
            <a:off x="273050" y="764704"/>
            <a:ext cx="9432925" cy="520632"/>
          </a:xfrm>
          <a:prstGeom prst="roundRect">
            <a:avLst>
              <a:gd name="adj" fmla="val 6992"/>
            </a:avLst>
          </a:prstGeom>
          <a:solidFill>
            <a:schemeClr val="bg2">
              <a:lumMod val="90000"/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kumimoji="1" lang="en-US" sz="1400" dirty="0"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lvl="0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2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03740" y="6534356"/>
            <a:ext cx="895350" cy="222250"/>
          </a:xfrm>
        </p:spPr>
        <p:txBody>
          <a:bodyPr/>
          <a:lstStyle>
            <a:lvl1pPr algn="ctr">
              <a:defRPr sz="1000" b="1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B886FFA8-E887-4332-8901-9FB0E79AAA37}" type="slidenum">
              <a:rPr lang="ko-KR" altLang="en-US" smtClean="0"/>
              <a:pPr>
                <a:defRPr/>
              </a:pPr>
              <a:t>‹#›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0"/>
            <a:ext cx="7336800" cy="412119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E3EFBAC1-4CDA-4415-BA6F-E985EB79AD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15374"/>
            <a:ext cx="9906000" cy="71438"/>
            <a:chOff x="0" y="720"/>
            <a:chExt cx="5760" cy="45"/>
          </a:xfrm>
        </p:grpSpPr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19B342BE-6E5C-4AE8-BE73-4EE879CE607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B32DA15A-AE5A-4599-ADD2-41ABA5CBCB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40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31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0396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 userDrawn="1"/>
        </p:nvGrpSpPr>
        <p:grpSpPr bwMode="auto">
          <a:xfrm>
            <a:off x="0" y="617538"/>
            <a:ext cx="9906000" cy="71437"/>
            <a:chOff x="0" y="720"/>
            <a:chExt cx="5760" cy="45"/>
          </a:xfrm>
        </p:grpSpPr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ko-KR" altLang="en-US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ko-KR" altLang="en-US" sz="100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kumimoji="1" lang="en-US" sz="2000">
                <a:solidFill>
                  <a:srgbClr val="000000"/>
                </a:solidFill>
                <a:latin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Content Placeholder 4"/>
          <p:cNvSpPr>
            <a:spLocks noGrp="1"/>
          </p:cNvSpPr>
          <p:nvPr>
            <p:ph sz="quarter" idx="13"/>
          </p:nvPr>
        </p:nvSpPr>
        <p:spPr>
          <a:xfrm>
            <a:off x="273050" y="764704"/>
            <a:ext cx="9432925" cy="720080"/>
          </a:xfrm>
          <a:prstGeom prst="roundRect">
            <a:avLst>
              <a:gd name="adj" fmla="val 6992"/>
            </a:avLst>
          </a:prstGeom>
          <a:solidFill>
            <a:schemeClr val="bg2">
              <a:lumMod val="90000"/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indent="0">
              <a:buFont typeface="Arial" pitchFamily="34" charset="0"/>
              <a:buNone/>
              <a:defRPr kumimoji="1" 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03738" y="6534150"/>
            <a:ext cx="895350" cy="222250"/>
          </a:xfrm>
          <a:prstGeom prst="rect">
            <a:avLst/>
          </a:prstGeom>
        </p:spPr>
        <p:txBody>
          <a:bodyPr/>
          <a:lstStyle>
            <a:lvl1pPr algn="ctr">
              <a:defRPr sz="1000" b="1" i="1" smtClean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4898359-6249-498A-89F7-ECD28B9A1D79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548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728384"/>
            <a:ext cx="3112987" cy="558093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728384"/>
            <a:ext cx="6345704" cy="558093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3" name="Group 11"/>
          <p:cNvGrpSpPr>
            <a:grpSpLocks/>
          </p:cNvGrpSpPr>
          <p:nvPr userDrawn="1"/>
        </p:nvGrpSpPr>
        <p:grpSpPr bwMode="auto">
          <a:xfrm>
            <a:off x="0" y="618083"/>
            <a:ext cx="9906000" cy="71438"/>
            <a:chOff x="0" y="720"/>
            <a:chExt cx="5760" cy="45"/>
          </a:xfrm>
        </p:grpSpPr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8" name="직사각형 17"/>
          <p:cNvSpPr/>
          <p:nvPr userDrawn="1"/>
        </p:nvSpPr>
        <p:spPr>
          <a:xfrm>
            <a:off x="6573179" y="739161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5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 bwMode="auto">
          <a:xfrm>
            <a:off x="6573180" y="4860159"/>
            <a:ext cx="3112986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비고</a:t>
            </a:r>
            <a:endParaRPr kumimoji="1" lang="en-US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236834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 bwMode="auto">
          <a:xfrm>
            <a:off x="6573180" y="4860159"/>
            <a:ext cx="3112986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관련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Table, View,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SP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78522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365964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80ED1-B1E2-4070-A731-AEACA44238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 Box 2"/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07AEC05E-F4FA-4CA3-9996-9AA1953BB1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11" name="그림 10" descr="바닥라인">
            <a:extLst>
              <a:ext uri="{FF2B5EF4-FFF2-40B4-BE49-F238E27FC236}">
                <a16:creationId xmlns:a16="http://schemas.microsoft.com/office/drawing/2014/main" id="{7101706D-BED6-470B-99C8-A7C24FA44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458669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F13458-79FD-4EA9-ADAE-C6B6CE5BEAE9}"/>
              </a:ext>
            </a:extLst>
          </p:cNvPr>
          <p:cNvSpPr txBox="1"/>
          <p:nvPr userDrawn="1"/>
        </p:nvSpPr>
        <p:spPr>
          <a:xfrm>
            <a:off x="11908" y="6431092"/>
            <a:ext cx="4148893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u="sng" spc="-80" dirty="0">
                <a:gradFill flip="none" rotWithShape="1">
                  <a:gsLst>
                    <a:gs pos="0">
                      <a:srgbClr val="4BACC6">
                        <a:lumMod val="50000"/>
                      </a:srgbClr>
                    </a:gs>
                    <a:gs pos="44000">
                      <a:prstClr val="white">
                        <a:lumMod val="50000"/>
                      </a:prstClr>
                    </a:gs>
                    <a:gs pos="72000">
                      <a:srgbClr val="EEECE1">
                        <a:lumMod val="50000"/>
                      </a:srgbClr>
                    </a:gs>
                    <a:gs pos="100000">
                      <a:prstClr val="black"/>
                    </a:gs>
                  </a:gsLst>
                  <a:lin ang="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마스터에서 고객사 로고로 변경해주세요</a:t>
            </a:r>
            <a:endParaRPr lang="en-US" altLang="ko-KR" sz="1800" b="1" u="sng" spc="-80" dirty="0">
              <a:gradFill flip="none" rotWithShape="1">
                <a:gsLst>
                  <a:gs pos="0">
                    <a:srgbClr val="4BACC6">
                      <a:lumMod val="50000"/>
                    </a:srgbClr>
                  </a:gs>
                  <a:gs pos="44000">
                    <a:prstClr val="white">
                      <a:lumMod val="50000"/>
                    </a:prstClr>
                  </a:gs>
                  <a:gs pos="72000">
                    <a:srgbClr val="EEECE1">
                      <a:lumMod val="50000"/>
                    </a:srgbClr>
                  </a:gs>
                  <a:gs pos="100000">
                    <a:prstClr val="black"/>
                  </a:gs>
                </a:gsLst>
                <a:lin ang="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827AE7-5A5C-4D0F-BB00-08A70434CC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11940" y="6577089"/>
            <a:ext cx="1026046" cy="22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8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6" r:id="rId7"/>
    <p:sldLayoutId id="2147484317" r:id="rId8"/>
    <p:sldLayoutId id="2147484318" r:id="rId9"/>
    <p:sldLayoutId id="2147484319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273EBC41-CF0E-4F1A-BB35-834ADA190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747642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프로젝트 명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 latinLnBrk="0">
              <a:defRPr/>
            </a:pP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전자결재 </a:t>
            </a:r>
            <a:r>
              <a:rPr kumimoji="0" lang="ko-KR" altLang="en-US" sz="2800" b="1" kern="0" dirty="0">
                <a:solidFill>
                  <a:prstClr val="black"/>
                </a:solidFill>
                <a:ea typeface="맑은 고딕" pitchFamily="50" charset="-127"/>
              </a:rPr>
              <a:t>화면 기본설계서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B8E7FB5D-4D39-419E-A5AD-3952C0EF27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A9D9C9-21B6-4D6A-AC2D-B3431123C8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9" y="260648"/>
            <a:ext cx="1230269" cy="7081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664AD1-0EFF-4BF9-926D-EEC5FD4FD722}"/>
              </a:ext>
            </a:extLst>
          </p:cNvPr>
          <p:cNvSpPr txBox="1"/>
          <p:nvPr/>
        </p:nvSpPr>
        <p:spPr>
          <a:xfrm>
            <a:off x="4011941" y="5467871"/>
            <a:ext cx="18821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58EF657-C3F2-495A-9C23-3AAEE8D37D08}"/>
              </a:ext>
            </a:extLst>
          </p:cNvPr>
          <p:cNvGraphicFramePr>
            <a:graphicFrameLocks noGrp="1"/>
          </p:cNvGraphicFramePr>
          <p:nvPr/>
        </p:nvGraphicFramePr>
        <p:xfrm>
          <a:off x="2972780" y="3048298"/>
          <a:ext cx="4140000" cy="1676846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86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그림 18" descr="바닥라인">
            <a:extLst>
              <a:ext uri="{FF2B5EF4-FFF2-40B4-BE49-F238E27FC236}">
                <a16:creationId xmlns:a16="http://schemas.microsoft.com/office/drawing/2014/main" id="{E28A1E66-3E51-44AA-B6EA-B70492413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863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/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작성자명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YYYY.MM.DD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제출하는 프로젝트 산출물의 하나이므로, 이 문서의 소유권은 원칙적으로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있습니다. 그러나 문서의 형태 및 </a:t>
            </a:r>
            <a:r>
              <a:rPr lang="ko-KR" altLang="en-US" sz="1200" i="1" dirty="0" err="1">
                <a:latin typeface="+mn-ea"/>
                <a:ea typeface="+mn-ea"/>
              </a:rPr>
              <a:t>내용구성은</a:t>
            </a:r>
            <a:r>
              <a:rPr lang="ko-KR" altLang="en-US" sz="1200" i="1" dirty="0">
                <a:latin typeface="+mn-ea"/>
                <a:ea typeface="+mn-ea"/>
              </a:rPr>
              <a:t>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4088904" y="46059"/>
            <a:ext cx="581709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r"/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04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2657FE-A2E0-4236-9BF2-98943C35A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887238"/>
              </p:ext>
            </p:extLst>
          </p:nvPr>
        </p:nvGraphicFramePr>
        <p:xfrm>
          <a:off x="344488" y="597101"/>
          <a:ext cx="9217024" cy="576830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13277">
                  <a:extLst>
                    <a:ext uri="{9D8B030D-6E8A-4147-A177-3AD203B41FA5}">
                      <a16:colId xmlns:a16="http://schemas.microsoft.com/office/drawing/2014/main" val="1054285398"/>
                    </a:ext>
                  </a:extLst>
                </a:gridCol>
                <a:gridCol w="2031842">
                  <a:extLst>
                    <a:ext uri="{9D8B030D-6E8A-4147-A177-3AD203B41FA5}">
                      <a16:colId xmlns:a16="http://schemas.microsoft.com/office/drawing/2014/main" val="537399588"/>
                    </a:ext>
                  </a:extLst>
                </a:gridCol>
                <a:gridCol w="4259737">
                  <a:extLst>
                    <a:ext uri="{9D8B030D-6E8A-4147-A177-3AD203B41FA5}">
                      <a16:colId xmlns:a16="http://schemas.microsoft.com/office/drawing/2014/main" val="150138531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172869366"/>
                    </a:ext>
                  </a:extLst>
                </a:gridCol>
              </a:tblGrid>
              <a:tr h="2746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585023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 action="ppaction://hlinksldjump"/>
                        </a:rPr>
                        <a:t>포탈 프로세스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포탈 전반에 걸친 프로세스 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648737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 action="ppaction://hlinksldjump"/>
                        </a:rPr>
                        <a:t>부서생성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생성하는 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5867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DW_DES_PO_003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Cop(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학습조직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개설 신청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CoP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개설 신청 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981211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en-US" altLang="ko-KR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45854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DW_DES_PO_005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167991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DW_DES_PO_006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153478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38349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599293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545221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81118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831444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956074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32784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803945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293499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09426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947858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856171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59796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23885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210707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719241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55184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87918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5105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422942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69817"/>
                  </a:ext>
                </a:extLst>
              </a:tr>
              <a:tr h="19620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753374"/>
                  </a:ext>
                </a:extLst>
              </a:tr>
            </a:tbl>
          </a:graphicData>
        </a:graphic>
      </p:graphicFrame>
      <p:sp>
        <p:nvSpPr>
          <p:cNvPr id="5" name="제목 3">
            <a:extLst>
              <a:ext uri="{FF2B5EF4-FFF2-40B4-BE49-F238E27FC236}">
                <a16:creationId xmlns:a16="http://schemas.microsoft.com/office/drawing/2014/main" id="{8A2FAC28-7DF0-45DA-BD32-5DC4FD902F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1553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목차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567792" y="567474"/>
            <a:ext cx="1781583" cy="6209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메뉴 구성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메인 화면 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좌측 메뉴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개인 결재함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예고함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미결함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진행함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반려함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임시함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참조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회람함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부서 결재함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발신함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수신함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수신처리함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참조</a:t>
            </a: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회람함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진행함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72072" y="553654"/>
            <a:ext cx="223224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 작성하기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 선택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기능 및 기본 포맷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결재선 및 공통영역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결재선 선택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문서연결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 처리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결재하기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의견보기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히스토리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진행</a:t>
            </a:r>
            <a:r>
              <a:rPr lang="en-US" altLang="ko-KR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완료문서 보기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진행중 문서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 문서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2358" y="548680"/>
            <a:ext cx="29711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개인 설정 및 기타기능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GAP </a:t>
            </a: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분석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상세보기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환경설정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담당업무함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업무문서함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개인폴더</a:t>
            </a:r>
            <a:endParaRPr lang="en-US" altLang="ko-KR" sz="12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7"/>
            </a:pPr>
            <a:r>
              <a:rPr lang="en-US" altLang="ko-KR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SI</a:t>
            </a: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 기능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446088" lvl="1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9687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1. </a:t>
            </a:r>
            <a:r>
              <a:rPr kumimoji="0" lang="ko-KR" altLang="en-US" sz="4000" b="1" dirty="0">
                <a:latin typeface="+mj-ea"/>
              </a:rPr>
              <a:t>메뉴 구성</a:t>
            </a:r>
          </a:p>
        </p:txBody>
      </p:sp>
    </p:spTree>
    <p:extLst>
      <p:ext uri="{BB962C8B-B14F-4D97-AF65-F5344CB8AC3E}">
        <p14:creationId xmlns:p14="http://schemas.microsoft.com/office/powerpoint/2010/main" val="167227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804242"/>
              </p:ext>
            </p:extLst>
          </p:nvPr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 idx="4294967295"/>
          </p:nvPr>
        </p:nvSpPr>
        <p:spPr>
          <a:xfrm>
            <a:off x="4376937" y="413238"/>
            <a:ext cx="2261256" cy="237393"/>
          </a:xfrm>
        </p:spPr>
        <p:txBody>
          <a:bodyPr>
            <a:normAutofit/>
          </a:bodyPr>
          <a:lstStyle/>
          <a:p>
            <a:r>
              <a:rPr lang="ko-KR" altLang="en-US" sz="1000" b="1" dirty="0">
                <a:latin typeface="+mj-ea"/>
              </a:rPr>
              <a:t>메뉴 구성 </a:t>
            </a:r>
            <a:r>
              <a:rPr lang="en-US" altLang="ko-KR" sz="1000" b="1" dirty="0">
                <a:latin typeface="+mj-ea"/>
              </a:rPr>
              <a:t>– GAP </a:t>
            </a:r>
            <a:r>
              <a:rPr lang="ko-KR" altLang="en-US" sz="10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3172682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408218" y="741619"/>
            <a:ext cx="3165902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064568" y="1340768"/>
            <a:ext cx="1645107" cy="4536504"/>
            <a:chOff x="2475077" y="1052736"/>
            <a:chExt cx="1645107" cy="4536504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5077" y="1052736"/>
              <a:ext cx="1616596" cy="3582726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5077" y="4635462"/>
              <a:ext cx="1645107" cy="953778"/>
            </a:xfrm>
            <a:prstGeom prst="rect">
              <a:avLst/>
            </a:prstGeom>
          </p:spPr>
        </p:pic>
      </p:grpSp>
      <p:sp>
        <p:nvSpPr>
          <p:cNvPr id="8" name="직사각형 7"/>
          <p:cNvSpPr/>
          <p:nvPr/>
        </p:nvSpPr>
        <p:spPr>
          <a:xfrm>
            <a:off x="920552" y="1268760"/>
            <a:ext cx="1944216" cy="475252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915" y="1337873"/>
            <a:ext cx="1718197" cy="4712408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4024707" y="1266648"/>
            <a:ext cx="2122271" cy="478363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  <p:sp>
        <p:nvSpPr>
          <p:cNvPr id="31" name="직사각형 12"/>
          <p:cNvSpPr>
            <a:spLocks noChangeArrowheads="1"/>
          </p:cNvSpPr>
          <p:nvPr/>
        </p:nvSpPr>
        <p:spPr bwMode="auto">
          <a:xfrm>
            <a:off x="1076254" y="1580566"/>
            <a:ext cx="1583819" cy="145819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2" name="직사각형 12"/>
          <p:cNvSpPr>
            <a:spLocks noChangeArrowheads="1"/>
          </p:cNvSpPr>
          <p:nvPr/>
        </p:nvSpPr>
        <p:spPr bwMode="auto">
          <a:xfrm>
            <a:off x="4083882" y="1925815"/>
            <a:ext cx="1836627" cy="135309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10" name="직선 화살표 연결선 9"/>
          <p:cNvCxnSpPr>
            <a:endCxn id="32" idx="1"/>
          </p:cNvCxnSpPr>
          <p:nvPr/>
        </p:nvCxnSpPr>
        <p:spPr>
          <a:xfrm>
            <a:off x="2671759" y="2309665"/>
            <a:ext cx="1412123" cy="2926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12"/>
          <p:cNvSpPr>
            <a:spLocks noChangeArrowheads="1"/>
          </p:cNvSpPr>
          <p:nvPr/>
        </p:nvSpPr>
        <p:spPr bwMode="auto">
          <a:xfrm>
            <a:off x="1076254" y="3078859"/>
            <a:ext cx="1583819" cy="60645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/>
          <p:cNvSpPr>
            <a:spLocks noChangeArrowheads="1"/>
          </p:cNvSpPr>
          <p:nvPr/>
        </p:nvSpPr>
        <p:spPr bwMode="auto">
          <a:xfrm>
            <a:off x="4083882" y="3311501"/>
            <a:ext cx="1851784" cy="117541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36" name="직선 화살표 연결선 35"/>
          <p:cNvCxnSpPr>
            <a:stCxn id="33" idx="3"/>
            <a:endCxn id="34" idx="1"/>
          </p:cNvCxnSpPr>
          <p:nvPr/>
        </p:nvCxnSpPr>
        <p:spPr>
          <a:xfrm>
            <a:off x="2660073" y="3382084"/>
            <a:ext cx="1423809" cy="5171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79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5557AB2-2713-4368-AE76-0EA5EB97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3" y="1987904"/>
            <a:ext cx="5883927" cy="315538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99231"/>
              </p:ext>
            </p:extLst>
          </p:nvPr>
        </p:nvGraphicFramePr>
        <p:xfrm>
          <a:off x="6681192" y="1052736"/>
          <a:ext cx="2972904" cy="46634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좌측 메뉴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포탈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결재 현황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상태와 결재정보를 보여주는 알림 메시지를 나타낸다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미결함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 목록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미결함은 바로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반려를 할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진행함은 진행 프로세스를 나타낸다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반려함과 완료함은 결재 목록을 나타낸다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80284" y="16342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627910" y="16563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641276" y="183784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539824" y="183784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2">
            <a:extLst>
              <a:ext uri="{FF2B5EF4-FFF2-40B4-BE49-F238E27FC236}">
                <a16:creationId xmlns:a16="http://schemas.microsoft.com/office/drawing/2014/main" id="{BBF86D96-0C9D-419B-960C-140B72B6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99" y="1857656"/>
            <a:ext cx="1109624" cy="336611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1" name="직사각형 12">
            <a:extLst>
              <a:ext uri="{FF2B5EF4-FFF2-40B4-BE49-F238E27FC236}">
                <a16:creationId xmlns:a16="http://schemas.microsoft.com/office/drawing/2014/main" id="{4A505D32-FB30-43DC-BC88-A42149CF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422" y="1861367"/>
            <a:ext cx="4727452" cy="336240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2" name="직사각형 12">
            <a:extLst>
              <a:ext uri="{FF2B5EF4-FFF2-40B4-BE49-F238E27FC236}">
                <a16:creationId xmlns:a16="http://schemas.microsoft.com/office/drawing/2014/main" id="{27EB552D-333F-4F2E-83FB-197DD104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378" y="1999068"/>
            <a:ext cx="1863470" cy="315538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3" name="직사각형 12">
            <a:extLst>
              <a:ext uri="{FF2B5EF4-FFF2-40B4-BE49-F238E27FC236}">
                <a16:creationId xmlns:a16="http://schemas.microsoft.com/office/drawing/2014/main" id="{864D0E34-282A-4AF4-8852-AB8F08AD2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066" y="1999068"/>
            <a:ext cx="2727133" cy="315538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1. </a:t>
            </a:r>
            <a:r>
              <a:rPr lang="ko-KR" altLang="en-US" sz="1600" b="1" dirty="0">
                <a:latin typeface="+mj-ea"/>
              </a:rPr>
              <a:t>메뉴 구성 </a:t>
            </a:r>
            <a:r>
              <a:rPr lang="en-US" altLang="ko-KR" sz="1600" b="1" dirty="0">
                <a:latin typeface="+mj-ea"/>
              </a:rPr>
              <a:t>– </a:t>
            </a:r>
            <a:r>
              <a:rPr lang="ko-KR" altLang="en-US" sz="1600" b="1" dirty="0">
                <a:latin typeface="+mj-ea"/>
              </a:rPr>
              <a:t>메인 화면</a:t>
            </a:r>
          </a:p>
        </p:txBody>
      </p:sp>
    </p:spTree>
    <p:extLst>
      <p:ext uri="{BB962C8B-B14F-4D97-AF65-F5344CB8AC3E}">
        <p14:creationId xmlns:p14="http://schemas.microsoft.com/office/powerpoint/2010/main" val="298878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7D331DFD-A0D2-4586-8AD3-A5A478A95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55" y="855184"/>
            <a:ext cx="2016224" cy="552979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525483"/>
              </p:ext>
            </p:extLst>
          </p:nvPr>
        </p:nvGraphicFramePr>
        <p:xfrm>
          <a:off x="6610304" y="1052736"/>
          <a:ext cx="3023216" cy="5293268"/>
        </p:xfrm>
        <a:graphic>
          <a:graphicData uri="http://schemas.openxmlformats.org/drawingml/2006/table">
            <a:tbl>
              <a:tblPr/>
              <a:tblGrid>
                <a:gridCol w="387057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636159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221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작성버튼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 결재 작성 페이지로 이동한다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결재함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예고함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하게 될 문서함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아직 오지 않은 문서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미결함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할 문서함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사용자 차례인 문서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4224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결재를 작성하여 완료되지 않은 문서나 사용자가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포함되어 있으나 완료되지 않은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진행이 완료된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작성 중 임시 저장한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자신이 기안하였거나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자신이 결재 요청한 문서 중 반려가 되어 결재가 되지 않은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339139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사용자에게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회람된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결재함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완료된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발신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수신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부서로 수신된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수신함에 들어온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중에서 재기안 처리가 되어 결재가 완료된 문서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859558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문서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진행 중인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197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환경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담당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업무자로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결재 문서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해야함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309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업무문서함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업무자로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결재 문서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기능은 없고 열람 가능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255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개인폴더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개인적으로 사용할 폴더를 등록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목록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4342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915440" y="12256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919795" y="1567073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919795" y="321985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61093" y="467259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61093" y="500078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181594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198928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216262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233596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250930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268264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3448488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3619729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3790970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3962211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03720" y="4133452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3F07B4-8333-42D5-8475-88A2976A9C13}"/>
              </a:ext>
            </a:extLst>
          </p:cNvPr>
          <p:cNvSpPr txBox="1"/>
          <p:nvPr/>
        </p:nvSpPr>
        <p:spPr>
          <a:xfrm>
            <a:off x="2103720" y="2855985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D88B27-0013-4660-B27F-2281B0E15288}"/>
              </a:ext>
            </a:extLst>
          </p:cNvPr>
          <p:cNvSpPr txBox="1"/>
          <p:nvPr/>
        </p:nvSpPr>
        <p:spPr>
          <a:xfrm>
            <a:off x="2103720" y="4304692"/>
            <a:ext cx="374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B38E72-A125-46E2-B672-0128E7E5F46B}"/>
              </a:ext>
            </a:extLst>
          </p:cNvPr>
          <p:cNvSpPr txBox="1"/>
          <p:nvPr/>
        </p:nvSpPr>
        <p:spPr>
          <a:xfrm>
            <a:off x="1861093" y="56571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5D590-67B4-4690-BB13-F3C5732A54D5}"/>
              </a:ext>
            </a:extLst>
          </p:cNvPr>
          <p:cNvSpPr txBox="1"/>
          <p:nvPr/>
        </p:nvSpPr>
        <p:spPr>
          <a:xfrm>
            <a:off x="1861093" y="532898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84648" y="5982432"/>
            <a:ext cx="2664296" cy="402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1. </a:t>
            </a:r>
            <a:r>
              <a:rPr lang="ko-KR" altLang="en-US" sz="1600" b="1" dirty="0">
                <a:latin typeface="+mj-ea"/>
              </a:rPr>
              <a:t>메뉴 구성 </a:t>
            </a:r>
            <a:r>
              <a:rPr lang="en-US" altLang="ko-KR" sz="1600" b="1" dirty="0">
                <a:latin typeface="+mj-ea"/>
              </a:rPr>
              <a:t>-</a:t>
            </a:r>
            <a:r>
              <a:rPr lang="ko-KR" altLang="en-US" sz="1600" b="1" dirty="0">
                <a:latin typeface="+mj-ea"/>
              </a:rPr>
              <a:t> 좌측 메뉴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873605" y="788902"/>
            <a:ext cx="2437710" cy="530439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09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2. </a:t>
            </a:r>
            <a:r>
              <a:rPr kumimoji="0" lang="ko-KR" altLang="en-US" sz="4000" b="1" dirty="0">
                <a:latin typeface="+mj-ea"/>
              </a:rPr>
              <a:t>개인 결재함</a:t>
            </a:r>
          </a:p>
        </p:txBody>
      </p:sp>
    </p:spTree>
    <p:extLst>
      <p:ext uri="{BB962C8B-B14F-4D97-AF65-F5344CB8AC3E}">
        <p14:creationId xmlns:p14="http://schemas.microsoft.com/office/powerpoint/2010/main" val="372215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968091"/>
              </p:ext>
            </p:extLst>
          </p:nvPr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 idx="4294967295"/>
          </p:nvPr>
        </p:nvSpPr>
        <p:spPr>
          <a:xfrm>
            <a:off x="4378569" y="404446"/>
            <a:ext cx="2189285" cy="263769"/>
          </a:xfrm>
        </p:spPr>
        <p:txBody>
          <a:bodyPr>
            <a:normAutofit/>
          </a:bodyPr>
          <a:lstStyle/>
          <a:p>
            <a:r>
              <a:rPr lang="ko-KR" altLang="en-US" sz="1000" b="1" dirty="0">
                <a:latin typeface="+mj-ea"/>
              </a:rPr>
              <a:t>개인 결재함 </a:t>
            </a:r>
            <a:r>
              <a:rPr lang="en-US" altLang="ko-KR" sz="1000" b="1" dirty="0">
                <a:latin typeface="+mj-ea"/>
              </a:rPr>
              <a:t>– GAP </a:t>
            </a:r>
            <a:r>
              <a:rPr lang="ko-KR" altLang="en-US" sz="10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222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5A7289-FD5C-4CC7-818F-A44E6E8A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32" y="1716172"/>
            <a:ext cx="6255427" cy="3690142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28728"/>
              </p:ext>
            </p:extLst>
          </p:nvPr>
        </p:nvGraphicFramePr>
        <p:xfrm>
          <a:off x="6652392" y="753798"/>
          <a:ext cx="2972904" cy="49225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하게 될 문서함 </a:t>
                      </a:r>
                      <a:r>
                        <a:rPr lang="en-US" altLang="ko-KR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아직 오지 않은 문서</a:t>
                      </a:r>
                      <a:r>
                        <a:rPr lang="en-US" altLang="ko-KR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파일 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 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클릭 시 결재 상세 보기가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그래픽으로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수신 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읽음 확인 여부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262833" y="157229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376936" y="1748370"/>
            <a:ext cx="213515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/>
          <p:nvPr/>
        </p:nvCxnSpPr>
        <p:spPr bwMode="auto">
          <a:xfrm flipH="1">
            <a:off x="5232230" y="2012033"/>
            <a:ext cx="1016914" cy="491433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직사각형 10"/>
          <p:cNvSpPr/>
          <p:nvPr/>
        </p:nvSpPr>
        <p:spPr bwMode="auto">
          <a:xfrm>
            <a:off x="1598901" y="2136010"/>
            <a:ext cx="3591688" cy="5799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2" name="직선 화살표 연결선 11"/>
          <p:cNvCxnSpPr>
            <a:cxnSpLocks/>
          </p:cNvCxnSpPr>
          <p:nvPr/>
        </p:nvCxnSpPr>
        <p:spPr bwMode="auto">
          <a:xfrm>
            <a:off x="1359025" y="3630904"/>
            <a:ext cx="0" cy="446168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직사각형 13"/>
          <p:cNvSpPr/>
          <p:nvPr/>
        </p:nvSpPr>
        <p:spPr bwMode="auto">
          <a:xfrm>
            <a:off x="469513" y="3849029"/>
            <a:ext cx="3509968" cy="12125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83984" y="157229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474595" y="197782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78334" y="276317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54243" y="277647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58797" y="3229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53015" y="345546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1043105" y="3480182"/>
            <a:ext cx="2815236" cy="27873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84787" y="36522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737702" y="276317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4117" y="276317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4361264" y="403770"/>
            <a:ext cx="2232967" cy="246861"/>
          </a:xfrm>
        </p:spPr>
        <p:txBody>
          <a:bodyPr>
            <a:normAutofit/>
          </a:bodyPr>
          <a:lstStyle/>
          <a:p>
            <a:r>
              <a:rPr lang="en-US" altLang="ko-KR" sz="1000" b="1" dirty="0">
                <a:latin typeface="+mj-ea"/>
              </a:rPr>
              <a:t>2. </a:t>
            </a:r>
            <a:r>
              <a:rPr lang="ko-KR" altLang="en-US" sz="1000" b="1" dirty="0"/>
              <a:t>개인 결재함 </a:t>
            </a:r>
            <a:r>
              <a:rPr lang="en-US" altLang="ko-KR" sz="1000" b="1" dirty="0"/>
              <a:t>- </a:t>
            </a:r>
            <a:r>
              <a:rPr lang="ko-KR" altLang="en-US" sz="1000" b="1" dirty="0"/>
              <a:t>예정함</a:t>
            </a:r>
          </a:p>
        </p:txBody>
      </p:sp>
    </p:spTree>
    <p:extLst>
      <p:ext uri="{BB962C8B-B14F-4D97-AF65-F5344CB8AC3E}">
        <p14:creationId xmlns:p14="http://schemas.microsoft.com/office/powerpoint/2010/main" val="2754529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9138B4-A3BB-4BFE-99F8-1B17C4312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34" y="1721266"/>
            <a:ext cx="6254152" cy="3604015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174717"/>
              </p:ext>
            </p:extLst>
          </p:nvPr>
        </p:nvGraphicFramePr>
        <p:xfrm>
          <a:off x="6645192" y="1052736"/>
          <a:ext cx="2972904" cy="49987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할 문서함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사용자 차례인 문서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일괄결재가 허용된 양식 중 승인할 문서를 복수로 선택하여 일괄적으로 승인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항목을 일괄적으로 읽음 처리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파일 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소속 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팝업</a:t>
                      </a:r>
                      <a:endParaRPr lang="ko-KR" altLang="en-US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나타난다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그래픽으로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수신 현황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읽음 확인 여부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277233" y="154238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391336" y="1718456"/>
            <a:ext cx="213515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직선 화살표 연결선 11"/>
          <p:cNvCxnSpPr>
            <a:cxnSpLocks/>
          </p:cNvCxnSpPr>
          <p:nvPr/>
        </p:nvCxnSpPr>
        <p:spPr bwMode="auto">
          <a:xfrm>
            <a:off x="1136576" y="3356992"/>
            <a:ext cx="0" cy="36633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직사각형 13"/>
          <p:cNvSpPr/>
          <p:nvPr/>
        </p:nvSpPr>
        <p:spPr bwMode="auto">
          <a:xfrm>
            <a:off x="468874" y="3533317"/>
            <a:ext cx="3576829" cy="12125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70117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2013" y="2987920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2013" y="3217457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836340" y="3186265"/>
            <a:ext cx="3209364" cy="27873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08722" y="3523273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746485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4117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36683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ECC0C-813F-4F00-80E1-04626AE911CF}"/>
              </a:ext>
            </a:extLst>
          </p:cNvPr>
          <p:cNvSpPr txBox="1"/>
          <p:nvPr/>
        </p:nvSpPr>
        <p:spPr>
          <a:xfrm>
            <a:off x="1703249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80C79B-D825-4B58-8AB3-545683FD91BF}"/>
              </a:ext>
            </a:extLst>
          </p:cNvPr>
          <p:cNvSpPr txBox="1"/>
          <p:nvPr/>
        </p:nvSpPr>
        <p:spPr>
          <a:xfrm>
            <a:off x="2169815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미결함</a:t>
            </a:r>
          </a:p>
        </p:txBody>
      </p:sp>
    </p:spTree>
    <p:extLst>
      <p:ext uri="{BB962C8B-B14F-4D97-AF65-F5344CB8AC3E}">
        <p14:creationId xmlns:p14="http://schemas.microsoft.com/office/powerpoint/2010/main" val="181713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8D77CE-63F7-4840-BD2D-A29D2AD38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3" y="1718456"/>
            <a:ext cx="6202776" cy="3584303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17853"/>
              </p:ext>
            </p:extLst>
          </p:nvPr>
        </p:nvGraphicFramePr>
        <p:xfrm>
          <a:off x="6637984" y="1052736"/>
          <a:ext cx="2972904" cy="49987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결재를 작성하여 완료되지 않은 문서나 사용자가 결재선에 포함되어 있으나 완료되지 않은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파일 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소속 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팝업</a:t>
                      </a:r>
                      <a:endParaRPr lang="ko-KR" altLang="en-US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나타난다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그래픽으로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수신 현황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읽음 확인 여부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277233" y="154238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391336" y="1718456"/>
            <a:ext cx="213515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직선 화살표 연결선 11"/>
          <p:cNvCxnSpPr>
            <a:cxnSpLocks/>
          </p:cNvCxnSpPr>
          <p:nvPr/>
        </p:nvCxnSpPr>
        <p:spPr bwMode="auto">
          <a:xfrm>
            <a:off x="1136576" y="3324142"/>
            <a:ext cx="0" cy="39918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직사각형 13"/>
          <p:cNvSpPr/>
          <p:nvPr/>
        </p:nvSpPr>
        <p:spPr bwMode="auto">
          <a:xfrm>
            <a:off x="468874" y="3511717"/>
            <a:ext cx="3576829" cy="12125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70117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7276" y="295949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7276" y="321745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836340" y="3189875"/>
            <a:ext cx="3209364" cy="27873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08722" y="3523273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746485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4117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36683" y="256112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n-lt"/>
              </a:rPr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진행함</a:t>
            </a:r>
          </a:p>
        </p:txBody>
      </p:sp>
    </p:spTree>
    <p:extLst>
      <p:ext uri="{BB962C8B-B14F-4D97-AF65-F5344CB8AC3E}">
        <p14:creationId xmlns:p14="http://schemas.microsoft.com/office/powerpoint/2010/main" val="142034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3DE8F7-76CA-45BF-9863-90FF8668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04" y="1714419"/>
            <a:ext cx="6290952" cy="348676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824002"/>
              </p:ext>
            </p:extLst>
          </p:nvPr>
        </p:nvGraphicFramePr>
        <p:xfrm>
          <a:off x="6681192" y="1028680"/>
          <a:ext cx="2972904" cy="38404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진행이 완료된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개인폴더함으로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볼수있는 팝업창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문서에 의견이 있다면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 의견 아이콘이 나타난다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결재문서가 중간에 수정되었다면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 수정 아이콘이 표시되며 클릭하면 상세내역을 확인 할수 있다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277233" y="154238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391336" y="1718456"/>
            <a:ext cx="213515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14477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789866" y="321806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91556" y="321600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125403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ECC0C-813F-4F00-80E1-04626AE911CF}"/>
              </a:ext>
            </a:extLst>
          </p:cNvPr>
          <p:cNvSpPr txBox="1"/>
          <p:nvPr/>
        </p:nvSpPr>
        <p:spPr>
          <a:xfrm>
            <a:off x="1536330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47" y="3233301"/>
            <a:ext cx="1285365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7" name="직사각형 12">
            <a:extLst>
              <a:ext uri="{FF2B5EF4-FFF2-40B4-BE49-F238E27FC236}">
                <a16:creationId xmlns:a16="http://schemas.microsoft.com/office/drawing/2014/main" id="{BDC5A8CA-8164-4ECA-834D-2D33BDA01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3" y="3226683"/>
            <a:ext cx="288862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8" name="직사각형 12">
            <a:extLst>
              <a:ext uri="{FF2B5EF4-FFF2-40B4-BE49-F238E27FC236}">
                <a16:creationId xmlns:a16="http://schemas.microsoft.com/office/drawing/2014/main" id="{A7F8C65B-DF2E-4F67-9FC0-D76FAF34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777" y="3226683"/>
            <a:ext cx="272376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B5397F-8821-4358-B04D-35E379B264C4}"/>
              </a:ext>
            </a:extLst>
          </p:cNvPr>
          <p:cNvSpPr txBox="1"/>
          <p:nvPr/>
        </p:nvSpPr>
        <p:spPr>
          <a:xfrm>
            <a:off x="6145782" y="321600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4742CC-F7B1-481E-85B7-BCB0C23F3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270" y="3866216"/>
            <a:ext cx="203266" cy="17422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완료함</a:t>
            </a:r>
          </a:p>
        </p:txBody>
      </p:sp>
    </p:spTree>
    <p:extLst>
      <p:ext uri="{BB962C8B-B14F-4D97-AF65-F5344CB8AC3E}">
        <p14:creationId xmlns:p14="http://schemas.microsoft.com/office/powerpoint/2010/main" val="2126682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8268AD3-6EF3-474B-AC4D-B21813FC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3" y="1740056"/>
            <a:ext cx="6211456" cy="2265354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819118"/>
              </p:ext>
            </p:extLst>
          </p:nvPr>
        </p:nvGraphicFramePr>
        <p:xfrm>
          <a:off x="6681192" y="1052736"/>
          <a:ext cx="2972904" cy="36271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자신이 기안하였거나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자신이 결재 요청한 문서 중 반려가 되어 결재가 되지 않은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임시함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반려함에서 삭제 버튼이 활성화 되며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목록에서 양식을 삭제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볼수있는 팝업창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문서에 의견이 있다면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 의견 아이콘이 나타난다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결재문서가 중간에 수정되었다면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 수정 아이콘이 표시되며 클릭하면 상세내역을 확인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할수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있다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533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5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83437" y="254116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812974" y="254116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505550" y="3210940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91556" y="321600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92413" y="2541164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ECC0C-813F-4F00-80E1-04626AE911CF}"/>
              </a:ext>
            </a:extLst>
          </p:cNvPr>
          <p:cNvSpPr txBox="1"/>
          <p:nvPr/>
        </p:nvSpPr>
        <p:spPr>
          <a:xfrm>
            <a:off x="1742096" y="254116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47" y="3233302"/>
            <a:ext cx="1285365" cy="3804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7" name="직사각형 12">
            <a:extLst>
              <a:ext uri="{FF2B5EF4-FFF2-40B4-BE49-F238E27FC236}">
                <a16:creationId xmlns:a16="http://schemas.microsoft.com/office/drawing/2014/main" id="{BDC5A8CA-8164-4ECA-834D-2D33BDA01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3" y="3226683"/>
            <a:ext cx="288862" cy="38704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8" name="직사각형 12">
            <a:extLst>
              <a:ext uri="{FF2B5EF4-FFF2-40B4-BE49-F238E27FC236}">
                <a16:creationId xmlns:a16="http://schemas.microsoft.com/office/drawing/2014/main" id="{A7F8C65B-DF2E-4F67-9FC0-D76FAF34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977" y="3226683"/>
            <a:ext cx="272376" cy="38910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B5397F-8821-4358-B04D-35E379B264C4}"/>
              </a:ext>
            </a:extLst>
          </p:cNvPr>
          <p:cNvSpPr txBox="1"/>
          <p:nvPr/>
        </p:nvSpPr>
        <p:spPr>
          <a:xfrm>
            <a:off x="6145782" y="321600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8F8517-DDAB-4659-A875-C6C4C4DF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447" y="3443395"/>
            <a:ext cx="158320" cy="14900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반려함</a:t>
            </a:r>
          </a:p>
        </p:txBody>
      </p:sp>
    </p:spTree>
    <p:extLst>
      <p:ext uri="{BB962C8B-B14F-4D97-AF65-F5344CB8AC3E}">
        <p14:creationId xmlns:p14="http://schemas.microsoft.com/office/powerpoint/2010/main" val="283551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4D1198-06DD-4CF2-B91E-6FE8A0D15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31" y="1708016"/>
            <a:ext cx="6246362" cy="2508042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52965"/>
              </p:ext>
            </p:extLst>
          </p:nvPr>
        </p:nvGraphicFramePr>
        <p:xfrm>
          <a:off x="6681192" y="1048896"/>
          <a:ext cx="2972904" cy="2164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작성 중 임시 저장한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임시함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반려함에서 삭제 버튼이 활성화 되며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목록에서 양식을 삭제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533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5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83437" y="254116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812974" y="254116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605653" y="3208984"/>
            <a:ext cx="2947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182" y="3218824"/>
            <a:ext cx="3801298" cy="57021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임시함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73354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572BBD-10E6-45D3-99B0-8D5E22E0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15" y="1736816"/>
            <a:ext cx="6303503" cy="2016596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549956"/>
              </p:ext>
            </p:extLst>
          </p:nvPr>
        </p:nvGraphicFramePr>
        <p:xfrm>
          <a:off x="6645192" y="1078984"/>
          <a:ext cx="2972904" cy="2926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사용자에게 참조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회람된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개인폴더함으로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항목을 일괄적으로 읽음 처리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42743" y="1530648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3768" y="1718456"/>
            <a:ext cx="1862725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3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450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70117" y="25450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2013" y="2987920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746485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4117" y="256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143101" y="25450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783" y="2077446"/>
            <a:ext cx="2994810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ECC0C-813F-4F00-80E1-04626AE911CF}"/>
              </a:ext>
            </a:extLst>
          </p:cNvPr>
          <p:cNvSpPr txBox="1"/>
          <p:nvPr/>
        </p:nvSpPr>
        <p:spPr>
          <a:xfrm>
            <a:off x="1612911" y="25450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80C79B-D825-4B58-8AB3-545683FD91BF}"/>
              </a:ext>
            </a:extLst>
          </p:cNvPr>
          <p:cNvSpPr txBox="1"/>
          <p:nvPr/>
        </p:nvSpPr>
        <p:spPr>
          <a:xfrm>
            <a:off x="2141015" y="25450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12">
            <a:extLst>
              <a:ext uri="{FF2B5EF4-FFF2-40B4-BE49-F238E27FC236}">
                <a16:creationId xmlns:a16="http://schemas.microsoft.com/office/drawing/2014/main" id="{7B32BF2C-B739-43C0-A6B5-A02CC1B98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190" y="3218824"/>
            <a:ext cx="2382738" cy="21017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035880-C071-4D52-8BC7-4F2B0883D68A}"/>
              </a:ext>
            </a:extLst>
          </p:cNvPr>
          <p:cNvSpPr txBox="1"/>
          <p:nvPr/>
        </p:nvSpPr>
        <p:spPr>
          <a:xfrm>
            <a:off x="1612911" y="3223884"/>
            <a:ext cx="353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개인 결재함 </a:t>
            </a:r>
            <a:r>
              <a:rPr lang="en-US" altLang="ko-KR" sz="1600" b="1" dirty="0"/>
              <a:t>– </a:t>
            </a:r>
            <a:r>
              <a:rPr lang="ko-KR" altLang="en-US" sz="1600" b="1" dirty="0"/>
              <a:t>참조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회람함</a:t>
            </a:r>
          </a:p>
        </p:txBody>
      </p:sp>
    </p:spTree>
    <p:extLst>
      <p:ext uri="{BB962C8B-B14F-4D97-AF65-F5344CB8AC3E}">
        <p14:creationId xmlns:p14="http://schemas.microsoft.com/office/powerpoint/2010/main" val="2621669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3. </a:t>
            </a:r>
            <a:r>
              <a:rPr kumimoji="0" lang="ko-KR" altLang="en-US" sz="4000" b="1" dirty="0">
                <a:latin typeface="+mj-ea"/>
              </a:rPr>
              <a:t>부서 결재함</a:t>
            </a:r>
          </a:p>
        </p:txBody>
      </p:sp>
    </p:spTree>
    <p:extLst>
      <p:ext uri="{BB962C8B-B14F-4D97-AF65-F5344CB8AC3E}">
        <p14:creationId xmlns:p14="http://schemas.microsoft.com/office/powerpoint/2010/main" val="3717614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3. </a:t>
            </a:r>
            <a:r>
              <a:rPr lang="ko-KR" altLang="en-US" sz="1600" b="1" dirty="0">
                <a:latin typeface="+mj-ea"/>
              </a:rPr>
              <a:t>부서 결재함 </a:t>
            </a:r>
            <a:r>
              <a:rPr lang="en-US" altLang="ko-KR" sz="1600" b="1" dirty="0">
                <a:latin typeface="+mj-ea"/>
              </a:rPr>
              <a:t>– GAP </a:t>
            </a:r>
            <a:r>
              <a:rPr lang="ko-KR" altLang="en-US" sz="16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22507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B9E26E-1542-4A45-9EC4-94D474542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9" y="1704056"/>
            <a:ext cx="6250579" cy="3468704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0425"/>
              </p:ext>
            </p:extLst>
          </p:nvPr>
        </p:nvGraphicFramePr>
        <p:xfrm>
          <a:off x="6671956" y="1064420"/>
          <a:ext cx="2972904" cy="249936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완료된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개인폴더함으로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8317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954246" y="32042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43108" y="255441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47" y="3211701"/>
            <a:ext cx="1285365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4742CC-F7B1-481E-85B7-BCB0C23F3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270" y="3866216"/>
            <a:ext cx="203266" cy="17422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완료함</a:t>
            </a:r>
          </a:p>
        </p:txBody>
      </p:sp>
    </p:spTree>
    <p:extLst>
      <p:ext uri="{BB962C8B-B14F-4D97-AF65-F5344CB8AC3E}">
        <p14:creationId xmlns:p14="http://schemas.microsoft.com/office/powerpoint/2010/main" val="2676557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7A36E19-3521-4A1C-AE7F-2EB6C9333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1" y="1722416"/>
            <a:ext cx="6220059" cy="1967879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688951"/>
              </p:ext>
            </p:extLst>
          </p:nvPr>
        </p:nvGraphicFramePr>
        <p:xfrm>
          <a:off x="6653484" y="1052736"/>
          <a:ext cx="2972904" cy="249936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부서부서 내 발신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개인폴더함으로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524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8317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954246" y="32042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43108" y="255441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47" y="3211701"/>
            <a:ext cx="1285365" cy="18142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발신함</a:t>
            </a:r>
          </a:p>
        </p:txBody>
      </p:sp>
    </p:spTree>
    <p:extLst>
      <p:ext uri="{BB962C8B-B14F-4D97-AF65-F5344CB8AC3E}">
        <p14:creationId xmlns:p14="http://schemas.microsoft.com/office/powerpoint/2010/main" val="3300765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BA399D-F0BF-40FF-A8F9-B03364F6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04" y="1730812"/>
            <a:ext cx="6256450" cy="2281764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9376"/>
              </p:ext>
            </p:extLst>
          </p:nvPr>
        </p:nvGraphicFramePr>
        <p:xfrm>
          <a:off x="6681192" y="1059552"/>
          <a:ext cx="2972904" cy="30175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수신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문서를 복수로 선택하여 일괄적으로 확인 접수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문서를 복수로 선택하여 일괄적으로 결재선을 적용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문서를 복수로 선택하여 일괄적으로 읽음 처리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05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볼수있는 팝업창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유무 확인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클릭하여 첨부파일 다운로드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14196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81790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861411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752617" y="3210744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332547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2979340"/>
            <a:ext cx="5749958" cy="18698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021" y="3217278"/>
            <a:ext cx="2404923" cy="186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04BA65-0E99-4469-8EAF-F37463402EE5}"/>
              </a:ext>
            </a:extLst>
          </p:cNvPr>
          <p:cNvSpPr txBox="1"/>
          <p:nvPr/>
        </p:nvSpPr>
        <p:spPr>
          <a:xfrm>
            <a:off x="1812168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9661E8-5286-459E-88B2-53DE53297204}"/>
              </a:ext>
            </a:extLst>
          </p:cNvPr>
          <p:cNvSpPr txBox="1"/>
          <p:nvPr/>
        </p:nvSpPr>
        <p:spPr>
          <a:xfrm>
            <a:off x="2272104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372640-DD9C-4D7B-975C-778D103EEEC3}"/>
              </a:ext>
            </a:extLst>
          </p:cNvPr>
          <p:cNvSpPr txBox="1"/>
          <p:nvPr/>
        </p:nvSpPr>
        <p:spPr>
          <a:xfrm>
            <a:off x="5530020" y="319591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12">
            <a:extLst>
              <a:ext uri="{FF2B5EF4-FFF2-40B4-BE49-F238E27FC236}">
                <a16:creationId xmlns:a16="http://schemas.microsoft.com/office/drawing/2014/main" id="{AFB72507-9372-4215-B169-4057194AD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70" y="3217278"/>
            <a:ext cx="668347" cy="186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수신함</a:t>
            </a:r>
          </a:p>
        </p:txBody>
      </p:sp>
    </p:spTree>
    <p:extLst>
      <p:ext uri="{BB962C8B-B14F-4D97-AF65-F5344CB8AC3E}">
        <p14:creationId xmlns:p14="http://schemas.microsoft.com/office/powerpoint/2010/main" val="3702375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CB7800-CE88-441B-92FA-80C8FB526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5" y="1729177"/>
            <a:ext cx="6262731" cy="3443203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326725"/>
              </p:ext>
            </p:extLst>
          </p:nvPr>
        </p:nvGraphicFramePr>
        <p:xfrm>
          <a:off x="6681192" y="1052736"/>
          <a:ext cx="2972904" cy="304800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부서로 수신된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수신함에 들어온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중에서 재기안 처리가 되어 결재가 완료된 문서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개인폴더함으로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 부서별 보기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86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파일유무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볼수있는 팝업창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유무 확인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클릭하여 첨부파일 다운로드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1064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8317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932646" y="320421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4310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47" y="3211701"/>
            <a:ext cx="1285365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5" name="직사각형 12">
            <a:extLst>
              <a:ext uri="{FF2B5EF4-FFF2-40B4-BE49-F238E27FC236}">
                <a16:creationId xmlns:a16="http://schemas.microsoft.com/office/drawing/2014/main" id="{58CB1F28-718E-4C26-A619-05959A45A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963" y="3204501"/>
            <a:ext cx="365879" cy="196787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889663-9A59-4D89-A871-DB4AB8F68278}"/>
              </a:ext>
            </a:extLst>
          </p:cNvPr>
          <p:cNvSpPr txBox="1"/>
          <p:nvPr/>
        </p:nvSpPr>
        <p:spPr>
          <a:xfrm>
            <a:off x="1753995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DA3AA-14D2-4374-9780-66107CB16C41}"/>
              </a:ext>
            </a:extLst>
          </p:cNvPr>
          <p:cNvSpPr txBox="1"/>
          <p:nvPr/>
        </p:nvSpPr>
        <p:spPr>
          <a:xfrm>
            <a:off x="3757101" y="320421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수신처리함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438177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B832D7F-52CD-4403-BBFB-D628E572E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11" y="1711061"/>
            <a:ext cx="6163558" cy="3407078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692401"/>
              </p:ext>
            </p:extLst>
          </p:nvPr>
        </p:nvGraphicFramePr>
        <p:xfrm>
          <a:off x="6681192" y="1078984"/>
          <a:ext cx="2972904" cy="2926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참조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문서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결재문서들을 개인폴더함으로 복사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 부서별 보기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문서를 복수로 선택하여 일괄적으로 읽음 처리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75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86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03551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8317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6074" y="299584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935322" y="3195903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D0BF5-298B-4646-B612-C40C1F97560C}"/>
              </a:ext>
            </a:extLst>
          </p:cNvPr>
          <p:cNvSpPr txBox="1"/>
          <p:nvPr/>
        </p:nvSpPr>
        <p:spPr>
          <a:xfrm>
            <a:off x="124310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8" y="2979340"/>
            <a:ext cx="5810926" cy="20005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292" y="3204212"/>
            <a:ext cx="2051636" cy="191392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889663-9A59-4D89-A871-DB4AB8F68278}"/>
              </a:ext>
            </a:extLst>
          </p:cNvPr>
          <p:cNvSpPr txBox="1"/>
          <p:nvPr/>
        </p:nvSpPr>
        <p:spPr>
          <a:xfrm>
            <a:off x="1753995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BDF42-144E-4148-84D0-ED24838B9062}"/>
              </a:ext>
            </a:extLst>
          </p:cNvPr>
          <p:cNvSpPr txBox="1"/>
          <p:nvPr/>
        </p:nvSpPr>
        <p:spPr>
          <a:xfrm>
            <a:off x="2264882" y="254519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– </a:t>
            </a:r>
            <a:r>
              <a:rPr lang="ko-KR" altLang="en-US" sz="1600" b="1" dirty="0"/>
              <a:t>참조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회람함</a:t>
            </a:r>
          </a:p>
        </p:txBody>
      </p:sp>
    </p:spTree>
    <p:extLst>
      <p:ext uri="{BB962C8B-B14F-4D97-AF65-F5344CB8AC3E}">
        <p14:creationId xmlns:p14="http://schemas.microsoft.com/office/powerpoint/2010/main" val="15644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FC7011-3778-4B28-BA4F-D02B93A75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65" y="1732856"/>
            <a:ext cx="6228974" cy="2271743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48359"/>
              </p:ext>
            </p:extLst>
          </p:nvPr>
        </p:nvGraphicFramePr>
        <p:xfrm>
          <a:off x="6681192" y="1051560"/>
          <a:ext cx="2972904" cy="23774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수신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검색 버튼 클릭 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선택된 문서함의 검색 조건에 맞는 전체 페이지 목록을 엑셀로 저장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목록형과 분할형 중 뷰어 방식을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제목을 클릭하면 본문을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볼수있는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유무 확인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클릭하여 첨부파일 다운로드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14196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653739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64968" y="1718456"/>
            <a:ext cx="1861526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cxnSpLocks/>
            <a:endCxn id="30" idx="3"/>
          </p:cNvCxnSpPr>
          <p:nvPr/>
        </p:nvCxnSpPr>
        <p:spPr bwMode="auto">
          <a:xfrm flipH="1">
            <a:off x="4866592" y="1930758"/>
            <a:ext cx="1431956" cy="38852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6098384" y="15423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871782" y="18906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81790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861411" y="25496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16474" y="29958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752617" y="321074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B1984-500D-41B6-85A1-6549644941A3}"/>
              </a:ext>
            </a:extLst>
          </p:cNvPr>
          <p:cNvSpPr txBox="1"/>
          <p:nvPr/>
        </p:nvSpPr>
        <p:spPr>
          <a:xfrm>
            <a:off x="5817958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3A221-E834-4D87-B871-ED561EF0819F}"/>
              </a:ext>
            </a:extLst>
          </p:cNvPr>
          <p:cNvSpPr txBox="1"/>
          <p:nvPr/>
        </p:nvSpPr>
        <p:spPr>
          <a:xfrm>
            <a:off x="6159502" y="25496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CBBFB45A-1A21-48CD-85F8-D658E535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9" y="2077446"/>
            <a:ext cx="2941523" cy="48368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08C1FD42-E2D9-484E-B97B-1BFFF1C3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2979340"/>
            <a:ext cx="5749958" cy="18698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03BA2E77-AE59-41ED-8C27-F4EEA32B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748" y="3188923"/>
            <a:ext cx="2404923" cy="186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4742CC-F7B1-481E-85B7-BCB0C23F3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270" y="3866216"/>
            <a:ext cx="203266" cy="17422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7372640-DD9C-4D7B-975C-778D103EEEC3}"/>
              </a:ext>
            </a:extLst>
          </p:cNvPr>
          <p:cNvSpPr txBox="1"/>
          <p:nvPr/>
        </p:nvSpPr>
        <p:spPr>
          <a:xfrm>
            <a:off x="5587620" y="319591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12">
            <a:extLst>
              <a:ext uri="{FF2B5EF4-FFF2-40B4-BE49-F238E27FC236}">
                <a16:creationId xmlns:a16="http://schemas.microsoft.com/office/drawing/2014/main" id="{AFB72507-9372-4215-B169-4057194AD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70" y="3195678"/>
            <a:ext cx="668347" cy="186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부서 결재함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진행함</a:t>
            </a:r>
          </a:p>
        </p:txBody>
      </p:sp>
    </p:spTree>
    <p:extLst>
      <p:ext uri="{BB962C8B-B14F-4D97-AF65-F5344CB8AC3E}">
        <p14:creationId xmlns:p14="http://schemas.microsoft.com/office/powerpoint/2010/main" val="170277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4. </a:t>
            </a:r>
            <a:r>
              <a:rPr kumimoji="0" lang="ko-KR" altLang="en-US" sz="4000" b="1" dirty="0">
                <a:latin typeface="+mj-ea"/>
              </a:rPr>
              <a:t>문서 작성하기</a:t>
            </a:r>
          </a:p>
        </p:txBody>
      </p:sp>
    </p:spTree>
    <p:extLst>
      <p:ext uri="{BB962C8B-B14F-4D97-AF65-F5344CB8AC3E}">
        <p14:creationId xmlns:p14="http://schemas.microsoft.com/office/powerpoint/2010/main" val="1665987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4. </a:t>
            </a:r>
            <a:r>
              <a:rPr lang="ko-KR" altLang="en-US" sz="1600" b="1" dirty="0">
                <a:latin typeface="+mj-ea"/>
              </a:rPr>
              <a:t>문서 작성하기 </a:t>
            </a:r>
            <a:r>
              <a:rPr lang="en-US" altLang="ko-KR" sz="1600" b="1" dirty="0">
                <a:latin typeface="+mj-ea"/>
              </a:rPr>
              <a:t>– GAP </a:t>
            </a:r>
            <a:r>
              <a:rPr lang="ko-KR" altLang="en-US" sz="16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6637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01" y="1892392"/>
            <a:ext cx="6203667" cy="289158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30897"/>
              </p:ext>
            </p:extLst>
          </p:nvPr>
        </p:nvGraphicFramePr>
        <p:xfrm>
          <a:off x="6645192" y="1052736"/>
          <a:ext cx="2972904" cy="280416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문서 선택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보기 유형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분류별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결재 문서 보기 아래와 같이 탭으로 분류가 나누어져 보인다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 없이 모든 문서가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기안 문서를 볼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 쓰는 기안 문서를 볼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 쓰는 기안은 결재 문서 우측 상단의 ☆모양 버튼으로 설정한다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회색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파랑색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커스터마이징</a:t>
                      </a:r>
                      <a:r>
                        <a:rPr lang="en-US" altLang="ko-KR" sz="800" b="0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800" b="0" i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명으로 검색한다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클릭 시 결재 문서가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자주쓰는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기안 설정을 할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설명을 볼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12833" y="221582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5058" y="2722313"/>
            <a:ext cx="2039670" cy="36394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>
            <a:endCxn id="9" idx="2"/>
          </p:cNvCxnSpPr>
          <p:nvPr/>
        </p:nvCxnSpPr>
        <p:spPr bwMode="auto">
          <a:xfrm flipV="1">
            <a:off x="768860" y="1833315"/>
            <a:ext cx="794370" cy="61076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05" y="823665"/>
            <a:ext cx="781050" cy="100965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 bwMode="auto">
          <a:xfrm>
            <a:off x="644243" y="3338182"/>
            <a:ext cx="936104" cy="138696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028274" y="221582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678213" y="221582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592960" y="220950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57264" y="31517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051720" y="346877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144198" y="441621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화살표: 오른쪽 2"/>
          <p:cNvSpPr/>
          <p:nvPr/>
        </p:nvSpPr>
        <p:spPr bwMode="auto">
          <a:xfrm rot="2980143">
            <a:off x="2000671" y="3343694"/>
            <a:ext cx="1008112" cy="792088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906495"/>
              </p:ext>
            </p:extLst>
          </p:nvPr>
        </p:nvGraphicFramePr>
        <p:xfrm>
          <a:off x="6645192" y="4326180"/>
          <a:ext cx="2972904" cy="640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문서 선택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테이블ㅇ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기안 문서를 볼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문서 선택</a:t>
            </a:r>
          </a:p>
        </p:txBody>
      </p:sp>
      <p:sp>
        <p:nvSpPr>
          <p:cNvPr id="4" name="순서도: 준비 3"/>
          <p:cNvSpPr/>
          <p:nvPr/>
        </p:nvSpPr>
        <p:spPr bwMode="auto">
          <a:xfrm>
            <a:off x="352940" y="816403"/>
            <a:ext cx="1080120" cy="461665"/>
          </a:xfrm>
          <a:prstGeom prst="flowChartPreparation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itchFamily="50" charset="-127"/>
                <a:ea typeface="나눔고딕" pitchFamily="50" charset="-127"/>
              </a:rPr>
              <a:t>커스터마이징</a:t>
            </a:r>
          </a:p>
        </p:txBody>
      </p:sp>
    </p:spTree>
    <p:extLst>
      <p:ext uri="{BB962C8B-B14F-4D97-AF65-F5344CB8AC3E}">
        <p14:creationId xmlns:p14="http://schemas.microsoft.com/office/powerpoint/2010/main" val="247325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667860"/>
            <a:ext cx="6248745" cy="140446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7" y="3296538"/>
            <a:ext cx="6175763" cy="80329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344655"/>
              </p:ext>
            </p:extLst>
          </p:nvPr>
        </p:nvGraphicFramePr>
        <p:xfrm>
          <a:off x="6645192" y="1038240"/>
          <a:ext cx="2972904" cy="13106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문서 선택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기안한 문서가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문서상태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재사용 버튼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재사용 버튼을 통해 해당 문서를 재사용한다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별표 표시로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자주쓰는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기안으로 등록 된 문서가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문서명을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클릭하여 해당 문서를 띄운다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04528" y="155149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315556" y="2074635"/>
            <a:ext cx="6098334" cy="93931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673079" y="2150539"/>
            <a:ext cx="414445" cy="1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276841" y="3698183"/>
            <a:ext cx="5972303" cy="40164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04528" y="313698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993390" y="3789040"/>
            <a:ext cx="454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문서 선택</a:t>
            </a:r>
          </a:p>
        </p:txBody>
      </p:sp>
    </p:spTree>
    <p:extLst>
      <p:ext uri="{BB962C8B-B14F-4D97-AF65-F5344CB8AC3E}">
        <p14:creationId xmlns:p14="http://schemas.microsoft.com/office/powerpoint/2010/main" val="951047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617002"/>
              </p:ext>
            </p:extLst>
          </p:nvPr>
        </p:nvGraphicFramePr>
        <p:xfrm>
          <a:off x="6681192" y="1061840"/>
          <a:ext cx="2972904" cy="2871216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기능 및 기본 포맷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버튼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 완료된 문서를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상신한다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지정을 위한 팝업창을 오픈한다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임시저장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현재까지 작성된 내용을 임시 저장한다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문서연결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결재 문서를 연결한다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결재자의 미결함 최상단에 표시된다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기밀문서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및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 결재 선에 지정된 사람만 문서 열람 권한이 있으며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 외의 경우에는 볼 수 없도록 제한된다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완료함에 문서가 쌓이지 않는다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미리보기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현재까지 작성된 문서를 뷰 형태로 미리 본다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비정형양식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웹에디터 사용 필요양식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정형 입력양식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HTML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신청서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등록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ACTIVEX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가지 유형 모두 동일한 컨트롤 사용하며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하단에 표시된다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B04565B-157B-4D12-B913-5837A4252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4" y="1220325"/>
            <a:ext cx="6120680" cy="5965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C11A36-30E6-4474-8E94-24D39AEC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764" y="1752830"/>
            <a:ext cx="3151700" cy="33523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0D0327-7A78-4C9B-B6B6-28184322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84" y="1864038"/>
            <a:ext cx="2972904" cy="3352340"/>
          </a:xfrm>
          <a:prstGeom prst="rect">
            <a:avLst/>
          </a:prstGeom>
        </p:spPr>
      </p:pic>
      <p:sp>
        <p:nvSpPr>
          <p:cNvPr id="18" name="직사각형 12">
            <a:extLst>
              <a:ext uri="{FF2B5EF4-FFF2-40B4-BE49-F238E27FC236}">
                <a16:creationId xmlns:a16="http://schemas.microsoft.com/office/drawing/2014/main" id="{5D03E5A5-D172-4768-9B7C-B2E8FC7F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96" y="1157554"/>
            <a:ext cx="6184768" cy="54813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6E018-554A-4B27-9EEA-86133FEC9AC9}"/>
              </a:ext>
            </a:extLst>
          </p:cNvPr>
          <p:cNvSpPr txBox="1"/>
          <p:nvPr/>
        </p:nvSpPr>
        <p:spPr>
          <a:xfrm>
            <a:off x="349920" y="95749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12">
            <a:extLst>
              <a:ext uri="{FF2B5EF4-FFF2-40B4-BE49-F238E27FC236}">
                <a16:creationId xmlns:a16="http://schemas.microsoft.com/office/drawing/2014/main" id="{7B877C8E-538C-4C1B-A01C-0882F64D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96" y="1905744"/>
            <a:ext cx="3018668" cy="335233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3" name="직사각형 12">
            <a:extLst>
              <a:ext uri="{FF2B5EF4-FFF2-40B4-BE49-F238E27FC236}">
                <a16:creationId xmlns:a16="http://schemas.microsoft.com/office/drawing/2014/main" id="{29E3ACCD-4312-4920-B477-4C1E8112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921" y="1911887"/>
            <a:ext cx="3111543" cy="335233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69C845-B855-4369-AA11-26549020E2C7}"/>
              </a:ext>
            </a:extLst>
          </p:cNvPr>
          <p:cNvSpPr txBox="1"/>
          <p:nvPr/>
        </p:nvSpPr>
        <p:spPr>
          <a:xfrm>
            <a:off x="332790" y="171687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C24A4B-F70C-4DF5-9664-F5B68E0859B4}"/>
              </a:ext>
            </a:extLst>
          </p:cNvPr>
          <p:cNvSpPr txBox="1"/>
          <p:nvPr/>
        </p:nvSpPr>
        <p:spPr>
          <a:xfrm>
            <a:off x="3512010" y="171505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381589-746D-45FD-8F51-837E3A4CB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60" y="5271256"/>
            <a:ext cx="3151700" cy="993289"/>
          </a:xfrm>
          <a:prstGeom prst="rect">
            <a:avLst/>
          </a:prstGeom>
        </p:spPr>
      </p:pic>
      <p:sp>
        <p:nvSpPr>
          <p:cNvPr id="26" name="직사각형 12">
            <a:extLst>
              <a:ext uri="{FF2B5EF4-FFF2-40B4-BE49-F238E27FC236}">
                <a16:creationId xmlns:a16="http://schemas.microsoft.com/office/drawing/2014/main" id="{185E3D53-367D-4C4D-A0FE-A4A9B271A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2" y="5298495"/>
            <a:ext cx="3173077" cy="96604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4895CD-0AAF-490C-B039-7E3DA264A34E}"/>
              </a:ext>
            </a:extLst>
          </p:cNvPr>
          <p:cNvSpPr txBox="1"/>
          <p:nvPr/>
        </p:nvSpPr>
        <p:spPr>
          <a:xfrm>
            <a:off x="283565" y="528753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기능 및 기본 포맷</a:t>
            </a:r>
          </a:p>
        </p:txBody>
      </p:sp>
    </p:spTree>
    <p:extLst>
      <p:ext uri="{BB962C8B-B14F-4D97-AF65-F5344CB8AC3E}">
        <p14:creationId xmlns:p14="http://schemas.microsoft.com/office/powerpoint/2010/main" val="2154981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67E9C2B-13A3-4350-B3F0-4E473D02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3" y="4838607"/>
            <a:ext cx="5864010" cy="72810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66F4C47-DF0B-481F-B94D-59576B18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80" y="2609445"/>
            <a:ext cx="5919622" cy="191309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BAF71C1-C7D8-45A8-8A67-797F8D8B2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84" y="986896"/>
            <a:ext cx="5919622" cy="1377572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401919"/>
              </p:ext>
            </p:extLst>
          </p:nvPr>
        </p:nvGraphicFramePr>
        <p:xfrm>
          <a:off x="6660616" y="1071760"/>
          <a:ext cx="2972904" cy="2048256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결재선 및 공통영역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일반결재 결재선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좌측에는 기안부서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우측에는 담당부서가 표시된다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일반결재 결재선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상단에 기안부서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하단에는 담당부서가 표시된다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작성자 명칭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작성부서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작성자의 부서명칭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문서번호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고유번호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 후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발번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문서분류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분류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Meta Data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보안등급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보안등급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Meta Data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보존년한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문서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보존년한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Meta Data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</a:tbl>
          </a:graphicData>
        </a:graphic>
      </p:graphicFrame>
      <p:sp>
        <p:nvSpPr>
          <p:cNvPr id="18" name="직사각형 12">
            <a:extLst>
              <a:ext uri="{FF2B5EF4-FFF2-40B4-BE49-F238E27FC236}">
                <a16:creationId xmlns:a16="http://schemas.microsoft.com/office/drawing/2014/main" id="{5D03E5A5-D172-4768-9B7C-B2E8FC7F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80" y="970634"/>
            <a:ext cx="5919622" cy="1393833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6E018-554A-4B27-9EEA-86133FEC9AC9}"/>
              </a:ext>
            </a:extLst>
          </p:cNvPr>
          <p:cNvSpPr txBox="1"/>
          <p:nvPr/>
        </p:nvSpPr>
        <p:spPr>
          <a:xfrm>
            <a:off x="368380" y="74107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12">
            <a:extLst>
              <a:ext uri="{FF2B5EF4-FFF2-40B4-BE49-F238E27FC236}">
                <a16:creationId xmlns:a16="http://schemas.microsoft.com/office/drawing/2014/main" id="{7B877C8E-538C-4C1B-A01C-0882F64D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20" y="2602644"/>
            <a:ext cx="5898942" cy="192669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3" name="직사각형 12">
            <a:extLst>
              <a:ext uri="{FF2B5EF4-FFF2-40B4-BE49-F238E27FC236}">
                <a16:creationId xmlns:a16="http://schemas.microsoft.com/office/drawing/2014/main" id="{29E3ACCD-4312-4920-B477-4C1E8112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54" y="4802064"/>
            <a:ext cx="5881229" cy="80119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69C845-B855-4369-AA11-26549020E2C7}"/>
              </a:ext>
            </a:extLst>
          </p:cNvPr>
          <p:cNvSpPr txBox="1"/>
          <p:nvPr/>
        </p:nvSpPr>
        <p:spPr>
          <a:xfrm>
            <a:off x="377680" y="240258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C24A4B-F70C-4DF5-9664-F5B68E0859B4}"/>
              </a:ext>
            </a:extLst>
          </p:cNvPr>
          <p:cNvSpPr txBox="1"/>
          <p:nvPr/>
        </p:nvSpPr>
        <p:spPr>
          <a:xfrm>
            <a:off x="367660" y="457451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결재선 및 공통영역</a:t>
            </a:r>
            <a:r>
              <a:rPr kumimoji="0" lang="en-US" altLang="ko-KR" sz="1600" b="1" dirty="0"/>
              <a:t>(1)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49324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53" y="5229200"/>
            <a:ext cx="5900723" cy="992719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89363"/>
              </p:ext>
            </p:extLst>
          </p:nvPr>
        </p:nvGraphicFramePr>
        <p:xfrm>
          <a:off x="6660616" y="1071760"/>
          <a:ext cx="2972904" cy="1804416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197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별 결재선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품의 유형 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 결재선이 우측에 표시되며 합의자는 발신부서 결재선 하단에 목록으로 표시된다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유형 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 결재선이 우측에 표시되며 발신부서 결재 완료 후 배포되는 수신처와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참조처는 문서 공통영역 하단에 표시된다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신청서 유형 결재선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발신부서 결재선이 좌측으로 표시되며 처리부서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or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 담당자는 우측으로 정렬되어 표시된다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</a:tbl>
          </a:graphicData>
        </a:graphic>
      </p:graphicFrame>
      <p:sp>
        <p:nvSpPr>
          <p:cNvPr id="18" name="직사각형 12">
            <a:extLst>
              <a:ext uri="{FF2B5EF4-FFF2-40B4-BE49-F238E27FC236}">
                <a16:creationId xmlns:a16="http://schemas.microsoft.com/office/drawing/2014/main" id="{5D03E5A5-D172-4768-9B7C-B2E8FC7F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3" y="5219488"/>
            <a:ext cx="5953423" cy="99489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6E018-554A-4B27-9EEA-86133FEC9AC9}"/>
              </a:ext>
            </a:extLst>
          </p:cNvPr>
          <p:cNvSpPr txBox="1"/>
          <p:nvPr/>
        </p:nvSpPr>
        <p:spPr>
          <a:xfrm>
            <a:off x="404003" y="525624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결재선 및 공통영역</a:t>
            </a:r>
            <a:r>
              <a:rPr kumimoji="0" lang="en-US" altLang="ko-KR" sz="1600" b="1" dirty="0"/>
              <a:t>(2)</a:t>
            </a:r>
            <a:endParaRPr lang="ko-KR" altLang="en-US" sz="16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47" y="1016594"/>
            <a:ext cx="5948967" cy="1805204"/>
          </a:xfrm>
          <a:prstGeom prst="rect">
            <a:avLst/>
          </a:prstGeom>
        </p:spPr>
      </p:pic>
      <p:sp>
        <p:nvSpPr>
          <p:cNvPr id="14" name="직사각형 12"/>
          <p:cNvSpPr>
            <a:spLocks noChangeArrowheads="1"/>
          </p:cNvSpPr>
          <p:nvPr/>
        </p:nvSpPr>
        <p:spPr bwMode="auto">
          <a:xfrm>
            <a:off x="378691" y="998155"/>
            <a:ext cx="5953423" cy="1823643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5" name="TextBox 14"/>
          <p:cNvSpPr txBox="1"/>
          <p:nvPr/>
        </p:nvSpPr>
        <p:spPr>
          <a:xfrm>
            <a:off x="370203" y="103193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53" y="3068960"/>
            <a:ext cx="5919622" cy="1940125"/>
          </a:xfrm>
          <a:prstGeom prst="rect">
            <a:avLst/>
          </a:prstGeom>
        </p:spPr>
      </p:pic>
      <p:sp>
        <p:nvSpPr>
          <p:cNvPr id="20" name="직사각형 12"/>
          <p:cNvSpPr>
            <a:spLocks noChangeArrowheads="1"/>
          </p:cNvSpPr>
          <p:nvPr/>
        </p:nvSpPr>
        <p:spPr bwMode="auto">
          <a:xfrm>
            <a:off x="370415" y="3073931"/>
            <a:ext cx="5958041" cy="1935153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1" name="TextBox 20"/>
          <p:cNvSpPr txBox="1"/>
          <p:nvPr/>
        </p:nvSpPr>
        <p:spPr>
          <a:xfrm>
            <a:off x="391211" y="312159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422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896A495-5185-453E-A3DB-82B18C90B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27" y="734973"/>
            <a:ext cx="5673080" cy="29688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019B56-3FF4-4970-966F-8A05720D9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75" y="3703814"/>
            <a:ext cx="5313040" cy="2472798"/>
          </a:xfrm>
          <a:prstGeom prst="rect">
            <a:avLst/>
          </a:prstGeom>
        </p:spPr>
      </p:pic>
      <p:sp>
        <p:nvSpPr>
          <p:cNvPr id="21" name="직사각형 12">
            <a:extLst>
              <a:ext uri="{FF2B5EF4-FFF2-40B4-BE49-F238E27FC236}">
                <a16:creationId xmlns:a16="http://schemas.microsoft.com/office/drawing/2014/main" id="{CD35FD22-200D-4D87-A716-E2F38854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503" y="735547"/>
            <a:ext cx="1526282" cy="23342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95387-C817-4314-B557-689BAC9A9A6F}"/>
              </a:ext>
            </a:extLst>
          </p:cNvPr>
          <p:cNvSpPr txBox="1"/>
          <p:nvPr/>
        </p:nvSpPr>
        <p:spPr>
          <a:xfrm>
            <a:off x="1193641" y="69954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12">
            <a:extLst>
              <a:ext uri="{FF2B5EF4-FFF2-40B4-BE49-F238E27FC236}">
                <a16:creationId xmlns:a16="http://schemas.microsoft.com/office/drawing/2014/main" id="{51125BB7-E188-4BDA-AD18-226C5B22C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28" y="739853"/>
            <a:ext cx="849982" cy="23342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8" name="직사각형 12">
            <a:extLst>
              <a:ext uri="{FF2B5EF4-FFF2-40B4-BE49-F238E27FC236}">
                <a16:creationId xmlns:a16="http://schemas.microsoft.com/office/drawing/2014/main" id="{A5397E9F-764F-4993-90C5-BD934622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89" y="1009700"/>
            <a:ext cx="2623698" cy="177122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EABB1-F8DD-4487-88E7-E66D2A2283E4}"/>
              </a:ext>
            </a:extLst>
          </p:cNvPr>
          <p:cNvSpPr txBox="1"/>
          <p:nvPr/>
        </p:nvSpPr>
        <p:spPr>
          <a:xfrm>
            <a:off x="1193641" y="10043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12">
            <a:extLst>
              <a:ext uri="{FF2B5EF4-FFF2-40B4-BE49-F238E27FC236}">
                <a16:creationId xmlns:a16="http://schemas.microsoft.com/office/drawing/2014/main" id="{0F235050-AEFD-4B56-8CD9-46323608F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784" y="1045901"/>
            <a:ext cx="2952327" cy="123097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1" name="직사각형 12">
            <a:extLst>
              <a:ext uri="{FF2B5EF4-FFF2-40B4-BE49-F238E27FC236}">
                <a16:creationId xmlns:a16="http://schemas.microsoft.com/office/drawing/2014/main" id="{9BF4ACE3-6F8A-4735-B418-EAE03E2B8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599" y="2315242"/>
            <a:ext cx="2951511" cy="897733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8287B5-67ED-45A3-B586-157AEF4BAA79}"/>
              </a:ext>
            </a:extLst>
          </p:cNvPr>
          <p:cNvSpPr txBox="1"/>
          <p:nvPr/>
        </p:nvSpPr>
        <p:spPr>
          <a:xfrm>
            <a:off x="2974311" y="105043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C25CF-D5E0-44BA-B403-0B9E510BA545}"/>
              </a:ext>
            </a:extLst>
          </p:cNvPr>
          <p:cNvSpPr txBox="1"/>
          <p:nvPr/>
        </p:nvSpPr>
        <p:spPr>
          <a:xfrm>
            <a:off x="2974311" y="232223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DFB562BB-02F1-4FB8-9FC3-37C020FA4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89" y="3703814"/>
            <a:ext cx="5318426" cy="247279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B8F4EE-5630-4C4D-88EC-C045B9AE2B4C}"/>
              </a:ext>
            </a:extLst>
          </p:cNvPr>
          <p:cNvSpPr txBox="1"/>
          <p:nvPr/>
        </p:nvSpPr>
        <p:spPr>
          <a:xfrm>
            <a:off x="4886872" y="76891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6B6913-BC76-4143-B1E0-FE0FE4673FB7}"/>
              </a:ext>
            </a:extLst>
          </p:cNvPr>
          <p:cNvSpPr txBox="1"/>
          <p:nvPr/>
        </p:nvSpPr>
        <p:spPr>
          <a:xfrm>
            <a:off x="5381153" y="373924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28830A-FA28-431E-989A-366B61C22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199" y="1561415"/>
            <a:ext cx="485947" cy="606231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349889"/>
              </p:ext>
            </p:extLst>
          </p:nvPr>
        </p:nvGraphicFramePr>
        <p:xfrm>
          <a:off x="6645192" y="1050776"/>
          <a:ext cx="2972904" cy="396240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결재선 선택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기본적으로 나의 계열사 조직만 나온다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회사명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계열사 조직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Tree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나온다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또는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사용자를 검색할 수 있다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 트리 및 목록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 조직부서를 선택하면 하단에 해당 부서의 부서원이 조회됨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조직도에서 직원 선택 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일반결재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],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부서합의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개인합의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등을 결재자로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수신자는 특정 양식을 담당하는 부서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담당자를 사전에 시스템 관리자가 등록하게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양식에 고정이면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작성 시 양식을 열면 담당부서가 자동으로 셋팅 되며 고정이 아닌 경우는 기안자가 선택 할 수 있다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참조목록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조직도에서 직원 선택 후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사전참조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],[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사후참조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버튼으로 사용자 선택 가능하다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 및 검색을 통해 기안자가 원하는 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사용자를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지정할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수신처를 지정할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부서의 수신함에 문서가 도착하고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수신자를 지정할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수신자의 미결함에 문서가 도착한다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하위부서포함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옵션을 체크할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부서 및 그 부서 하위의 모든 부서 수신함에 문서가 배달된다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결재선 선택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6155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AA76DAF-170D-4CBF-AB10-6E206F3A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980728"/>
            <a:ext cx="4571520" cy="3403367"/>
          </a:xfrm>
          <a:prstGeom prst="rect">
            <a:avLst/>
          </a:prstGeom>
        </p:spPr>
      </p:pic>
      <p:sp>
        <p:nvSpPr>
          <p:cNvPr id="21" name="직사각형 12">
            <a:extLst>
              <a:ext uri="{FF2B5EF4-FFF2-40B4-BE49-F238E27FC236}">
                <a16:creationId xmlns:a16="http://schemas.microsoft.com/office/drawing/2014/main" id="{CD35FD22-200D-4D87-A716-E2F38854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912" y="4131399"/>
            <a:ext cx="886397" cy="25269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95387-C817-4314-B557-689BAC9A9A6F}"/>
              </a:ext>
            </a:extLst>
          </p:cNvPr>
          <p:cNvSpPr txBox="1"/>
          <p:nvPr/>
        </p:nvSpPr>
        <p:spPr>
          <a:xfrm>
            <a:off x="488089" y="121034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09155"/>
              </p:ext>
            </p:extLst>
          </p:nvPr>
        </p:nvGraphicFramePr>
        <p:xfrm>
          <a:off x="6645192" y="1052736"/>
          <a:ext cx="2972904" cy="3066288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문서연결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조건 입력 영역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조건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연결 대상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결재가 완료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승인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 문서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결과 목록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영역의 검색 조건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해당하는 결재 문서 목록을 표시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항목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문서연결 설정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문서연결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②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영역의 선택된 결재 문서를 연결문서로 설정함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문서연결 없이 문서연결 설정 화면을 닫음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연결 대상 결재함 목록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결재가 완료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승인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 문서들만 연결 문서로 설정 가능함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연결 대상 결재함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부서수신처리함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</a:tbl>
          </a:graphicData>
        </a:graphic>
      </p:graphicFrame>
      <p:sp>
        <p:nvSpPr>
          <p:cNvPr id="22" name="직사각형 12">
            <a:extLst>
              <a:ext uri="{FF2B5EF4-FFF2-40B4-BE49-F238E27FC236}">
                <a16:creationId xmlns:a16="http://schemas.microsoft.com/office/drawing/2014/main" id="{32E665FC-577D-448D-B4CF-FE538C558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3" y="1233011"/>
            <a:ext cx="4464367" cy="4549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3" name="직사각형 12">
            <a:extLst>
              <a:ext uri="{FF2B5EF4-FFF2-40B4-BE49-F238E27FC236}">
                <a16:creationId xmlns:a16="http://schemas.microsoft.com/office/drawing/2014/main" id="{7E56E6B4-B502-4783-B05F-B36447AC6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" y="1726458"/>
            <a:ext cx="4464367" cy="199210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F09F1B-5B04-44F2-A256-9C447868821C}"/>
              </a:ext>
            </a:extLst>
          </p:cNvPr>
          <p:cNvSpPr txBox="1"/>
          <p:nvPr/>
        </p:nvSpPr>
        <p:spPr>
          <a:xfrm>
            <a:off x="488089" y="1726458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077E25-14F5-455E-909C-E09187B6F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090" y="4595264"/>
            <a:ext cx="1479500" cy="670271"/>
          </a:xfrm>
          <a:prstGeom prst="rect">
            <a:avLst/>
          </a:prstGeom>
        </p:spPr>
      </p:pic>
      <p:sp>
        <p:nvSpPr>
          <p:cNvPr id="41" name="직사각형 12">
            <a:extLst>
              <a:ext uri="{FF2B5EF4-FFF2-40B4-BE49-F238E27FC236}">
                <a16:creationId xmlns:a16="http://schemas.microsoft.com/office/drawing/2014/main" id="{7D69E5B7-D6AE-4B92-803E-5DA368D3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308" y="4520850"/>
            <a:ext cx="1526282" cy="76846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42" name="꺾인 연결선 26">
            <a:extLst>
              <a:ext uri="{FF2B5EF4-FFF2-40B4-BE49-F238E27FC236}">
                <a16:creationId xmlns:a16="http://schemas.microsoft.com/office/drawing/2014/main" id="{4208A775-564A-4EDB-A0D3-240DDB4B44C0}"/>
              </a:ext>
            </a:extLst>
          </p:cNvPr>
          <p:cNvCxnSpPr/>
          <p:nvPr/>
        </p:nvCxnSpPr>
        <p:spPr>
          <a:xfrm>
            <a:off x="5047309" y="1460476"/>
            <a:ext cx="726281" cy="3472293"/>
          </a:xfrm>
          <a:prstGeom prst="bentConnector3">
            <a:avLst>
              <a:gd name="adj1" fmla="val 131475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B5BFF5F-D037-482B-AB61-C33C7A8C052E}"/>
              </a:ext>
            </a:extLst>
          </p:cNvPr>
          <p:cNvSpPr txBox="1"/>
          <p:nvPr/>
        </p:nvSpPr>
        <p:spPr>
          <a:xfrm>
            <a:off x="3981837" y="4544235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A1B96D-D309-4845-AE34-C057BC9D5A7A}"/>
              </a:ext>
            </a:extLst>
          </p:cNvPr>
          <p:cNvSpPr txBox="1"/>
          <p:nvPr/>
        </p:nvSpPr>
        <p:spPr>
          <a:xfrm>
            <a:off x="3880278" y="4131399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4. </a:t>
            </a:r>
            <a:r>
              <a:rPr lang="ko-KR" altLang="en-US" sz="1600" b="1" dirty="0"/>
              <a:t>문서 작성하기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문서연결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02526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5. </a:t>
            </a:r>
            <a:r>
              <a:rPr kumimoji="0" lang="ko-KR" altLang="en-US" sz="4000" b="1" dirty="0">
                <a:latin typeface="+mj-ea"/>
              </a:rPr>
              <a:t>결재처리</a:t>
            </a:r>
          </a:p>
        </p:txBody>
      </p:sp>
    </p:spTree>
    <p:extLst>
      <p:ext uri="{BB962C8B-B14F-4D97-AF65-F5344CB8AC3E}">
        <p14:creationId xmlns:p14="http://schemas.microsoft.com/office/powerpoint/2010/main" val="2339099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5. </a:t>
            </a:r>
            <a:r>
              <a:rPr lang="ko-KR" altLang="en-US" sz="1600" b="1" dirty="0">
                <a:latin typeface="+mj-ea"/>
              </a:rPr>
              <a:t>결재처리 </a:t>
            </a:r>
            <a:r>
              <a:rPr lang="en-US" altLang="ko-KR" sz="1600" b="1" dirty="0">
                <a:latin typeface="+mj-ea"/>
              </a:rPr>
              <a:t>– GAP </a:t>
            </a:r>
            <a:r>
              <a:rPr lang="ko-KR" altLang="en-US" sz="16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81497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1CFF537-85EB-4B2A-8DC0-27D87EC6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17" y="1034624"/>
            <a:ext cx="5250666" cy="45691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D95387-C817-4314-B557-689BAC9A9A6F}"/>
              </a:ext>
            </a:extLst>
          </p:cNvPr>
          <p:cNvSpPr txBox="1"/>
          <p:nvPr/>
        </p:nvSpPr>
        <p:spPr>
          <a:xfrm>
            <a:off x="698650" y="82745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51139"/>
              </p:ext>
            </p:extLst>
          </p:nvPr>
        </p:nvGraphicFramePr>
        <p:xfrm>
          <a:off x="6645192" y="1056480"/>
          <a:ext cx="2972904" cy="4748784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결재하기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검결재 기능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Menu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결재할 문서의 내용을 편집함 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양식별로 편집 가능하게 설정된 경우에 버튼이 표시됨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결재문서를 승인함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결재문서를 반려함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시 의견 입력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보류의견은 필수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지정반려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기결재자 미결함으로 문서를 되돌림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및 기결재자에게 의사결정 보류를 알림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지정반려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버튼은 설정 허락한 양식에만 활성화됨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결재선을 재설정하기 위한 결재선 관리 화면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 버튼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의견보기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 조회한다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히스토리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앞 결재자 중 결재자를 수정한 이력이 있으면 보인다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긴급하게 결재를 해야 하는 결재문서의 경우 선택한다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긴급결재를 체크 한 상태에서 결재양식을 기안을 하면 결재목록에서 제일 상위로 올라가며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엔진에서도 최우선 처리한다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연결 대상 결재함 목록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결재가 완료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승인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 문서들만 연결 문서로 설정 가능함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연결 대상 결재함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부서수신처리함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부서문서함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AF09F1B-5B04-44F2-A256-9C447868821C}"/>
              </a:ext>
            </a:extLst>
          </p:cNvPr>
          <p:cNvSpPr txBox="1"/>
          <p:nvPr/>
        </p:nvSpPr>
        <p:spPr>
          <a:xfrm>
            <a:off x="1194434" y="827457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12">
            <a:extLst>
              <a:ext uri="{FF2B5EF4-FFF2-40B4-BE49-F238E27FC236}">
                <a16:creationId xmlns:a16="http://schemas.microsoft.com/office/drawing/2014/main" id="{7D69E5B7-D6AE-4B92-803E-5DA368D3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17" y="1045874"/>
            <a:ext cx="468767" cy="29331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0" name="직사각형 12">
            <a:extLst>
              <a:ext uri="{FF2B5EF4-FFF2-40B4-BE49-F238E27FC236}">
                <a16:creationId xmlns:a16="http://schemas.microsoft.com/office/drawing/2014/main" id="{227A2004-A68D-4F90-A74B-C3A254C90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048" y="1045874"/>
            <a:ext cx="649222" cy="5829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A2625-0B54-480C-9B86-9E32B7A77985}"/>
              </a:ext>
            </a:extLst>
          </p:cNvPr>
          <p:cNvSpPr txBox="1"/>
          <p:nvPr/>
        </p:nvSpPr>
        <p:spPr>
          <a:xfrm>
            <a:off x="5334925" y="827457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481632-89DB-47E8-9D77-4F368CCF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146" y="2427679"/>
            <a:ext cx="2590800" cy="1595438"/>
          </a:xfrm>
          <a:prstGeom prst="rect">
            <a:avLst/>
          </a:prstGeom>
        </p:spPr>
      </p:pic>
      <p:sp>
        <p:nvSpPr>
          <p:cNvPr id="27" name="직사각형 12">
            <a:extLst>
              <a:ext uri="{FF2B5EF4-FFF2-40B4-BE49-F238E27FC236}">
                <a16:creationId xmlns:a16="http://schemas.microsoft.com/office/drawing/2014/main" id="{CE61C111-161C-4E58-B3B2-600057B9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504" y="2383304"/>
            <a:ext cx="2664296" cy="165462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28" name="꺾인 연결선 20">
            <a:extLst>
              <a:ext uri="{FF2B5EF4-FFF2-40B4-BE49-F238E27FC236}">
                <a16:creationId xmlns:a16="http://schemas.microsoft.com/office/drawing/2014/main" id="{36410B28-6E42-46A8-8831-3F8A3EE4A023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1101711" y="2066821"/>
            <a:ext cx="1862735" cy="424852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075E786-0FC5-4606-89B3-6BD26DE0A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650" y="1038191"/>
            <a:ext cx="1340195" cy="320482"/>
          </a:xfrm>
          <a:prstGeom prst="rect">
            <a:avLst/>
          </a:prstGeom>
        </p:spPr>
      </p:pic>
      <p:sp>
        <p:nvSpPr>
          <p:cNvPr id="18" name="직사각형 12">
            <a:extLst>
              <a:ext uri="{FF2B5EF4-FFF2-40B4-BE49-F238E27FC236}">
                <a16:creationId xmlns:a16="http://schemas.microsoft.com/office/drawing/2014/main" id="{4DDE3CEF-657F-4317-94D0-160569CB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584" y="1047457"/>
            <a:ext cx="2088232" cy="28561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5. </a:t>
            </a:r>
            <a:r>
              <a:rPr lang="ko-KR" altLang="en-US" sz="1600" b="1" dirty="0"/>
              <a:t>결재 처리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결재하기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54894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1CFF537-85EB-4B2A-8DC0-27D87EC6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17" y="1034624"/>
            <a:ext cx="5250666" cy="4569123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49029"/>
              </p:ext>
            </p:extLst>
          </p:nvPr>
        </p:nvGraphicFramePr>
        <p:xfrm>
          <a:off x="6645192" y="1052736"/>
          <a:ext cx="2972904" cy="768096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의견보기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의견보기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기안자와 이전 결재자가 기술한 결재 의견을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</a:tbl>
          </a:graphicData>
        </a:graphic>
      </p:graphicFrame>
      <p:sp>
        <p:nvSpPr>
          <p:cNvPr id="20" name="직사각형 12">
            <a:extLst>
              <a:ext uri="{FF2B5EF4-FFF2-40B4-BE49-F238E27FC236}">
                <a16:creationId xmlns:a16="http://schemas.microsoft.com/office/drawing/2014/main" id="{227A2004-A68D-4F90-A74B-C3A254C90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787" y="1358672"/>
            <a:ext cx="193310" cy="27012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7" name="직사각형 12">
            <a:extLst>
              <a:ext uri="{FF2B5EF4-FFF2-40B4-BE49-F238E27FC236}">
                <a16:creationId xmlns:a16="http://schemas.microsoft.com/office/drawing/2014/main" id="{CE61C111-161C-4E58-B3B2-600057B9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296" y="2716120"/>
            <a:ext cx="2736304" cy="208823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28" name="꺾인 연결선 20">
            <a:extLst>
              <a:ext uri="{FF2B5EF4-FFF2-40B4-BE49-F238E27FC236}">
                <a16:creationId xmlns:a16="http://schemas.microsoft.com/office/drawing/2014/main" id="{36410B28-6E42-46A8-8831-3F8A3EE4A023}"/>
              </a:ext>
            </a:extLst>
          </p:cNvPr>
          <p:cNvCxnSpPr>
            <a:cxnSpLocks/>
            <a:stCxn id="20" idx="1"/>
            <a:endCxn id="27" idx="3"/>
          </p:cNvCxnSpPr>
          <p:nvPr/>
        </p:nvCxnSpPr>
        <p:spPr>
          <a:xfrm rot="10800000" flipV="1">
            <a:off x="4974601" y="1493736"/>
            <a:ext cx="649187" cy="22665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075E786-0FC5-4606-89B3-6BD26DE0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50" y="1038191"/>
            <a:ext cx="1340195" cy="32048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134611-642B-4698-9BF7-68FC226FF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664" y="2780928"/>
            <a:ext cx="2664296" cy="19442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7961C9-E184-47D2-9CA9-ED9B26642374}"/>
              </a:ext>
            </a:extLst>
          </p:cNvPr>
          <p:cNvSpPr txBox="1"/>
          <p:nvPr/>
        </p:nvSpPr>
        <p:spPr>
          <a:xfrm>
            <a:off x="2704375" y="4083021"/>
            <a:ext cx="4539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b="0">
                <a:solidFill>
                  <a:schemeClr val="accent3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endParaRPr lang="ko-KR" altLang="en-US" sz="700" b="0" dirty="0">
              <a:solidFill>
                <a:schemeClr val="accent3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C72039-E1AE-4DDF-92DF-BB78D85869A0}"/>
              </a:ext>
            </a:extLst>
          </p:cNvPr>
          <p:cNvSpPr txBox="1"/>
          <p:nvPr/>
        </p:nvSpPr>
        <p:spPr>
          <a:xfrm>
            <a:off x="2792760" y="3625056"/>
            <a:ext cx="4299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>
                <a:solidFill>
                  <a:schemeClr val="accent3">
                    <a:lumMod val="50000"/>
                  </a:schemeClr>
                </a:solidFill>
                <a:ea typeface="맑은 고딕" pitchFamily="50" charset="-127"/>
              </a:rPr>
              <a:t>내용</a:t>
            </a:r>
            <a:r>
              <a:rPr lang="en-US" altLang="ko-KR" sz="700">
                <a:solidFill>
                  <a:schemeClr val="accent3">
                    <a:lumMod val="50000"/>
                  </a:schemeClr>
                </a:solidFill>
                <a:ea typeface="맑은 고딕" pitchFamily="50" charset="-127"/>
              </a:rPr>
              <a:t>…</a:t>
            </a:r>
            <a:endParaRPr lang="ko-KR" altLang="en-US" sz="700" b="0" dirty="0">
              <a:solidFill>
                <a:schemeClr val="accent3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5. </a:t>
            </a:r>
            <a:r>
              <a:rPr lang="ko-KR" altLang="en-US" sz="1600" b="1" dirty="0"/>
              <a:t>결재 처리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의견보기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402161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1CFF537-85EB-4B2A-8DC0-27D87EC6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17" y="1034624"/>
            <a:ext cx="5250666" cy="4569123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99941"/>
              </p:ext>
            </p:extLst>
          </p:nvPr>
        </p:nvGraphicFramePr>
        <p:xfrm>
          <a:off x="6645192" y="1018808"/>
          <a:ext cx="2972904" cy="1402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의견보기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히스토리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결재문서의 수정 이력을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편집한 결재자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번은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결재본문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각각에 대한 변경여부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변경날짜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변경한 날짜 확인가능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변경자 클릭 시 하단에 변경한 문서 조회 가능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</a:tbl>
          </a:graphicData>
        </a:graphic>
      </p:graphicFrame>
      <p:sp>
        <p:nvSpPr>
          <p:cNvPr id="20" name="직사각형 12">
            <a:extLst>
              <a:ext uri="{FF2B5EF4-FFF2-40B4-BE49-F238E27FC236}">
                <a16:creationId xmlns:a16="http://schemas.microsoft.com/office/drawing/2014/main" id="{227A2004-A68D-4F90-A74B-C3A254C90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810" y="1358672"/>
            <a:ext cx="193310" cy="27012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28" name="꺾인 연결선 20">
            <a:extLst>
              <a:ext uri="{FF2B5EF4-FFF2-40B4-BE49-F238E27FC236}">
                <a16:creationId xmlns:a16="http://schemas.microsoft.com/office/drawing/2014/main" id="{36410B28-6E42-46A8-8831-3F8A3EE4A023}"/>
              </a:ext>
            </a:extLst>
          </p:cNvPr>
          <p:cNvCxnSpPr>
            <a:cxnSpLocks/>
            <a:stCxn id="20" idx="1"/>
            <a:endCxn id="27" idx="3"/>
          </p:cNvCxnSpPr>
          <p:nvPr/>
        </p:nvCxnSpPr>
        <p:spPr>
          <a:xfrm rot="10800000" flipV="1">
            <a:off x="4931400" y="1493735"/>
            <a:ext cx="908410" cy="257446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075E786-0FC5-4606-89B3-6BD26DE0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50" y="1038191"/>
            <a:ext cx="1340195" cy="3204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7961C9-E184-47D2-9CA9-ED9B26642374}"/>
              </a:ext>
            </a:extLst>
          </p:cNvPr>
          <p:cNvSpPr txBox="1"/>
          <p:nvPr/>
        </p:nvSpPr>
        <p:spPr>
          <a:xfrm>
            <a:off x="2704375" y="4083021"/>
            <a:ext cx="4539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b="0">
                <a:solidFill>
                  <a:schemeClr val="accent3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endParaRPr lang="ko-KR" altLang="en-US" sz="700" b="0" dirty="0">
              <a:solidFill>
                <a:schemeClr val="accent3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C72039-E1AE-4DDF-92DF-BB78D85869A0}"/>
              </a:ext>
            </a:extLst>
          </p:cNvPr>
          <p:cNvSpPr txBox="1"/>
          <p:nvPr/>
        </p:nvSpPr>
        <p:spPr>
          <a:xfrm>
            <a:off x="2792760" y="3625056"/>
            <a:ext cx="4299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>
                <a:solidFill>
                  <a:schemeClr val="accent3">
                    <a:lumMod val="50000"/>
                  </a:schemeClr>
                </a:solidFill>
                <a:ea typeface="맑은 고딕" pitchFamily="50" charset="-127"/>
              </a:rPr>
              <a:t>내용</a:t>
            </a:r>
            <a:r>
              <a:rPr lang="en-US" altLang="ko-KR" sz="700">
                <a:solidFill>
                  <a:schemeClr val="accent3">
                    <a:lumMod val="50000"/>
                  </a:schemeClr>
                </a:solidFill>
                <a:ea typeface="맑은 고딕" pitchFamily="50" charset="-127"/>
              </a:rPr>
              <a:t>…</a:t>
            </a:r>
            <a:endParaRPr lang="ko-KR" altLang="en-US" sz="700" b="0" dirty="0">
              <a:solidFill>
                <a:schemeClr val="accent3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4BC621-AC11-467D-8FE1-5F0728143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413" y="2378515"/>
            <a:ext cx="3683861" cy="3409012"/>
          </a:xfrm>
          <a:prstGeom prst="rect">
            <a:avLst/>
          </a:prstGeom>
        </p:spPr>
      </p:pic>
      <p:sp>
        <p:nvSpPr>
          <p:cNvPr id="27" name="직사각형 12">
            <a:extLst>
              <a:ext uri="{FF2B5EF4-FFF2-40B4-BE49-F238E27FC236}">
                <a16:creationId xmlns:a16="http://schemas.microsoft.com/office/drawing/2014/main" id="{CE61C111-161C-4E58-B3B2-600057B9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813" y="2348879"/>
            <a:ext cx="3730587" cy="343864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5. </a:t>
            </a:r>
            <a:r>
              <a:rPr lang="ko-KR" altLang="en-US" sz="1600" b="1" dirty="0"/>
              <a:t>결재 처리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히스토리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05326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6. </a:t>
            </a:r>
            <a:r>
              <a:rPr kumimoji="0" lang="ko-KR" altLang="en-US" sz="4000" b="1" dirty="0">
                <a:latin typeface="+mj-ea"/>
              </a:rPr>
              <a:t>진행</a:t>
            </a:r>
            <a:r>
              <a:rPr kumimoji="0" lang="en-US" altLang="ko-KR" sz="4000" b="1" dirty="0">
                <a:latin typeface="+mj-ea"/>
              </a:rPr>
              <a:t>/</a:t>
            </a:r>
            <a:r>
              <a:rPr kumimoji="0" lang="ko-KR" altLang="en-US" sz="4000" b="1" dirty="0">
                <a:latin typeface="+mj-ea"/>
              </a:rPr>
              <a:t>완료문서 보기</a:t>
            </a:r>
          </a:p>
        </p:txBody>
      </p:sp>
    </p:spTree>
    <p:extLst>
      <p:ext uri="{BB962C8B-B14F-4D97-AF65-F5344CB8AC3E}">
        <p14:creationId xmlns:p14="http://schemas.microsoft.com/office/powerpoint/2010/main" val="7555811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6. </a:t>
            </a:r>
            <a:r>
              <a:rPr lang="ko-KR" altLang="en-US" sz="1600" b="1" dirty="0">
                <a:latin typeface="+mj-ea"/>
              </a:rPr>
              <a:t>진행</a:t>
            </a:r>
            <a:r>
              <a:rPr lang="en-US" altLang="ko-KR" sz="1600" b="1" dirty="0">
                <a:latin typeface="+mj-ea"/>
              </a:rPr>
              <a:t>/</a:t>
            </a:r>
            <a:r>
              <a:rPr lang="ko-KR" altLang="en-US" sz="1600" b="1" dirty="0">
                <a:latin typeface="+mj-ea"/>
              </a:rPr>
              <a:t>완료문서 보기 </a:t>
            </a:r>
            <a:r>
              <a:rPr lang="en-US" altLang="ko-KR" sz="1600" b="1" dirty="0">
                <a:latin typeface="+mj-ea"/>
              </a:rPr>
              <a:t>– GAP </a:t>
            </a:r>
            <a:r>
              <a:rPr lang="ko-KR" altLang="en-US" sz="16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416881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2524454-572C-4C9F-9E1C-150029130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54" y="1022096"/>
            <a:ext cx="5189925" cy="39143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D95387-C817-4314-B557-689BAC9A9A6F}"/>
              </a:ext>
            </a:extLst>
          </p:cNvPr>
          <p:cNvSpPr txBox="1"/>
          <p:nvPr/>
        </p:nvSpPr>
        <p:spPr>
          <a:xfrm>
            <a:off x="698650" y="82745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877677"/>
              </p:ext>
            </p:extLst>
          </p:nvPr>
        </p:nvGraphicFramePr>
        <p:xfrm>
          <a:off x="6645192" y="1052736"/>
          <a:ext cx="2972904" cy="1688592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진행중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목록 조회 화면 </a:t>
                      </a: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결재문서의 결재자 목록과 참조자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수신자 목록을 조회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회수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진행중인 결재 문서의 결재 진행을 취소함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기안자에게만 나타나는 버튼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취소일 경우에는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취소사유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입력받아서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 결재자에게 취소 안내메일을 발송한다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AF09F1B-5B04-44F2-A256-9C447868821C}"/>
              </a:ext>
            </a:extLst>
          </p:cNvPr>
          <p:cNvSpPr txBox="1"/>
          <p:nvPr/>
        </p:nvSpPr>
        <p:spPr>
          <a:xfrm>
            <a:off x="1194434" y="827457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12">
            <a:extLst>
              <a:ext uri="{FF2B5EF4-FFF2-40B4-BE49-F238E27FC236}">
                <a16:creationId xmlns:a16="http://schemas.microsoft.com/office/drawing/2014/main" id="{7D69E5B7-D6AE-4B92-803E-5DA368D3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17" y="1045874"/>
            <a:ext cx="468767" cy="29331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7" name="직사각형 12">
            <a:extLst>
              <a:ext uri="{FF2B5EF4-FFF2-40B4-BE49-F238E27FC236}">
                <a16:creationId xmlns:a16="http://schemas.microsoft.com/office/drawing/2014/main" id="{CE61C111-161C-4E58-B3B2-600057B9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320" y="3965718"/>
            <a:ext cx="1818174" cy="82731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28" name="꺾인 연결선 20">
            <a:extLst>
              <a:ext uri="{FF2B5EF4-FFF2-40B4-BE49-F238E27FC236}">
                <a16:creationId xmlns:a16="http://schemas.microsoft.com/office/drawing/2014/main" id="{36410B28-6E42-46A8-8831-3F8A3EE4A023}"/>
              </a:ext>
            </a:extLst>
          </p:cNvPr>
          <p:cNvCxnSpPr>
            <a:cxnSpLocks/>
            <a:stCxn id="18" idx="2"/>
            <a:endCxn id="27" idx="1"/>
          </p:cNvCxnSpPr>
          <p:nvPr/>
        </p:nvCxnSpPr>
        <p:spPr>
          <a:xfrm rot="16200000" flipH="1">
            <a:off x="692390" y="2431443"/>
            <a:ext cx="3040189" cy="855672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2">
            <a:extLst>
              <a:ext uri="{FF2B5EF4-FFF2-40B4-BE49-F238E27FC236}">
                <a16:creationId xmlns:a16="http://schemas.microsoft.com/office/drawing/2014/main" id="{4DDE3CEF-657F-4317-94D0-160569CB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584" y="1047456"/>
            <a:ext cx="1152128" cy="29172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7A0CCB-ADDC-4BD8-A533-D1D29B267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744" y="3998487"/>
            <a:ext cx="1809750" cy="7905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2935808-C155-4E04-AD44-67FF11040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736" y="4886382"/>
            <a:ext cx="3196586" cy="1333469"/>
          </a:xfrm>
          <a:prstGeom prst="rect">
            <a:avLst/>
          </a:prstGeom>
        </p:spPr>
      </p:pic>
      <p:sp>
        <p:nvSpPr>
          <p:cNvPr id="29" name="직사각형 12">
            <a:extLst>
              <a:ext uri="{FF2B5EF4-FFF2-40B4-BE49-F238E27FC236}">
                <a16:creationId xmlns:a16="http://schemas.microsoft.com/office/drawing/2014/main" id="{2E39144F-886A-43AC-9E7D-09951B01B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165" y="4927915"/>
            <a:ext cx="3082916" cy="116538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30" name="꺾인 연결선 20">
            <a:extLst>
              <a:ext uri="{FF2B5EF4-FFF2-40B4-BE49-F238E27FC236}">
                <a16:creationId xmlns:a16="http://schemas.microsoft.com/office/drawing/2014/main" id="{ED652633-6C0A-4CBA-A2D3-CEF5A6C4E44B}"/>
              </a:ext>
            </a:extLst>
          </p:cNvPr>
          <p:cNvCxnSpPr>
            <a:cxnSpLocks/>
            <a:stCxn id="41" idx="2"/>
            <a:endCxn id="29" idx="1"/>
          </p:cNvCxnSpPr>
          <p:nvPr/>
        </p:nvCxnSpPr>
        <p:spPr>
          <a:xfrm rot="16200000" flipH="1">
            <a:off x="-303527" y="2616914"/>
            <a:ext cx="4171420" cy="161596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6. </a:t>
            </a:r>
            <a:r>
              <a:rPr lang="ko-KR" altLang="en-US" sz="1600" b="1" dirty="0"/>
              <a:t>진행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완료문서 보기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진행중 문서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42828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697B00-1C9D-468F-ACC3-221EF2E46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024599"/>
            <a:ext cx="5994453" cy="44997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D95387-C817-4314-B557-689BAC9A9A6F}"/>
              </a:ext>
            </a:extLst>
          </p:cNvPr>
          <p:cNvSpPr txBox="1"/>
          <p:nvPr/>
        </p:nvSpPr>
        <p:spPr>
          <a:xfrm>
            <a:off x="989422" y="85579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748E62-8CED-47CE-A8EB-2115B981F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348891"/>
              </p:ext>
            </p:extLst>
          </p:nvPr>
        </p:nvGraphicFramePr>
        <p:xfrm>
          <a:off x="6645192" y="1052736"/>
          <a:ext cx="2972904" cy="2907792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>
                          <a:ea typeface="맑은 고딕" pitchFamily="50" charset="-127"/>
                        </a:rPr>
                        <a:t>완료 문서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결재문서 재사용</a:t>
                      </a:r>
                      <a:endParaRPr kumimoji="1" lang="en-US" altLang="ko-KR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결재문서의 제목과 내용을 활용하여 새로운 결재 문서를 작성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기본은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MHT,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필요시 관리자에서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PDF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옵션 변경 가능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정식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PDF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컨버터가 아닌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freeware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이므로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기능에 제한이 있을 수 있음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의견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의견을 입력 하는 화면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의견 보기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결재문서에 작성된 결재의견 조회 화면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회람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결재문서의 회람 대상자 지정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참조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회람현황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결재문서의 참조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회람자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확인 현황 화면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수신현황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접수여부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진행상태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결재결과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접수시간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완료시간의 현황을 확인 할 수 있는 화면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히스토리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결재문서의 변경 이력 조회 화면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Popup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AF09F1B-5B04-44F2-A256-9C447868821C}"/>
              </a:ext>
            </a:extLst>
          </p:cNvPr>
          <p:cNvSpPr txBox="1"/>
          <p:nvPr/>
        </p:nvSpPr>
        <p:spPr>
          <a:xfrm>
            <a:off x="4376935" y="1448697"/>
            <a:ext cx="2888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12">
            <a:extLst>
              <a:ext uri="{FF2B5EF4-FFF2-40B4-BE49-F238E27FC236}">
                <a16:creationId xmlns:a16="http://schemas.microsoft.com/office/drawing/2014/main" id="{7D69E5B7-D6AE-4B92-803E-5DA368D3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529" y="1063597"/>
            <a:ext cx="468767" cy="29331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0" name="직사각형 12">
            <a:extLst>
              <a:ext uri="{FF2B5EF4-FFF2-40B4-BE49-F238E27FC236}">
                <a16:creationId xmlns:a16="http://schemas.microsoft.com/office/drawing/2014/main" id="{D635E2A8-050F-47E8-AEE0-F6FED758A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967" y="1402860"/>
            <a:ext cx="1817989" cy="29794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97AD44-A047-4942-9873-B82171DA8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21" y="1844824"/>
            <a:ext cx="1896549" cy="11528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EDCB1F-BE52-4ACF-82CB-77DCC4CF4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69" y="3068960"/>
            <a:ext cx="2045282" cy="18149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575178-EEF1-439C-B83F-E9FEC114D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41" y="4058735"/>
            <a:ext cx="4202338" cy="8138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F5AB72-031E-44F8-87D9-62CFDCCF1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69" y="4872586"/>
            <a:ext cx="4356348" cy="1120808"/>
          </a:xfrm>
          <a:prstGeom prst="rect">
            <a:avLst/>
          </a:prstGeom>
        </p:spPr>
      </p:pic>
      <p:sp>
        <p:nvSpPr>
          <p:cNvPr id="18" name="직사각형 12">
            <a:extLst>
              <a:ext uri="{FF2B5EF4-FFF2-40B4-BE49-F238E27FC236}">
                <a16:creationId xmlns:a16="http://schemas.microsoft.com/office/drawing/2014/main" id="{4DDE3CEF-657F-4317-94D0-160569CB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1773562"/>
            <a:ext cx="4464496" cy="375081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25" name="꺾인 연결선 20">
            <a:extLst>
              <a:ext uri="{FF2B5EF4-FFF2-40B4-BE49-F238E27FC236}">
                <a16:creationId xmlns:a16="http://schemas.microsoft.com/office/drawing/2014/main" id="{8CC03DF7-2026-40C2-AB21-43D85A2C2525}"/>
              </a:ext>
            </a:extLst>
          </p:cNvPr>
          <p:cNvCxnSpPr>
            <a:cxnSpLocks/>
            <a:stCxn id="20" idx="2"/>
            <a:endCxn id="18" idx="3"/>
          </p:cNvCxnSpPr>
          <p:nvPr/>
        </p:nvCxnSpPr>
        <p:spPr>
          <a:xfrm rot="5400000">
            <a:off x="4289402" y="2364406"/>
            <a:ext cx="1948159" cy="620962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6. </a:t>
            </a:r>
            <a:r>
              <a:rPr lang="ko-KR" altLang="en-US" sz="1600" b="1" dirty="0"/>
              <a:t>진행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완료문서 보기  </a:t>
            </a:r>
            <a:r>
              <a:rPr lang="en-US" altLang="ko-KR" sz="1600" b="1" dirty="0"/>
              <a:t>- </a:t>
            </a:r>
            <a:r>
              <a:rPr kumimoji="0" lang="ko-KR" altLang="en-US" sz="1600" b="1" dirty="0"/>
              <a:t>완료 문서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38204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7. </a:t>
            </a:r>
            <a:r>
              <a:rPr kumimoji="0" lang="ko-KR" altLang="en-US" sz="4000" b="1" dirty="0">
                <a:latin typeface="+mj-ea"/>
              </a:rPr>
              <a:t>개인설정 및 기타기능</a:t>
            </a:r>
          </a:p>
        </p:txBody>
      </p:sp>
    </p:spTree>
    <p:extLst>
      <p:ext uri="{BB962C8B-B14F-4D97-AF65-F5344CB8AC3E}">
        <p14:creationId xmlns:p14="http://schemas.microsoft.com/office/powerpoint/2010/main" val="1307633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3484" y="1052736"/>
          <a:ext cx="2972904" cy="40538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+mj-ea"/>
              </a:rPr>
              <a:t>7. </a:t>
            </a:r>
            <a:r>
              <a:rPr lang="ko-KR" altLang="en-US" sz="1600" b="1" dirty="0">
                <a:latin typeface="+mj-ea"/>
              </a:rPr>
              <a:t>개인설정 및 기타기능 </a:t>
            </a:r>
            <a:r>
              <a:rPr lang="en-US" altLang="ko-KR" sz="1600" b="1" dirty="0">
                <a:latin typeface="+mj-ea"/>
              </a:rPr>
              <a:t>– GAP </a:t>
            </a:r>
            <a:r>
              <a:rPr lang="ko-KR" altLang="en-US" sz="1600" b="1" dirty="0">
                <a:latin typeface="+mj-ea"/>
              </a:rPr>
              <a:t>분석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6300" y="736996"/>
            <a:ext cx="6340754" cy="2974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AS-IS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9689" y="3516037"/>
            <a:ext cx="6337365" cy="307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TO-BE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041232" y="2492896"/>
            <a:ext cx="1888883" cy="1044953"/>
            <a:chOff x="4954430" y="4450930"/>
            <a:chExt cx="1888883" cy="1044953"/>
          </a:xfrm>
        </p:grpSpPr>
        <p:sp>
          <p:nvSpPr>
            <p:cNvPr id="29" name="직사각형 28"/>
            <p:cNvSpPr/>
            <p:nvPr/>
          </p:nvSpPr>
          <p:spPr>
            <a:xfrm>
              <a:off x="4954430" y="4450931"/>
              <a:ext cx="1888883" cy="104495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변경되는 내용 위주의 설명 표기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954430" y="4450930"/>
              <a:ext cx="972108" cy="32403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Guide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3218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317115"/>
            <a:ext cx="5660890" cy="20507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r="7912"/>
          <a:stretch/>
        </p:blipFill>
        <p:spPr>
          <a:xfrm>
            <a:off x="388894" y="3830489"/>
            <a:ext cx="5867190" cy="1760973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80959"/>
              </p:ext>
            </p:extLst>
          </p:nvPr>
        </p:nvGraphicFramePr>
        <p:xfrm>
          <a:off x="6637992" y="1052736"/>
          <a:ext cx="2972904" cy="112776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 리스트 보기 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상태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종류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결재일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수신일이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목록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회람지정자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지정일자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혹은 회람부서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확인일자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758924" y="155619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1044575" y="1745502"/>
            <a:ext cx="415086" cy="22486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418308" y="4225667"/>
            <a:ext cx="654372" cy="21144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158616" y="41425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 상세보기</a:t>
            </a:r>
            <a:r>
              <a:rPr lang="en-US" altLang="ko-KR" sz="1600" b="1" dirty="0"/>
              <a:t>(1)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21409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0905"/>
          <a:stretch/>
        </p:blipFill>
        <p:spPr>
          <a:xfrm>
            <a:off x="300191" y="1644305"/>
            <a:ext cx="6165279" cy="142918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r="13273"/>
          <a:stretch/>
        </p:blipFill>
        <p:spPr>
          <a:xfrm>
            <a:off x="296108" y="3573016"/>
            <a:ext cx="6137568" cy="1831081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948341"/>
              </p:ext>
            </p:extLst>
          </p:nvPr>
        </p:nvGraphicFramePr>
        <p:xfrm>
          <a:off x="6645192" y="1052736"/>
          <a:ext cx="2972904" cy="8839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내 첨부 목록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읽음 확인 여부 목록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읽은 일시 표시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1918633" y="20294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186822" y="2134031"/>
            <a:ext cx="415086" cy="22486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172643" y="39711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3440832" y="4075718"/>
            <a:ext cx="415086" cy="22486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 상세보기</a:t>
            </a:r>
            <a:r>
              <a:rPr lang="en-US" altLang="ko-KR" sz="1600" b="1" dirty="0"/>
              <a:t>(2)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40309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11" y="3714845"/>
            <a:ext cx="6246104" cy="13307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85" y="1635177"/>
            <a:ext cx="6255629" cy="1872867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63215"/>
              </p:ext>
            </p:extLst>
          </p:nvPr>
        </p:nvGraphicFramePr>
        <p:xfrm>
          <a:off x="6652392" y="1052736"/>
          <a:ext cx="2972904" cy="16154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 돋보기 아이콘 클릭 시 조직도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팝업창이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나타난다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대결기간 입력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사유 입력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비밀번호 변경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 입력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992560" y="414908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96311" y="2571610"/>
            <a:ext cx="3909918" cy="8573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/>
          <p:nvPr/>
        </p:nvCxnSpPr>
        <p:spPr bwMode="auto">
          <a:xfrm flipH="1">
            <a:off x="4016896" y="2690826"/>
            <a:ext cx="2910" cy="145825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직사각형 16"/>
          <p:cNvSpPr/>
          <p:nvPr/>
        </p:nvSpPr>
        <p:spPr bwMode="auto">
          <a:xfrm>
            <a:off x="4313986" y="2571610"/>
            <a:ext cx="2079174" cy="8573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 bwMode="auto">
          <a:xfrm flipH="1">
            <a:off x="6249144" y="2739395"/>
            <a:ext cx="2910" cy="145825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79356" y="413313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63339" y="448032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004934" y="436373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63339" y="470597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189224" y="450377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 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환경설정</a:t>
            </a:r>
            <a:r>
              <a:rPr lang="en-US" altLang="ko-KR" sz="1600" b="1" dirty="0"/>
              <a:t>(1)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858237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057112"/>
            <a:ext cx="6057305" cy="299866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4180558"/>
            <a:ext cx="2375079" cy="1984746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210417"/>
              </p:ext>
            </p:extLst>
          </p:nvPr>
        </p:nvGraphicFramePr>
        <p:xfrm>
          <a:off x="6660616" y="1052736"/>
          <a:ext cx="2972904" cy="167640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 등록하기 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 등록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팝업창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찾아보기를 통해 등록할 서명 선택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등록된 서명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 파일 주의 사항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파일명에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금지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파일명은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이내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확장자는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.jpg, .bmp, .gif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용량은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500kb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656856" y="358473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500227" y="2216587"/>
            <a:ext cx="958974" cy="136815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화살표 연결선 18"/>
          <p:cNvCxnSpPr/>
          <p:nvPr/>
        </p:nvCxnSpPr>
        <p:spPr bwMode="auto">
          <a:xfrm flipV="1">
            <a:off x="1447478" y="2900663"/>
            <a:ext cx="1111574" cy="94491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835283" y="245641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79140" y="460740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/>
              <a:t>환경설정</a:t>
            </a:r>
            <a:r>
              <a:rPr lang="en-US" altLang="ko-KR" sz="1600" b="1" dirty="0"/>
              <a:t>(2)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861112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74" y="1982985"/>
            <a:ext cx="6143494" cy="2166095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169640"/>
              </p:ext>
            </p:extLst>
          </p:nvPr>
        </p:nvGraphicFramePr>
        <p:xfrm>
          <a:off x="6645192" y="1052736"/>
          <a:ext cx="2972904" cy="16154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담당업무함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 검색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미결함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 탭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담당업무로 지정 된 결재 양식 별 목록 표시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엑셀 저장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선택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797299" y="184768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356590" y="2430903"/>
            <a:ext cx="3133436" cy="24456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32726" y="247540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2159" y="276398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481914" y="276397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96216" y="305816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54457" y="276397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담당업무함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504629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95" y="2023108"/>
            <a:ext cx="6282335" cy="2165454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762048"/>
              </p:ext>
            </p:extLst>
          </p:nvPr>
        </p:nvGraphicFramePr>
        <p:xfrm>
          <a:off x="6660616" y="1052736"/>
          <a:ext cx="2972904" cy="14020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업무문서함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업무문서함 내 검색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업무자로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 된 결재 양식 별 목록 표시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선택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업무문서함 목록 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4797299" y="184768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56590" y="2430903"/>
            <a:ext cx="1572074" cy="24456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332726" y="247540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12159" y="276398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96216" y="305816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5454457" y="276397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업무문서함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9322804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3BAB50-595F-4A39-A126-957B3AC6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8" y="847610"/>
            <a:ext cx="6208016" cy="2374397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958278"/>
              </p:ext>
            </p:extLst>
          </p:nvPr>
        </p:nvGraphicFramePr>
        <p:xfrm>
          <a:off x="6659592" y="1037848"/>
          <a:ext cx="2972904" cy="210312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ea typeface="맑은 고딕" panose="020B0503020000020004" pitchFamily="50" charset="-127"/>
                        </a:rPr>
                        <a:t>개인폴더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새폴더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새로운 폴더를 생성 할 수 있는 화면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폴더명 수정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폴더의 명칭을 변경할 수 있는 화면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</a:p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된 폴더를 삭제 한다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새로고침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새로고침 한다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새로고침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새로고침 한다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된 문서를 삭제 한다</a:t>
                      </a:r>
                      <a:endParaRPr lang="en-US" altLang="ko-KR" sz="800" b="0" i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폴더이동 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선탣 된 문서를 다른 폴더로 이동 시킨다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폴더 리스트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목록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보관일시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정보로 문서 조회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5947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F5623A7-B511-4E8D-AD62-4F570B08DB7D}"/>
              </a:ext>
            </a:extLst>
          </p:cNvPr>
          <p:cNvSpPr txBox="1"/>
          <p:nvPr/>
        </p:nvSpPr>
        <p:spPr>
          <a:xfrm>
            <a:off x="297006" y="97371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2">
            <a:extLst>
              <a:ext uri="{FF2B5EF4-FFF2-40B4-BE49-F238E27FC236}">
                <a16:creationId xmlns:a16="http://schemas.microsoft.com/office/drawing/2014/main" id="{8CE68E0D-3025-45F6-80AA-9BFD150BF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912" y="2553497"/>
            <a:ext cx="2348551" cy="220078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B3D0C8-EAD1-4FED-9E2D-EB8463F1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78" y="2533391"/>
            <a:ext cx="1921346" cy="10971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59677F-CA83-480A-B5FE-01884C95A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680" y="2593256"/>
            <a:ext cx="2217108" cy="2161026"/>
          </a:xfrm>
          <a:prstGeom prst="rect">
            <a:avLst/>
          </a:prstGeom>
        </p:spPr>
      </p:pic>
      <p:sp>
        <p:nvSpPr>
          <p:cNvPr id="19" name="직사각형 12">
            <a:extLst>
              <a:ext uri="{FF2B5EF4-FFF2-40B4-BE49-F238E27FC236}">
                <a16:creationId xmlns:a16="http://schemas.microsoft.com/office/drawing/2014/main" id="{FF7B2C4C-7357-429B-8DC2-C8F18026D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27" y="1152170"/>
            <a:ext cx="443810" cy="26060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7E8577-E9FC-480E-8544-817C61F56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278" y="3951344"/>
            <a:ext cx="2147400" cy="957833"/>
          </a:xfrm>
          <a:prstGeom prst="rect">
            <a:avLst/>
          </a:prstGeom>
        </p:spPr>
      </p:pic>
      <p:sp>
        <p:nvSpPr>
          <p:cNvPr id="21" name="직사각형 12">
            <a:extLst>
              <a:ext uri="{FF2B5EF4-FFF2-40B4-BE49-F238E27FC236}">
                <a16:creationId xmlns:a16="http://schemas.microsoft.com/office/drawing/2014/main" id="{E0FE8BF5-3183-4915-AB08-121E26865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00" y="1156045"/>
            <a:ext cx="582778" cy="26060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3A1063-3E54-4B9C-A5A7-FD3EE4021C75}"/>
              </a:ext>
            </a:extLst>
          </p:cNvPr>
          <p:cNvSpPr txBox="1"/>
          <p:nvPr/>
        </p:nvSpPr>
        <p:spPr>
          <a:xfrm>
            <a:off x="816788" y="97663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12">
            <a:extLst>
              <a:ext uri="{FF2B5EF4-FFF2-40B4-BE49-F238E27FC236}">
                <a16:creationId xmlns:a16="http://schemas.microsoft.com/office/drawing/2014/main" id="{3D04E2CA-9967-4ADA-AD68-032283250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941" y="2533391"/>
            <a:ext cx="1961595" cy="111048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4" name="직사각형 12">
            <a:extLst>
              <a:ext uri="{FF2B5EF4-FFF2-40B4-BE49-F238E27FC236}">
                <a16:creationId xmlns:a16="http://schemas.microsoft.com/office/drawing/2014/main" id="{4ED91207-3145-4DF0-AE0F-F8F40A4F2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869" y="3930807"/>
            <a:ext cx="2189009" cy="97117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5" name="직사각형 12">
            <a:extLst>
              <a:ext uri="{FF2B5EF4-FFF2-40B4-BE49-F238E27FC236}">
                <a16:creationId xmlns:a16="http://schemas.microsoft.com/office/drawing/2014/main" id="{21211799-E6E0-452E-A83E-2241EE182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640" y="1173770"/>
            <a:ext cx="1113103" cy="26060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C66D8-135E-430A-98EC-28D9BF5ECB34}"/>
              </a:ext>
            </a:extLst>
          </p:cNvPr>
          <p:cNvSpPr txBox="1"/>
          <p:nvPr/>
        </p:nvSpPr>
        <p:spPr>
          <a:xfrm>
            <a:off x="1524471" y="97371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12">
            <a:extLst>
              <a:ext uri="{FF2B5EF4-FFF2-40B4-BE49-F238E27FC236}">
                <a16:creationId xmlns:a16="http://schemas.microsoft.com/office/drawing/2014/main" id="{E506C94D-181C-4900-B617-DC79E3B47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27" y="1456729"/>
            <a:ext cx="1088524" cy="75645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F4D82F-8CAC-456C-B031-237BB3641A3D}"/>
              </a:ext>
            </a:extLst>
          </p:cNvPr>
          <p:cNvSpPr txBox="1"/>
          <p:nvPr/>
        </p:nvSpPr>
        <p:spPr>
          <a:xfrm>
            <a:off x="787707" y="142086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12">
            <a:extLst>
              <a:ext uri="{FF2B5EF4-FFF2-40B4-BE49-F238E27FC236}">
                <a16:creationId xmlns:a16="http://schemas.microsoft.com/office/drawing/2014/main" id="{6F514F7B-8C08-4EA5-9F73-2BC43A198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470" y="1434376"/>
            <a:ext cx="4884317" cy="75645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D348B5-D78D-4803-9AF3-0466AF0C4EE3}"/>
              </a:ext>
            </a:extLst>
          </p:cNvPr>
          <p:cNvSpPr txBox="1"/>
          <p:nvPr/>
        </p:nvSpPr>
        <p:spPr>
          <a:xfrm>
            <a:off x="1763079" y="147502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12">
            <a:extLst>
              <a:ext uri="{FF2B5EF4-FFF2-40B4-BE49-F238E27FC236}">
                <a16:creationId xmlns:a16="http://schemas.microsoft.com/office/drawing/2014/main" id="{C17348EE-1D3B-439D-9E04-101358504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801" y="818591"/>
            <a:ext cx="1524661" cy="273229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D320A5-941E-4D78-9D4B-EF2A21D9BA23}"/>
              </a:ext>
            </a:extLst>
          </p:cNvPr>
          <p:cNvSpPr txBox="1"/>
          <p:nvPr/>
        </p:nvSpPr>
        <p:spPr>
          <a:xfrm>
            <a:off x="4693718" y="83046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꺾인 연결선 26">
            <a:extLst>
              <a:ext uri="{FF2B5EF4-FFF2-40B4-BE49-F238E27FC236}">
                <a16:creationId xmlns:a16="http://schemas.microsoft.com/office/drawing/2014/main" id="{7219C1E7-0676-44FC-B0B3-44A9B1EA7FC4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rot="16200000" flipH="1">
            <a:off x="156858" y="1810549"/>
            <a:ext cx="1675857" cy="880309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26">
            <a:extLst>
              <a:ext uri="{FF2B5EF4-FFF2-40B4-BE49-F238E27FC236}">
                <a16:creationId xmlns:a16="http://schemas.microsoft.com/office/drawing/2014/main" id="{C4F68B25-9C77-4250-BE3D-12E4F23D3DB3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-224073" y="2786450"/>
            <a:ext cx="2959664" cy="30022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26">
            <a:extLst>
              <a:ext uri="{FF2B5EF4-FFF2-40B4-BE49-F238E27FC236}">
                <a16:creationId xmlns:a16="http://schemas.microsoft.com/office/drawing/2014/main" id="{250F4245-E0F0-4597-9302-5796E4A1183D}"/>
              </a:ext>
            </a:extLst>
          </p:cNvPr>
          <p:cNvCxnSpPr>
            <a:cxnSpLocks/>
            <a:stCxn id="25" idx="3"/>
            <a:endCxn id="17" idx="1"/>
          </p:cNvCxnSpPr>
          <p:nvPr/>
        </p:nvCxnSpPr>
        <p:spPr>
          <a:xfrm>
            <a:off x="2648743" y="1304073"/>
            <a:ext cx="1512169" cy="234981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/>
              <a:t>7. </a:t>
            </a:r>
            <a:r>
              <a:rPr lang="ko-KR" altLang="en-US" sz="1600" b="1" dirty="0"/>
              <a:t>개인설정 및 기타 기능 </a:t>
            </a:r>
            <a:r>
              <a:rPr lang="en-US" altLang="ko-KR" sz="1600" b="1" dirty="0"/>
              <a:t>- </a:t>
            </a:r>
            <a:r>
              <a:rPr lang="ko-KR" altLang="en-US" sz="1600" b="1" dirty="0" err="1"/>
              <a:t>개인폴더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854853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/>
          <p:cNvSpPr txBox="1">
            <a:spLocks/>
          </p:cNvSpPr>
          <p:nvPr/>
        </p:nvSpPr>
        <p:spPr>
          <a:xfrm>
            <a:off x="560512" y="2132856"/>
            <a:ext cx="84201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kumimoji="0" lang="en-US" altLang="ko-KR" sz="4000" b="1" dirty="0">
                <a:latin typeface="+mj-ea"/>
              </a:rPr>
              <a:t>8. SI </a:t>
            </a:r>
            <a:r>
              <a:rPr kumimoji="0" lang="ko-KR" altLang="en-US" sz="4000" b="1" dirty="0">
                <a:latin typeface="+mj-ea"/>
              </a:rPr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1143773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54"/>
          <p:cNvSpPr txBox="1">
            <a:spLocks noChangeArrowheads="1"/>
          </p:cNvSpPr>
          <p:nvPr/>
        </p:nvSpPr>
        <p:spPr bwMode="auto">
          <a:xfrm>
            <a:off x="273050" y="819150"/>
            <a:ext cx="9423400" cy="5562178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t"/>
          <a:lstStyle/>
          <a:p>
            <a:pPr marL="285750" indent="-285750" fontAlgn="ctr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ko-KR" altLang="ko-KR" sz="1500" dirty="0">
                <a:latin typeface="+mn-ea"/>
                <a:ea typeface="+mn-ea"/>
              </a:rPr>
              <a:t>취지</a:t>
            </a:r>
            <a:endParaRPr kumimoji="1" lang="en-US" altLang="ko-KR" sz="1500" dirty="0">
              <a:latin typeface="+mn-ea"/>
              <a:ea typeface="+mn-ea"/>
            </a:endParaRP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ko-KR" sz="1300" dirty="0">
              <a:latin typeface="+mn-ea"/>
              <a:ea typeface="+mn-ea"/>
            </a:endParaRPr>
          </a:p>
          <a:p>
            <a:pPr marL="285750" indent="-285750" fontAlgn="ctr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ko-KR" altLang="ko-KR" sz="1500" dirty="0">
                <a:latin typeface="+mn-ea"/>
                <a:ea typeface="+mn-ea"/>
              </a:rPr>
              <a:t>작성자</a:t>
            </a: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+mn-ea"/>
                <a:ea typeface="+mn-ea"/>
              </a:rPr>
              <a:t>전자결재 </a:t>
            </a:r>
            <a:r>
              <a:rPr lang="en-US" altLang="ko-KR" sz="1300" dirty="0">
                <a:latin typeface="+mn-ea"/>
                <a:ea typeface="+mn-ea"/>
              </a:rPr>
              <a:t>PL</a:t>
            </a:r>
            <a:r>
              <a:rPr kumimoji="1" lang="ko-KR" altLang="ko-KR" sz="1300" dirty="0">
                <a:latin typeface="+mn-ea"/>
                <a:ea typeface="+mn-ea"/>
              </a:rPr>
              <a:t>이 작성</a:t>
            </a:r>
          </a:p>
          <a:p>
            <a:pPr lvl="1" fontAlgn="ctr">
              <a:lnSpc>
                <a:spcPct val="150000"/>
              </a:lnSpc>
            </a:pPr>
            <a:endParaRPr kumimoji="1" lang="ko-KR" altLang="ko-KR" sz="1200" dirty="0">
              <a:latin typeface="+mn-ea"/>
              <a:ea typeface="+mn-ea"/>
            </a:endParaRPr>
          </a:p>
          <a:p>
            <a:pPr marL="285750" indent="-285750" fontAlgn="ctr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ko-KR" altLang="ko-KR" sz="1500" dirty="0">
                <a:latin typeface="+mn-ea"/>
                <a:ea typeface="+mn-ea"/>
              </a:rPr>
              <a:t>작성시기</a:t>
            </a: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+mn-ea"/>
                <a:ea typeface="+mn-ea"/>
              </a:rPr>
              <a:t>설계단계에 </a:t>
            </a:r>
            <a:r>
              <a:rPr kumimoji="1" lang="ko-KR" altLang="en-US" sz="1300" dirty="0">
                <a:latin typeface="+mn-ea"/>
                <a:ea typeface="+mn-ea"/>
              </a:rPr>
              <a:t>작성</a:t>
            </a:r>
            <a:endParaRPr kumimoji="1" lang="en-US" altLang="ko-KR" sz="1300" dirty="0">
              <a:latin typeface="+mn-ea"/>
              <a:ea typeface="+mn-ea"/>
            </a:endParaRP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+mn-ea"/>
                <a:ea typeface="+mn-ea"/>
              </a:rPr>
              <a:t>프로젝트 투입인원 전체에 문서 공유</a:t>
            </a:r>
            <a:endParaRPr lang="en-US" altLang="ko-KR" sz="1300" dirty="0">
              <a:latin typeface="+mn-ea"/>
              <a:ea typeface="+mn-ea"/>
            </a:endParaRP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latin typeface="+mn-ea"/>
                <a:ea typeface="+mn-ea"/>
              </a:rPr>
              <a:t>완료된 문서는 완료보고시 유첨</a:t>
            </a:r>
            <a:endParaRPr lang="ko-KR" altLang="ko-KR" sz="1300" dirty="0">
              <a:latin typeface="+mn-ea"/>
              <a:ea typeface="+mn-ea"/>
            </a:endParaRP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kumimoji="1" lang="ko-KR" altLang="ko-KR" sz="1300" dirty="0">
              <a:latin typeface="+mn-ea"/>
              <a:ea typeface="+mn-ea"/>
            </a:endParaRPr>
          </a:p>
          <a:p>
            <a:pPr marL="285750" indent="-285750" fontAlgn="ctr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ko-KR" altLang="ko-KR" sz="1500" dirty="0">
                <a:latin typeface="+mn-ea"/>
                <a:ea typeface="+mn-ea"/>
              </a:rPr>
              <a:t>작성방안</a:t>
            </a:r>
          </a:p>
          <a:p>
            <a:pPr marL="742950" lvl="1" indent="-285750" fontAlgn="ctr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+mj-ea"/>
              </a:rPr>
              <a:t>8. </a:t>
            </a:r>
            <a:r>
              <a:rPr lang="ko-KR" altLang="en-US" b="1" dirty="0">
                <a:latin typeface="+mj-ea"/>
              </a:rPr>
              <a:t>취지 및  작성 가이드</a:t>
            </a:r>
            <a:endParaRPr 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9902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bb38__xc11c__xc124__xba85_ xmlns="2aae6fcb-43e3-4396-89be-baa0995eb0b9">포탈 UI 설계서</_xbb38__xc11c__xc124__xba85_>
  </documentManagement>
</p:properties>
</file>

<file path=customXml/itemProps1.xml><?xml version="1.0" encoding="utf-8"?>
<ds:datastoreItem xmlns:ds="http://schemas.openxmlformats.org/officeDocument/2006/customXml" ds:itemID="{F618E6D8-3BBC-4A9B-975D-D6E409661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A953BB-DA1D-4820-9803-BA078D4239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C0F584-A722-4840-A616-9AC05F1E7CD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aae6fcb-43e3-4396-89be-baa0995eb0b9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25614</TotalTime>
  <Words>4367</Words>
  <Application>Microsoft Office PowerPoint</Application>
  <PresentationFormat>A4 용지(210x297mm)</PresentationFormat>
  <Paragraphs>1076</Paragraphs>
  <Slides>54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3" baseType="lpstr">
      <vt:lpstr>굴림</vt:lpstr>
      <vt:lpstr>나눔고딕</vt:lpstr>
      <vt:lpstr>나눔고딕 Bold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메뉴 구성 – GAP 분석</vt:lpstr>
      <vt:lpstr>1. 메뉴 구성 – 메인 화면</vt:lpstr>
      <vt:lpstr>1. 메뉴 구성 - 좌측 메뉴</vt:lpstr>
      <vt:lpstr>PowerPoint 프레젠테이션</vt:lpstr>
      <vt:lpstr>개인 결재함 – GAP 분석</vt:lpstr>
      <vt:lpstr>2. 개인 결재함 - 예정함</vt:lpstr>
      <vt:lpstr>2. 개인 결재함 - 미결함</vt:lpstr>
      <vt:lpstr>2. 개인 결재함 - 진행함</vt:lpstr>
      <vt:lpstr>2. 개인 결재함 - 완료함</vt:lpstr>
      <vt:lpstr>2. 개인 결재함 - 반려함</vt:lpstr>
      <vt:lpstr>2. 개인 결재함 - 임시함</vt:lpstr>
      <vt:lpstr>2. 개인 결재함 – 참조/회람함</vt:lpstr>
      <vt:lpstr>PowerPoint 프레젠테이션</vt:lpstr>
      <vt:lpstr>3. 부서 결재함 – GAP 분석</vt:lpstr>
      <vt:lpstr>3. 부서 결재함 - 완료함</vt:lpstr>
      <vt:lpstr>3. 부서 결재함 - 발신함</vt:lpstr>
      <vt:lpstr>3. 부서 결재함 - 수신함</vt:lpstr>
      <vt:lpstr>3. 부서 결재함 - 수신처리함</vt:lpstr>
      <vt:lpstr>3. 부서 결재함 – 참조/회람함</vt:lpstr>
      <vt:lpstr>3. 부서 결재함 - 진행함</vt:lpstr>
      <vt:lpstr>PowerPoint 프레젠테이션</vt:lpstr>
      <vt:lpstr>4. 문서 작성하기 – GAP 분석</vt:lpstr>
      <vt:lpstr>4. 문서 작성하기  - 문서 선택</vt:lpstr>
      <vt:lpstr>4. 문서 작성하기  - 문서 선택</vt:lpstr>
      <vt:lpstr>4. 문서 작성하기  - 기능 및 기본 포맷</vt:lpstr>
      <vt:lpstr>4. 문서 작성하기  - 결재선 및 공통영역(1)</vt:lpstr>
      <vt:lpstr>4. 문서 작성하기  - 결재선 및 공통영역(2)</vt:lpstr>
      <vt:lpstr>4. 문서 작성하기  - 결재선 선택</vt:lpstr>
      <vt:lpstr>4. 문서 작성하기  - 문서연결</vt:lpstr>
      <vt:lpstr>PowerPoint 프레젠테이션</vt:lpstr>
      <vt:lpstr>5. 결재처리 – GAP 분석</vt:lpstr>
      <vt:lpstr>5. 결재 처리  - 결재하기</vt:lpstr>
      <vt:lpstr>5. 결재 처리  - 의견보기</vt:lpstr>
      <vt:lpstr>5. 결재 처리  - 히스토리</vt:lpstr>
      <vt:lpstr>PowerPoint 프레젠테이션</vt:lpstr>
      <vt:lpstr>6. 진행/완료문서 보기 – GAP 분석</vt:lpstr>
      <vt:lpstr>6. 진행/완료문서 보기  - 진행중 문서</vt:lpstr>
      <vt:lpstr>6. 진행/완료문서 보기  - 완료 문서</vt:lpstr>
      <vt:lpstr>PowerPoint 프레젠테이션</vt:lpstr>
      <vt:lpstr>7. 개인설정 및 기타기능 – GAP 분석</vt:lpstr>
      <vt:lpstr>7. 개인설정 및 기타 기능 -  상세보기(1)</vt:lpstr>
      <vt:lpstr>7. 개인설정 및 기타 기능 -  상세보기(2)</vt:lpstr>
      <vt:lpstr>7. 개인설정 및 기타 기능  -환경설정(1)</vt:lpstr>
      <vt:lpstr>7. 개인설정 및 기타 기능 - 환경설정(2)</vt:lpstr>
      <vt:lpstr>7. 개인설정 및 기타 기능 - 담당업무함</vt:lpstr>
      <vt:lpstr>7. 개인설정 및 기타 기능 - 업무문서함</vt:lpstr>
      <vt:lpstr>7. 개인설정 및 기타 기능 - 개인폴더</vt:lpstr>
      <vt:lpstr>PowerPoint 프레젠테이션</vt:lpstr>
      <vt:lpstr>8. 취지 및  작성 가이드</vt:lpstr>
    </vt:vector>
  </TitlesOfParts>
  <Company>Covision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CoviSmart²-DES_UI 설계서_Ver.1.0 -  포탈</dc:title>
  <dc:creator>Heebum Shin</dc:creator>
  <cp:lastModifiedBy>박민수</cp:lastModifiedBy>
  <cp:revision>1277</cp:revision>
  <cp:lastPrinted>2012-07-09T13:34:08Z</cp:lastPrinted>
  <dcterms:created xsi:type="dcterms:W3CDTF">2011-03-14T11:54:00Z</dcterms:created>
  <dcterms:modified xsi:type="dcterms:W3CDTF">2020-11-09T06:25:30Z</dcterms:modified>
</cp:coreProperties>
</file>