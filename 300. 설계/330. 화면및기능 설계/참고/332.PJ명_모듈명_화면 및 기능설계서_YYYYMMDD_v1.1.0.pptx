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5" r:id="rId4"/>
  </p:sldMasterIdLst>
  <p:notesMasterIdLst>
    <p:notesMasterId r:id="rId11"/>
  </p:notesMasterIdLst>
  <p:handoutMasterIdLst>
    <p:handoutMasterId r:id="rId12"/>
  </p:handoutMasterIdLst>
  <p:sldIdLst>
    <p:sldId id="1166" r:id="rId5"/>
    <p:sldId id="1167" r:id="rId6"/>
    <p:sldId id="1168" r:id="rId7"/>
    <p:sldId id="1124" r:id="rId8"/>
    <p:sldId id="1159" r:id="rId9"/>
    <p:sldId id="1165" r:id="rId10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42" userDrawn="1">
          <p15:clr>
            <a:srgbClr val="A4A3A4"/>
          </p15:clr>
        </p15:guide>
        <p15:guide id="4" orient="horz" pos="2840" userDrawn="1">
          <p15:clr>
            <a:srgbClr val="A4A3A4"/>
          </p15:clr>
        </p15:guide>
        <p15:guide id="6" pos="204">
          <p15:clr>
            <a:srgbClr val="A4A3A4"/>
          </p15:clr>
        </p15:guide>
        <p15:guide id="7" pos="5556">
          <p15:clr>
            <a:srgbClr val="A4A3A4"/>
          </p15:clr>
        </p15:guide>
        <p15:guide id="8" orient="horz" pos="4156">
          <p15:clr>
            <a:srgbClr val="A4A3A4"/>
          </p15:clr>
        </p15:guide>
        <p15:guide id="9" orient="horz" pos="1480">
          <p15:clr>
            <a:srgbClr val="A4A3A4"/>
          </p15:clr>
        </p15:guide>
        <p15:guide id="10" orient="horz" pos="1253">
          <p15:clr>
            <a:srgbClr val="A4A3A4"/>
          </p15:clr>
        </p15:guide>
        <p15:guide id="11" pos="249">
          <p15:clr>
            <a:srgbClr val="A4A3A4"/>
          </p15:clr>
        </p15:guide>
        <p15:guide id="12" pos="5647">
          <p15:clr>
            <a:srgbClr val="A4A3A4"/>
          </p15:clr>
        </p15:guide>
        <p15:guide id="13" pos="158">
          <p15:clr>
            <a:srgbClr val="A4A3A4"/>
          </p15:clr>
        </p15:guide>
        <p15:guide id="14" orient="horz" pos="1888">
          <p15:clr>
            <a:srgbClr val="A4A3A4"/>
          </p15:clr>
        </p15:guide>
        <p15:guide id="15" orient="horz" pos="3929">
          <p15:clr>
            <a:srgbClr val="A4A3A4"/>
          </p15:clr>
        </p15:guide>
        <p15:guide id="16" orient="horz" pos="2523">
          <p15:clr>
            <a:srgbClr val="A4A3A4"/>
          </p15:clr>
        </p15:guide>
        <p15:guide id="17" pos="3121">
          <p15:clr>
            <a:srgbClr val="A4A3A4"/>
          </p15:clr>
        </p15:guide>
        <p15:guide id="18" pos="221">
          <p15:clr>
            <a:srgbClr val="A4A3A4"/>
          </p15:clr>
        </p15:guide>
        <p15:guide id="19" pos="6019">
          <p15:clr>
            <a:srgbClr val="A4A3A4"/>
          </p15:clr>
        </p15:guide>
        <p15:guide id="20" pos="270">
          <p15:clr>
            <a:srgbClr val="A4A3A4"/>
          </p15:clr>
        </p15:guide>
        <p15:guide id="21" pos="5676">
          <p15:clr>
            <a:srgbClr val="A4A3A4"/>
          </p15:clr>
        </p15:guide>
        <p15:guide id="22" pos="1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심규호" initials="심" lastIdx="1" clrIdx="0">
    <p:extLst>
      <p:ext uri="{19B8F6BF-5375-455C-9EA6-DF929625EA0E}">
        <p15:presenceInfo xmlns:p15="http://schemas.microsoft.com/office/powerpoint/2012/main" userId="S-1-5-21-933205674-2470888985-2010034987-86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1E2"/>
    <a:srgbClr val="2069BA"/>
    <a:srgbClr val="E7E7E7"/>
    <a:srgbClr val="1D69A7"/>
    <a:srgbClr val="3D7FCF"/>
    <a:srgbClr val="2588D9"/>
    <a:srgbClr val="1A5E96"/>
    <a:srgbClr val="C9E8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953" autoAdjust="0"/>
  </p:normalViewPr>
  <p:slideViewPr>
    <p:cSldViewPr>
      <p:cViewPr varScale="1">
        <p:scale>
          <a:sx n="136" d="100"/>
          <a:sy n="136" d="100"/>
        </p:scale>
        <p:origin x="960" y="69"/>
      </p:cViewPr>
      <p:guideLst>
        <p:guide orient="horz" pos="4292"/>
        <p:guide pos="2880"/>
        <p:guide orient="horz" pos="1842"/>
        <p:guide orient="horz" pos="2840"/>
        <p:guide pos="204"/>
        <p:guide pos="5556"/>
        <p:guide orient="horz" pos="4156"/>
        <p:guide orient="horz" pos="1480"/>
        <p:guide orient="horz" pos="1253"/>
        <p:guide pos="249"/>
        <p:guide pos="5647"/>
        <p:guide pos="158"/>
        <p:guide orient="horz" pos="1888"/>
        <p:guide orient="horz" pos="3929"/>
        <p:guide orient="horz" pos="2523"/>
        <p:guide pos="3121"/>
        <p:guide pos="221"/>
        <p:guide pos="6019"/>
        <p:guide pos="270"/>
        <p:guide pos="5676"/>
        <p:guide pos="171"/>
      </p:guideLst>
    </p:cSldViewPr>
  </p:slideViewPr>
  <p:outlineViewPr>
    <p:cViewPr>
      <p:scale>
        <a:sx n="33" d="100"/>
        <a:sy n="33" d="100"/>
      </p:scale>
      <p:origin x="18" y="415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540" y="-438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49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DCE8DAC-A2B6-4292-9F5B-A4CA7FE0BF99}" type="datetimeFigureOut">
              <a:rPr lang="en-US"/>
              <a:pPr>
                <a:defRPr/>
              </a:pPr>
              <a:t>2/27/2026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49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735A60D-814D-4287-881B-077213EAB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51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49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5608C8B-8066-49A5-A56D-E711F19F9BB1}" type="datetimeFigureOut">
              <a:rPr lang="en-US"/>
              <a:pPr>
                <a:defRPr/>
              </a:pPr>
              <a:t>2/27/2026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8003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11312" y="4825653"/>
            <a:ext cx="5444806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06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99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251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08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3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76" y="2130477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26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바닥라인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476672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90533" y="-243138"/>
            <a:ext cx="1516762" cy="727379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lnSpc>
                <a:spcPct val="200000"/>
              </a:lnSpc>
              <a:defRPr/>
            </a:pPr>
            <a:r>
              <a:rPr lang="en-US" altLang="ko-KR" sz="2400" b="0" i="0" dirty="0">
                <a:ln w="6350" cmpd="sng">
                  <a:solidFill>
                    <a:schemeClr val="tx1">
                      <a:lumMod val="75000"/>
                      <a:lumOff val="25000"/>
                      <a:alpha val="22000"/>
                    </a:schemeClr>
                  </a:solidFill>
                  <a:prstDash val="solid"/>
                </a:ln>
                <a:solidFill>
                  <a:srgbClr val="3D7FCF"/>
                </a:solidFill>
                <a:latin typeface="Arial Black" panose="020B0A04020102020204" pitchFamily="34" charset="0"/>
                <a:ea typeface="Tahoma" pitchFamily="34" charset="0"/>
                <a:cs typeface="Arial" panose="020B0604020202020204" pitchFamily="34" charset="0"/>
              </a:rPr>
              <a:t>Content</a:t>
            </a:r>
            <a:endParaRPr lang="ko-KR" altLang="en-US" sz="2400" b="0" i="0" dirty="0">
              <a:ln w="6350" cmpd="sng">
                <a:solidFill>
                  <a:schemeClr val="tx1">
                    <a:lumMod val="75000"/>
                    <a:lumOff val="25000"/>
                    <a:alpha val="2200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Yoon 윤고딕 540_TT" pitchFamily="18" charset="-127"/>
              <a:cs typeface="Arial" panose="020B0604020202020204" pitchFamily="34" charset="0"/>
            </a:endParaRPr>
          </a:p>
        </p:txBody>
      </p:sp>
      <p:pic>
        <p:nvPicPr>
          <p:cNvPr id="5" name="그림 4" descr="바닥라인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476672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755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227473" y="5229201"/>
            <a:ext cx="9458693" cy="108011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7" y="188640"/>
            <a:ext cx="8243557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4" y="413666"/>
            <a:ext cx="9458691" cy="589565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 bwMode="auto">
          <a:xfrm>
            <a:off x="227473" y="5004175"/>
            <a:ext cx="9458693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※ 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프로세스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</a:t>
            </a: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프로세스 정의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371873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7" y="188640"/>
            <a:ext cx="8243557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4" y="413666"/>
            <a:ext cx="9458691" cy="589565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프로세스 정의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94485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638690"/>
            <a:ext cx="3112987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8" y="188640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6573180" y="188640"/>
            <a:ext cx="3112986" cy="45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화면설명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638690"/>
            <a:ext cx="6345704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 bwMode="auto">
          <a:xfrm>
            <a:off x="6573180" y="4860159"/>
            <a:ext cx="3112986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비고</a:t>
            </a:r>
            <a:endParaRPr kumimoji="1" lang="en-US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로 그 램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227474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면   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auto">
          <a:xfrm>
            <a:off x="1442608" y="413665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 bwMode="auto">
          <a:xfrm>
            <a:off x="3152800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 면      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204804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638690"/>
            <a:ext cx="3112987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8" y="188640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6573180" y="188640"/>
            <a:ext cx="3112986" cy="45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화면설명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638690"/>
            <a:ext cx="6345704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 bwMode="auto">
          <a:xfrm>
            <a:off x="6573180" y="4860159"/>
            <a:ext cx="3112986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관련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Table, View,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SP</a:t>
            </a: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로 그 램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227474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면   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auto">
          <a:xfrm>
            <a:off x="1442608" y="413665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 bwMode="auto">
          <a:xfrm>
            <a:off x="3152800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 면      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177570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6573179" y="638690"/>
            <a:ext cx="3112987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227474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로   </a:t>
            </a: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젝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트</a:t>
            </a:r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1442608" y="188640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6573180" y="188640"/>
            <a:ext cx="3112986" cy="45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Description(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화면설명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" name="직사각형 10"/>
          <p:cNvSpPr/>
          <p:nvPr userDrawn="1"/>
        </p:nvSpPr>
        <p:spPr bwMode="auto">
          <a:xfrm>
            <a:off x="227475" y="638690"/>
            <a:ext cx="6345704" cy="567063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3152800" y="188640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프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로 그 램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 bwMode="auto">
          <a:xfrm>
            <a:off x="227474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면      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 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auto">
          <a:xfrm>
            <a:off x="1442608" y="413665"/>
            <a:ext cx="5130572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 bwMode="auto">
          <a:xfrm>
            <a:off x="3152800" y="413665"/>
            <a:ext cx="1215135" cy="2250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      면      명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606" y="188641"/>
            <a:ext cx="1710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XX </a:t>
            </a:r>
            <a:r>
              <a:rPr lang="ko-KR" altLang="en-US" sz="1000" b="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구축</a:t>
            </a:r>
          </a:p>
        </p:txBody>
      </p:sp>
    </p:spTree>
    <p:extLst>
      <p:ext uri="{BB962C8B-B14F-4D97-AF65-F5344CB8AC3E}">
        <p14:creationId xmlns:p14="http://schemas.microsoft.com/office/powerpoint/2010/main" val="239843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 userDrawn="1"/>
        </p:nvSpPr>
        <p:spPr bwMode="auto">
          <a:xfrm>
            <a:off x="4381526" y="6548835"/>
            <a:ext cx="1143000" cy="277813"/>
          </a:xfrm>
          <a:prstGeom prst="rect">
            <a:avLst/>
          </a:prstGeom>
        </p:spPr>
        <p:txBody>
          <a:bodyPr/>
          <a:lstStyle/>
          <a:p>
            <a:pPr algn="ctr" latinLnBrk="0">
              <a:buClr>
                <a:srgbClr val="FFFFFF"/>
              </a:buClr>
              <a:buSzPct val="80000"/>
              <a:buFont typeface="Wingdings" pitchFamily="2" charset="2"/>
              <a:buNone/>
              <a:defRPr/>
            </a:pPr>
            <a:fld id="{9AC2D801-B651-4EDD-B524-3ECE3C16DC89}" type="slidenum">
              <a:rPr kumimoji="0" lang="en-US" altLang="ko-KR" sz="1000" smtClean="0">
                <a:solidFill>
                  <a:srgbClr val="000000">
                    <a:lumMod val="65000"/>
                    <a:lumOff val="35000"/>
                  </a:srgbClr>
                </a:solidFill>
                <a:latin typeface="나눔고딕 Bold" pitchFamily="50" charset="-127"/>
                <a:ea typeface="나눔고딕 Bold" pitchFamily="50" charset="-127"/>
              </a:rPr>
              <a:pPr algn="ctr" latinLnBrk="0"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en-US" altLang="ko-KR" sz="1000" dirty="0">
              <a:solidFill>
                <a:srgbClr val="000000">
                  <a:lumMod val="65000"/>
                  <a:lumOff val="35000"/>
                </a:srgb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pic>
        <p:nvPicPr>
          <p:cNvPr id="8" name="그림 7" descr="바닥라인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86661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11908" y="6431092"/>
            <a:ext cx="4148893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u="sng" spc="-80" dirty="0">
                <a:gradFill flip="none" rotWithShape="1">
                  <a:gsLst>
                    <a:gs pos="0">
                      <a:srgbClr val="4BACC6">
                        <a:lumMod val="50000"/>
                      </a:srgbClr>
                    </a:gs>
                    <a:gs pos="44000">
                      <a:prstClr val="white">
                        <a:lumMod val="50000"/>
                      </a:prstClr>
                    </a:gs>
                    <a:gs pos="72000">
                      <a:srgbClr val="EEECE1">
                        <a:lumMod val="50000"/>
                      </a:srgbClr>
                    </a:gs>
                    <a:gs pos="100000">
                      <a:prstClr val="black"/>
                    </a:gs>
                  </a:gsLst>
                  <a:lin ang="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마스터에서 고객사 로고로 변경해주세요</a:t>
            </a:r>
            <a:endParaRPr lang="en-US" altLang="ko-KR" sz="1800" b="1" u="sng" spc="-80" dirty="0">
              <a:gradFill flip="none" rotWithShape="1">
                <a:gsLst>
                  <a:gs pos="0">
                    <a:srgbClr val="4BACC6">
                      <a:lumMod val="50000"/>
                    </a:srgbClr>
                  </a:gs>
                  <a:gs pos="44000">
                    <a:prstClr val="white">
                      <a:lumMod val="50000"/>
                    </a:prstClr>
                  </a:gs>
                  <a:gs pos="72000">
                    <a:srgbClr val="EEECE1">
                      <a:lumMod val="50000"/>
                    </a:srgbClr>
                  </a:gs>
                  <a:gs pos="100000">
                    <a:prstClr val="black"/>
                  </a:gs>
                </a:gsLst>
                <a:lin ang="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" name="AutoShape 2" descr="https://indi.covision.co.kr/mail/?_task=mail&amp;_action=get&amp;_mbox=INBOX&amp;_uid=11725&amp;_part=2&amp;_extwin=1&amp;_mimewarning=1&amp;_embed=1"/>
          <p:cNvSpPr>
            <a:spLocks noChangeAspect="1" noChangeArrowheads="1"/>
          </p:cNvSpPr>
          <p:nvPr userDrawn="1"/>
        </p:nvSpPr>
        <p:spPr bwMode="auto">
          <a:xfrm>
            <a:off x="4800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807524" y="6550695"/>
            <a:ext cx="1026046" cy="2213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305" r:id="rId3"/>
    <p:sldLayoutId id="2147484301" r:id="rId4"/>
    <p:sldLayoutId id="2147484307" r:id="rId5"/>
    <p:sldLayoutId id="2147484304" r:id="rId6"/>
    <p:sldLayoutId id="2147484303" r:id="rId7"/>
    <p:sldLayoutId id="2147484306" r:id="rId8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2000249" y="1617279"/>
            <a:ext cx="7905751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고객사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그룹웨어 구축 프로젝트 </a:t>
            </a:r>
            <a:endParaRPr kumimoji="0" lang="en-US" altLang="ko-KR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서브시스템명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화면 및 기능설계서</a:t>
            </a:r>
            <a:endParaRPr kumimoji="0" lang="en-US" altLang="ko-KR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V="1">
            <a:off x="924404" y="2603953"/>
            <a:ext cx="8981596" cy="10469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1941" y="5467871"/>
            <a:ext cx="18821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4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972780" y="3048298"/>
          <a:ext cx="4140000" cy="1676846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86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수행사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고객사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작성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4195">
            <a:extLst>
              <a:ext uri="{FF2B5EF4-FFF2-40B4-BE49-F238E27FC236}">
                <a16:creationId xmlns:a16="http://schemas.microsoft.com/office/drawing/2014/main" id="{C5BD78EB-A7BE-426C-887A-CDCC2D42E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00250" cy="6362278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7000" tIns="127000" rIns="127000" bIns="12700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0"/>
              </a:lnSpc>
              <a:defRPr sz="1000"/>
            </a:pPr>
            <a:r>
              <a:rPr lang="ko-KR" altLang="en-US" sz="1400" dirty="0" err="1">
                <a:solidFill>
                  <a:srgbClr val="000000"/>
                </a:solidFill>
                <a:latin typeface="+mn-ea"/>
              </a:rPr>
              <a:t>문서정보</a:t>
            </a:r>
            <a:endParaRPr lang="ko-KR" altLang="en-US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000"/>
              </a:lnSpc>
              <a:defRPr sz="1000"/>
            </a:pPr>
            <a:endParaRPr lang="ko-KR" altLang="en-US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6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문서번호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cs typeface="Times New Roman"/>
              </a:rPr>
              <a:t> </a:t>
            </a:r>
          </a:p>
          <a:p>
            <a:pPr>
              <a:lnSpc>
                <a:spcPts val="1600"/>
              </a:lnSpc>
              <a:defRPr sz="1000"/>
            </a:pPr>
            <a:r>
              <a:rPr lang="en-US" altLang="ko-KR" sz="1000" dirty="0">
                <a:solidFill>
                  <a:srgbClr val="000000"/>
                </a:solidFill>
                <a:latin typeface="+mn-ea"/>
                <a:cs typeface="Times New Roman"/>
              </a:rPr>
              <a:t>COVI-ANS-BR-2018-03</a:t>
            </a:r>
            <a:endParaRPr lang="ko-KR" altLang="en-US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0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  <a:cs typeface="Times New Roman"/>
              </a:rPr>
              <a:t> </a:t>
            </a:r>
          </a:p>
          <a:p>
            <a:pPr>
              <a:lnSpc>
                <a:spcPts val="15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작성일자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cs typeface="Times New Roman"/>
              </a:rPr>
              <a:t> </a:t>
            </a:r>
          </a:p>
          <a:p>
            <a:pPr>
              <a:lnSpc>
                <a:spcPts val="16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20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20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11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16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일</a:t>
            </a:r>
            <a:endParaRPr lang="ko-KR" altLang="en-US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0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  <a:cs typeface="Times New Roman"/>
              </a:rPr>
              <a:t> </a:t>
            </a:r>
          </a:p>
          <a:p>
            <a:pPr>
              <a:lnSpc>
                <a:spcPts val="1600"/>
              </a:lnSpc>
              <a:defRPr sz="1000"/>
            </a:pPr>
            <a:r>
              <a:rPr lang="ko-KR" altLang="en-US" sz="1000" dirty="0" err="1">
                <a:solidFill>
                  <a:srgbClr val="000000"/>
                </a:solidFill>
                <a:latin typeface="+mn-ea"/>
              </a:rPr>
              <a:t>작성부서</a:t>
            </a:r>
            <a:endParaRPr lang="en-US" altLang="ko-KR" sz="1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1600"/>
              </a:lnSpc>
              <a:defRPr sz="1000"/>
            </a:pPr>
            <a:r>
              <a:rPr lang="ko-KR" altLang="en-US" sz="1000" dirty="0" err="1">
                <a:solidFill>
                  <a:srgbClr val="000000"/>
                </a:solidFill>
                <a:latin typeface="+mn-ea"/>
                <a:cs typeface="Times New Roman"/>
              </a:rPr>
              <a:t>메일팀</a:t>
            </a:r>
            <a:endParaRPr lang="en-US" altLang="ko-KR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600"/>
              </a:lnSpc>
              <a:defRPr sz="1000"/>
            </a:pPr>
            <a:endParaRPr lang="en-US" altLang="ko-KR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6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  <a:cs typeface="Times New Roman"/>
              </a:rPr>
              <a:t>작성자</a:t>
            </a:r>
            <a:endParaRPr lang="en-US" altLang="ko-KR" sz="1000" dirty="0">
              <a:solidFill>
                <a:srgbClr val="000000"/>
              </a:solidFill>
              <a:latin typeface="+mn-ea"/>
              <a:cs typeface="Times New Roman"/>
            </a:endParaRPr>
          </a:p>
          <a:p>
            <a:pPr>
              <a:lnSpc>
                <a:spcPts val="16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+mn-ea"/>
                <a:cs typeface="Times New Roman"/>
              </a:rPr>
              <a:t>홍길동 </a:t>
            </a:r>
          </a:p>
          <a:p>
            <a:pPr>
              <a:lnSpc>
                <a:spcPts val="1500"/>
              </a:lnSpc>
              <a:defRPr sz="1000"/>
            </a:pPr>
            <a:endParaRPr lang="en-US" altLang="ko-KR" sz="10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ts val="15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Times New Roman"/>
                <a:ea typeface="맑은 고딕"/>
                <a:cs typeface="Times New Roman"/>
              </a:rPr>
              <a:t> </a:t>
            </a:r>
          </a:p>
          <a:p>
            <a:pPr>
              <a:lnSpc>
                <a:spcPts val="1000"/>
              </a:lnSpc>
              <a:defRPr sz="1000"/>
            </a:pPr>
            <a:r>
              <a:rPr lang="ko-KR" altLang="en-US" sz="1000" dirty="0">
                <a:solidFill>
                  <a:srgbClr val="000000"/>
                </a:solidFill>
                <a:latin typeface="Times New Roman"/>
                <a:ea typeface="맑은 고딕"/>
                <a:cs typeface="Times New Roman"/>
              </a:rPr>
              <a:t> </a:t>
            </a:r>
          </a:p>
          <a:p>
            <a:pPr>
              <a:lnSpc>
                <a:spcPts val="800"/>
              </a:lnSpc>
              <a:defRPr sz="1000"/>
            </a:pPr>
            <a:r>
              <a:rPr lang="ko-KR" altLang="en-US" sz="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lang="ko-KR" altLang="en-US" sz="1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800"/>
              </a:lnSpc>
              <a:defRPr sz="1000"/>
            </a:pPr>
            <a:r>
              <a:rPr lang="ko-KR" altLang="en-US" sz="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lang="ko-KR" altLang="en-US" sz="1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rtl="0">
              <a:defRPr sz="1000"/>
            </a:pPr>
            <a:r>
              <a:rPr lang="ko-KR" altLang="en-US" sz="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lang="ko-KR" altLang="en-US" sz="1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1000"/>
              </a:lnSpc>
              <a:defRPr sz="1000"/>
            </a:pPr>
            <a:endParaRPr lang="ko-KR" altLang="en-US" sz="1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ts val="1100"/>
              </a:lnSpc>
              <a:defRPr sz="1000"/>
            </a:pP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6860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04"/>
          <p:cNvGraphicFramePr>
            <a:graphicFrameLocks noGrp="1"/>
          </p:cNvGraphicFramePr>
          <p:nvPr/>
        </p:nvGraphicFramePr>
        <p:xfrm>
          <a:off x="388785" y="680953"/>
          <a:ext cx="9126001" cy="3709990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PM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YYYY.MM.DD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88784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</a:t>
            </a:r>
            <a:r>
              <a:rPr lang="ko-KR" altLang="en-US" sz="1200" i="1" dirty="0" err="1">
                <a:latin typeface="+mn-ea"/>
                <a:ea typeface="+mn-ea"/>
              </a:rPr>
              <a:t>코비젼이</a:t>
            </a:r>
            <a:r>
              <a:rPr lang="ko-KR" altLang="en-US" sz="1200" i="1" dirty="0">
                <a:latin typeface="+mn-ea"/>
                <a:ea typeface="+mn-ea"/>
              </a:rPr>
              <a:t>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제출하는 프로젝트 산출물의 하나이므로, 이 문서의 소유권은 원칙적으로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있습니다. 그러나 문서의 형태 및 </a:t>
            </a:r>
            <a:r>
              <a:rPr lang="ko-KR" altLang="en-US" sz="1200" i="1" dirty="0" err="1">
                <a:latin typeface="+mn-ea"/>
                <a:ea typeface="+mn-ea"/>
              </a:rPr>
              <a:t>내용구성은</a:t>
            </a:r>
            <a:r>
              <a:rPr lang="ko-KR" altLang="en-US" sz="1200" i="1" dirty="0">
                <a:latin typeface="+mn-ea"/>
                <a:ea typeface="+mn-ea"/>
              </a:rPr>
              <a:t> </a:t>
            </a:r>
            <a:r>
              <a:rPr lang="ko-KR" altLang="en-US" sz="1200" i="1" dirty="0" err="1">
                <a:latin typeface="+mn-ea"/>
                <a:ea typeface="+mn-ea"/>
              </a:rPr>
              <a:t>코비젼의</a:t>
            </a:r>
            <a:r>
              <a:rPr lang="ko-KR" altLang="en-US" sz="1200" i="1" dirty="0">
                <a:latin typeface="+mn-ea"/>
                <a:ea typeface="+mn-ea"/>
              </a:rPr>
              <a:t> 지적 자산이므로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]가 이 문서를 다른 용도로 임의로 변경하여 사용할 수 없음을 주지하시기 바랍니다.</a:t>
            </a:r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2391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2657FE-A2E0-4236-9BF2-98943C35A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58613"/>
              </p:ext>
            </p:extLst>
          </p:nvPr>
        </p:nvGraphicFramePr>
        <p:xfrm>
          <a:off x="344488" y="548680"/>
          <a:ext cx="9217024" cy="5600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13277">
                  <a:extLst>
                    <a:ext uri="{9D8B030D-6E8A-4147-A177-3AD203B41FA5}">
                      <a16:colId xmlns:a16="http://schemas.microsoft.com/office/drawing/2014/main" val="1054285398"/>
                    </a:ext>
                  </a:extLst>
                </a:gridCol>
                <a:gridCol w="2031842">
                  <a:extLst>
                    <a:ext uri="{9D8B030D-6E8A-4147-A177-3AD203B41FA5}">
                      <a16:colId xmlns:a16="http://schemas.microsoft.com/office/drawing/2014/main" val="537399588"/>
                    </a:ext>
                  </a:extLst>
                </a:gridCol>
                <a:gridCol w="4259737">
                  <a:extLst>
                    <a:ext uri="{9D8B030D-6E8A-4147-A177-3AD203B41FA5}">
                      <a16:colId xmlns:a16="http://schemas.microsoft.com/office/drawing/2014/main" val="150138531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17286936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5850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 action="ppaction://hlinksldjump"/>
                        </a:rPr>
                        <a:t>포탈 프로세스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포탈 전반에 걸친 프로세스 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6487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 action="ppaction://hlinksldjump"/>
                        </a:rPr>
                        <a:t>부서생성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생성하는 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1586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DW_DES_PO_003</a:t>
                      </a:r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Cop(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학습조직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 action="ppaction://hlinksldjump"/>
                        </a:rPr>
                        <a:t>개설 신청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CoP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개설 신청 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9812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en-US" altLang="ko-KR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4585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DW_DES_PO_005</a:t>
                      </a:r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1679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DW_DES_PO_006</a:t>
                      </a:r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1534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383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srgbClr val="4F81BD"/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5992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srgbClr val="4F81BD"/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5452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srgbClr val="4F81BD"/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DW_DES_PO_010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811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8314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9560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7327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8039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293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409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9478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856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59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238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2107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719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5518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8791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51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4229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69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ln>
                          <a:solidFill>
                            <a:schemeClr val="accent1"/>
                          </a:solidFill>
                        </a:ln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7533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7772D16-FA5C-459E-9ADF-B335CBB1D3C7}"/>
              </a:ext>
            </a:extLst>
          </p:cNvPr>
          <p:cNvSpPr txBox="1"/>
          <p:nvPr/>
        </p:nvSpPr>
        <p:spPr>
          <a:xfrm>
            <a:off x="4376936" y="175440"/>
            <a:ext cx="531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ea typeface="맑은 고딕" panose="020B0503020000020004" pitchFamily="50" charset="-127"/>
              </a:rPr>
              <a:t>부서 통폐합시 팀사이트 관리</a:t>
            </a:r>
            <a:r>
              <a:rPr lang="en-US" altLang="ko-KR" sz="1000" dirty="0"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ea typeface="맑은 고딕" panose="020B0503020000020004" pitchFamily="50" charset="-127"/>
              </a:rPr>
              <a:t>이관 프로세스</a:t>
            </a:r>
          </a:p>
        </p:txBody>
      </p:sp>
    </p:spTree>
    <p:extLst>
      <p:ext uri="{BB962C8B-B14F-4D97-AF65-F5344CB8AC3E}">
        <p14:creationId xmlns:p14="http://schemas.microsoft.com/office/powerpoint/2010/main" val="215537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5"/>
          <p:cNvSpPr>
            <a:spLocks noChangeArrowheads="1"/>
          </p:cNvSpPr>
          <p:nvPr/>
        </p:nvSpPr>
        <p:spPr bwMode="auto">
          <a:xfrm>
            <a:off x="310058" y="498576"/>
            <a:ext cx="9242425" cy="4249738"/>
          </a:xfrm>
          <a:prstGeom prst="rect">
            <a:avLst/>
          </a:prstGeom>
          <a:noFill/>
          <a:ln w="1270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Line 6"/>
          <p:cNvSpPr>
            <a:spLocks noChangeShapeType="1"/>
          </p:cNvSpPr>
          <p:nvPr/>
        </p:nvSpPr>
        <p:spPr bwMode="auto">
          <a:xfrm>
            <a:off x="5947271" y="539851"/>
            <a:ext cx="17462" cy="4249738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6" name="Line 7"/>
          <p:cNvSpPr>
            <a:spLocks noChangeShapeType="1"/>
          </p:cNvSpPr>
          <p:nvPr/>
        </p:nvSpPr>
        <p:spPr bwMode="auto">
          <a:xfrm flipV="1">
            <a:off x="297358" y="901801"/>
            <a:ext cx="9244013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7" name="Text Box 8"/>
          <p:cNvSpPr txBox="1">
            <a:spLocks noChangeArrowheads="1"/>
          </p:cNvSpPr>
          <p:nvPr/>
        </p:nvSpPr>
        <p:spPr bwMode="auto">
          <a:xfrm>
            <a:off x="1502271" y="557314"/>
            <a:ext cx="22510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팀 사이트 정리 스케쥴링 </a:t>
            </a: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5580558" y="560489"/>
            <a:ext cx="24860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팀사이트 운영자</a:t>
            </a:r>
          </a:p>
        </p:txBody>
      </p:sp>
      <p:sp>
        <p:nvSpPr>
          <p:cNvPr id="79" name="Line 11"/>
          <p:cNvSpPr>
            <a:spLocks noChangeShapeType="1"/>
          </p:cNvSpPr>
          <p:nvPr/>
        </p:nvSpPr>
        <p:spPr bwMode="auto">
          <a:xfrm flipH="1">
            <a:off x="7579221" y="498576"/>
            <a:ext cx="31750" cy="4249738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80" name="Line 7"/>
          <p:cNvSpPr>
            <a:spLocks noChangeShapeType="1"/>
          </p:cNvSpPr>
          <p:nvPr/>
        </p:nvSpPr>
        <p:spPr bwMode="auto">
          <a:xfrm flipV="1">
            <a:off x="295771" y="901801"/>
            <a:ext cx="9256712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ysDot"/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>
            <a:off x="319583" y="2227364"/>
            <a:ext cx="9221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AutoShape 14"/>
          <p:cNvSpPr>
            <a:spLocks noChangeArrowheads="1"/>
          </p:cNvSpPr>
          <p:nvPr/>
        </p:nvSpPr>
        <p:spPr bwMode="auto">
          <a:xfrm>
            <a:off x="3966071" y="1070076"/>
            <a:ext cx="1385887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분류 삭제</a:t>
            </a:r>
          </a:p>
        </p:txBody>
      </p:sp>
      <p:cxnSp>
        <p:nvCxnSpPr>
          <p:cNvPr id="83" name="AutoShape 16"/>
          <p:cNvCxnSpPr>
            <a:cxnSpLocks noChangeShapeType="1"/>
            <a:stCxn id="84" idx="4"/>
            <a:endCxn id="85" idx="1"/>
          </p:cNvCxnSpPr>
          <p:nvPr/>
        </p:nvCxnSpPr>
        <p:spPr bwMode="auto">
          <a:xfrm rot="16200000" flipH="1">
            <a:off x="445789" y="1674120"/>
            <a:ext cx="712788" cy="1778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20"/>
          <p:cNvSpPr>
            <a:spLocks noChangeArrowheads="1"/>
          </p:cNvSpPr>
          <p:nvPr/>
        </p:nvSpPr>
        <p:spPr bwMode="auto">
          <a:xfrm>
            <a:off x="422771" y="1046264"/>
            <a:ext cx="581025" cy="3603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68415" tIns="34208" rIns="68415" bIns="34208" anchor="ctr"/>
          <a:lstStyle/>
          <a:p>
            <a:pPr algn="ctr" defTabSz="68421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조직변경</a:t>
            </a:r>
            <a:endParaRPr kumimoji="0"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AutoShape 39"/>
          <p:cNvSpPr>
            <a:spLocks noChangeArrowheads="1"/>
          </p:cNvSpPr>
          <p:nvPr/>
        </p:nvSpPr>
        <p:spPr bwMode="auto">
          <a:xfrm>
            <a:off x="891083" y="1849539"/>
            <a:ext cx="896938" cy="5397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403" tIns="34202" rIns="68403" bIns="34202" anchor="ctr"/>
          <a:lstStyle/>
          <a:p>
            <a:pPr algn="ctr" defTabSz="95726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팀 </a:t>
            </a: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Or </a:t>
            </a: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부서</a:t>
            </a:r>
          </a:p>
        </p:txBody>
      </p:sp>
      <p:cxnSp>
        <p:nvCxnSpPr>
          <p:cNvPr id="86" name="AutoShape 16"/>
          <p:cNvCxnSpPr>
            <a:cxnSpLocks noChangeShapeType="1"/>
            <a:stCxn id="85" idx="2"/>
            <a:endCxn id="101" idx="1"/>
          </p:cNvCxnSpPr>
          <p:nvPr/>
        </p:nvCxnSpPr>
        <p:spPr bwMode="auto">
          <a:xfrm rot="5400000">
            <a:off x="521196" y="2759176"/>
            <a:ext cx="1189037" cy="449263"/>
          </a:xfrm>
          <a:prstGeom prst="bentConnector4">
            <a:avLst>
              <a:gd name="adj1" fmla="val 39514"/>
              <a:gd name="adj2" fmla="val 15094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" name="Text Box 8"/>
          <p:cNvSpPr txBox="1">
            <a:spLocks noChangeArrowheads="1"/>
          </p:cNvSpPr>
          <p:nvPr/>
        </p:nvSpPr>
        <p:spPr bwMode="auto">
          <a:xfrm>
            <a:off x="1503858" y="1311376"/>
            <a:ext cx="854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중간 부서</a:t>
            </a:r>
          </a:p>
        </p:txBody>
      </p:sp>
      <p:sp>
        <p:nvSpPr>
          <p:cNvPr id="88" name="Text Box 8"/>
          <p:cNvSpPr txBox="1">
            <a:spLocks noChangeArrowheads="1"/>
          </p:cNvSpPr>
          <p:nvPr/>
        </p:nvSpPr>
        <p:spPr bwMode="auto">
          <a:xfrm>
            <a:off x="422771" y="2587726"/>
            <a:ext cx="107156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최하위 팀</a:t>
            </a:r>
          </a:p>
        </p:txBody>
      </p:sp>
      <p:sp>
        <p:nvSpPr>
          <p:cNvPr id="89" name="AutoShape 39"/>
          <p:cNvSpPr>
            <a:spLocks noChangeArrowheads="1"/>
          </p:cNvSpPr>
          <p:nvPr/>
        </p:nvSpPr>
        <p:spPr bwMode="auto">
          <a:xfrm>
            <a:off x="2107108" y="1325664"/>
            <a:ext cx="992188" cy="49847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403" tIns="34202" rIns="68403" bIns="34202" anchor="ctr"/>
          <a:lstStyle/>
          <a:p>
            <a:pPr algn="ctr" defTabSz="95726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분류 처리</a:t>
            </a:r>
          </a:p>
        </p:txBody>
      </p:sp>
      <p:cxnSp>
        <p:nvCxnSpPr>
          <p:cNvPr id="90" name="AutoShape 16"/>
          <p:cNvCxnSpPr>
            <a:cxnSpLocks noChangeShapeType="1"/>
            <a:stCxn id="85" idx="3"/>
            <a:endCxn id="89" idx="1"/>
          </p:cNvCxnSpPr>
          <p:nvPr/>
        </p:nvCxnSpPr>
        <p:spPr bwMode="auto">
          <a:xfrm flipV="1">
            <a:off x="1788021" y="1574901"/>
            <a:ext cx="319087" cy="5445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AutoShape 16"/>
          <p:cNvCxnSpPr>
            <a:cxnSpLocks noChangeShapeType="1"/>
            <a:stCxn id="89" idx="0"/>
            <a:endCxn id="82" idx="1"/>
          </p:cNvCxnSpPr>
          <p:nvPr/>
        </p:nvCxnSpPr>
        <p:spPr bwMode="auto">
          <a:xfrm rot="5400000" flipH="1" flipV="1">
            <a:off x="3225502" y="585095"/>
            <a:ext cx="117475" cy="136366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AutoShape 14"/>
          <p:cNvSpPr>
            <a:spLocks noChangeArrowheads="1"/>
          </p:cNvSpPr>
          <p:nvPr/>
        </p:nvSpPr>
        <p:spPr bwMode="auto">
          <a:xfrm>
            <a:off x="7944346" y="1071664"/>
            <a:ext cx="1328737" cy="41910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분류관리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AutoShape 14"/>
          <p:cNvSpPr>
            <a:spLocks noChangeArrowheads="1"/>
          </p:cNvSpPr>
          <p:nvPr/>
        </p:nvSpPr>
        <p:spPr bwMode="auto">
          <a:xfrm>
            <a:off x="3943846" y="1438376"/>
            <a:ext cx="1395412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분류 생성</a:t>
            </a:r>
          </a:p>
        </p:txBody>
      </p:sp>
      <p:cxnSp>
        <p:nvCxnSpPr>
          <p:cNvPr id="94" name="AutoShape 16"/>
          <p:cNvCxnSpPr>
            <a:cxnSpLocks noChangeShapeType="1"/>
            <a:stCxn id="89" idx="3"/>
            <a:endCxn id="93" idx="1"/>
          </p:cNvCxnSpPr>
          <p:nvPr/>
        </p:nvCxnSpPr>
        <p:spPr bwMode="auto">
          <a:xfrm>
            <a:off x="3099296" y="1574901"/>
            <a:ext cx="844550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Text Box 8"/>
          <p:cNvSpPr txBox="1">
            <a:spLocks noChangeArrowheads="1"/>
          </p:cNvSpPr>
          <p:nvPr/>
        </p:nvSpPr>
        <p:spPr bwMode="auto">
          <a:xfrm>
            <a:off x="2545258" y="970064"/>
            <a:ext cx="13398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폐기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통폐합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삭제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 Box 8"/>
          <p:cNvSpPr txBox="1">
            <a:spLocks noChangeArrowheads="1"/>
          </p:cNvSpPr>
          <p:nvPr/>
        </p:nvSpPr>
        <p:spPr bwMode="auto">
          <a:xfrm>
            <a:off x="3083421" y="1332014"/>
            <a:ext cx="854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신규 부서</a:t>
            </a:r>
          </a:p>
        </p:txBody>
      </p:sp>
      <p:sp>
        <p:nvSpPr>
          <p:cNvPr id="97" name="AutoShape 14"/>
          <p:cNvSpPr>
            <a:spLocks noChangeArrowheads="1"/>
          </p:cNvSpPr>
          <p:nvPr/>
        </p:nvSpPr>
        <p:spPr bwMode="auto">
          <a:xfrm>
            <a:off x="3943846" y="1806676"/>
            <a:ext cx="1395412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분류 수정</a:t>
            </a:r>
          </a:p>
        </p:txBody>
      </p:sp>
      <p:cxnSp>
        <p:nvCxnSpPr>
          <p:cNvPr id="98" name="AutoShape 16"/>
          <p:cNvCxnSpPr>
            <a:cxnSpLocks noChangeShapeType="1"/>
            <a:stCxn id="89" idx="2"/>
            <a:endCxn id="97" idx="1"/>
          </p:cNvCxnSpPr>
          <p:nvPr/>
        </p:nvCxnSpPr>
        <p:spPr bwMode="auto">
          <a:xfrm rot="16200000" flipH="1">
            <a:off x="3212802" y="1213745"/>
            <a:ext cx="120650" cy="13414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Text Box 8"/>
          <p:cNvSpPr txBox="1">
            <a:spLocks noChangeArrowheads="1"/>
          </p:cNvSpPr>
          <p:nvPr/>
        </p:nvSpPr>
        <p:spPr bwMode="auto">
          <a:xfrm>
            <a:off x="2642096" y="1716189"/>
            <a:ext cx="13192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부서 수정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이동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등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AutoShape 14"/>
          <p:cNvSpPr>
            <a:spLocks noChangeArrowheads="1"/>
          </p:cNvSpPr>
          <p:nvPr/>
        </p:nvSpPr>
        <p:spPr bwMode="auto">
          <a:xfrm>
            <a:off x="2543671" y="2821089"/>
            <a:ext cx="1385887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팀 사이트 활동 중지</a:t>
            </a:r>
          </a:p>
        </p:txBody>
      </p:sp>
      <p:sp>
        <p:nvSpPr>
          <p:cNvPr id="101" name="AutoShape 39"/>
          <p:cNvSpPr>
            <a:spLocks noChangeArrowheads="1"/>
          </p:cNvSpPr>
          <p:nvPr/>
        </p:nvSpPr>
        <p:spPr bwMode="auto">
          <a:xfrm>
            <a:off x="891083" y="3329089"/>
            <a:ext cx="1223963" cy="49847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403" tIns="34202" rIns="68403" bIns="34202" anchor="ctr"/>
          <a:lstStyle/>
          <a:p>
            <a:pPr algn="ctr" defTabSz="95726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팀 사이트 처리</a:t>
            </a:r>
          </a:p>
        </p:txBody>
      </p:sp>
      <p:cxnSp>
        <p:nvCxnSpPr>
          <p:cNvPr id="102" name="AutoShape 16"/>
          <p:cNvCxnSpPr>
            <a:cxnSpLocks noChangeShapeType="1"/>
            <a:stCxn id="101" idx="0"/>
            <a:endCxn id="100" idx="1"/>
          </p:cNvCxnSpPr>
          <p:nvPr/>
        </p:nvCxnSpPr>
        <p:spPr bwMode="auto">
          <a:xfrm rot="5400000" flipH="1" flipV="1">
            <a:off x="1838821" y="2624238"/>
            <a:ext cx="369888" cy="103981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AutoShape 14"/>
          <p:cNvSpPr>
            <a:spLocks noChangeArrowheads="1"/>
          </p:cNvSpPr>
          <p:nvPr/>
        </p:nvSpPr>
        <p:spPr bwMode="auto">
          <a:xfrm>
            <a:off x="4237533" y="2748064"/>
            <a:ext cx="1438275" cy="4286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폐쇄예정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분류로 이동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숨김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관리자만 보임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AutoShape 14"/>
          <p:cNvSpPr>
            <a:spLocks noChangeArrowheads="1"/>
          </p:cNvSpPr>
          <p:nvPr/>
        </p:nvSpPr>
        <p:spPr bwMode="auto">
          <a:xfrm>
            <a:off x="2945308" y="3440214"/>
            <a:ext cx="939800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생성</a:t>
            </a:r>
          </a:p>
        </p:txBody>
      </p:sp>
      <p:cxnSp>
        <p:nvCxnSpPr>
          <p:cNvPr id="105" name="AutoShape 16"/>
          <p:cNvCxnSpPr>
            <a:cxnSpLocks noChangeShapeType="1"/>
            <a:stCxn id="101" idx="3"/>
            <a:endCxn id="104" idx="1"/>
          </p:cNvCxnSpPr>
          <p:nvPr/>
        </p:nvCxnSpPr>
        <p:spPr bwMode="auto">
          <a:xfrm flipV="1">
            <a:off x="2115046" y="3578326"/>
            <a:ext cx="830262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" name="Text Box 8"/>
          <p:cNvSpPr txBox="1">
            <a:spLocks noChangeArrowheads="1"/>
          </p:cNvSpPr>
          <p:nvPr/>
        </p:nvSpPr>
        <p:spPr bwMode="auto">
          <a:xfrm>
            <a:off x="1319708" y="2706789"/>
            <a:ext cx="13382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폐기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통폐합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삭제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7" name="Text Box 8"/>
          <p:cNvSpPr txBox="1">
            <a:spLocks noChangeArrowheads="1"/>
          </p:cNvSpPr>
          <p:nvPr/>
        </p:nvSpPr>
        <p:spPr bwMode="auto">
          <a:xfrm>
            <a:off x="2086471" y="3332264"/>
            <a:ext cx="8540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신규 부서</a:t>
            </a:r>
          </a:p>
        </p:txBody>
      </p:sp>
      <p:sp>
        <p:nvSpPr>
          <p:cNvPr id="108" name="AutoShape 14"/>
          <p:cNvSpPr>
            <a:spLocks noChangeArrowheads="1"/>
          </p:cNvSpPr>
          <p:nvPr/>
        </p:nvSpPr>
        <p:spPr bwMode="auto">
          <a:xfrm>
            <a:off x="2843708" y="4248251"/>
            <a:ext cx="1604963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수정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분류 이동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9" name="AutoShape 16"/>
          <p:cNvCxnSpPr>
            <a:cxnSpLocks noChangeShapeType="1"/>
            <a:stCxn id="101" idx="2"/>
            <a:endCxn id="108" idx="1"/>
          </p:cNvCxnSpPr>
          <p:nvPr/>
        </p:nvCxnSpPr>
        <p:spPr bwMode="auto">
          <a:xfrm rot="16200000" flipH="1">
            <a:off x="1894383" y="3437039"/>
            <a:ext cx="558800" cy="133985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" name="Text Box 8"/>
          <p:cNvSpPr txBox="1">
            <a:spLocks noChangeArrowheads="1"/>
          </p:cNvSpPr>
          <p:nvPr/>
        </p:nvSpPr>
        <p:spPr bwMode="auto">
          <a:xfrm>
            <a:off x="1491158" y="4135539"/>
            <a:ext cx="13192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부서 수정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이동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등</a:t>
            </a:r>
            <a:r>
              <a:rPr kumimoji="0" lang="en-US" altLang="ko-KR" sz="100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sz="10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1" name="Text Box 9"/>
          <p:cNvSpPr txBox="1">
            <a:spLocks noChangeArrowheads="1"/>
          </p:cNvSpPr>
          <p:nvPr/>
        </p:nvSpPr>
        <p:spPr bwMode="auto">
          <a:xfrm>
            <a:off x="7964983" y="571601"/>
            <a:ext cx="1384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팀사이트 관리자</a:t>
            </a:r>
          </a:p>
        </p:txBody>
      </p:sp>
      <p:cxnSp>
        <p:nvCxnSpPr>
          <p:cNvPr id="112" name="AutoShape 16"/>
          <p:cNvCxnSpPr>
            <a:cxnSpLocks noChangeShapeType="1"/>
            <a:stCxn id="100" idx="3"/>
            <a:endCxn id="103" idx="1"/>
          </p:cNvCxnSpPr>
          <p:nvPr/>
        </p:nvCxnSpPr>
        <p:spPr bwMode="auto">
          <a:xfrm>
            <a:off x="3929558" y="2959201"/>
            <a:ext cx="307975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AutoShape 16"/>
          <p:cNvCxnSpPr>
            <a:cxnSpLocks noChangeShapeType="1"/>
            <a:stCxn id="100" idx="0"/>
            <a:endCxn id="117" idx="2"/>
          </p:cNvCxnSpPr>
          <p:nvPr/>
        </p:nvCxnSpPr>
        <p:spPr bwMode="auto">
          <a:xfrm rot="5400000" flipH="1" flipV="1">
            <a:off x="4644727" y="1128020"/>
            <a:ext cx="285750" cy="310038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" name="AutoShape 14"/>
          <p:cNvSpPr>
            <a:spLocks noChangeArrowheads="1"/>
          </p:cNvSpPr>
          <p:nvPr/>
        </p:nvSpPr>
        <p:spPr bwMode="auto">
          <a:xfrm>
            <a:off x="4251821" y="3438626"/>
            <a:ext cx="750887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팀원 추가</a:t>
            </a:r>
          </a:p>
        </p:txBody>
      </p:sp>
      <p:cxnSp>
        <p:nvCxnSpPr>
          <p:cNvPr id="115" name="AutoShape 16"/>
          <p:cNvCxnSpPr>
            <a:cxnSpLocks noChangeShapeType="1"/>
            <a:stCxn id="104" idx="3"/>
            <a:endCxn id="114" idx="1"/>
          </p:cNvCxnSpPr>
          <p:nvPr/>
        </p:nvCxnSpPr>
        <p:spPr bwMode="auto">
          <a:xfrm flipV="1">
            <a:off x="3885108" y="3576739"/>
            <a:ext cx="366713" cy="15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" name="Text Box 8"/>
          <p:cNvSpPr txBox="1">
            <a:spLocks noChangeArrowheads="1"/>
          </p:cNvSpPr>
          <p:nvPr/>
        </p:nvSpPr>
        <p:spPr bwMode="auto">
          <a:xfrm>
            <a:off x="4050208" y="2244826"/>
            <a:ext cx="13382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>
            <a:spAutoFit/>
          </a:bodyPr>
          <a:lstStyle>
            <a:lvl1pPr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223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ko-KR" altLang="en-US" sz="1000">
                <a:latin typeface="맑은 고딕" pitchFamily="50" charset="-127"/>
                <a:ea typeface="맑은 고딕" pitchFamily="50" charset="-127"/>
              </a:rPr>
              <a:t>활동 중지 알림</a:t>
            </a:r>
          </a:p>
        </p:txBody>
      </p:sp>
      <p:sp>
        <p:nvSpPr>
          <p:cNvPr id="117" name="Oval 20"/>
          <p:cNvSpPr>
            <a:spLocks noChangeArrowheads="1"/>
          </p:cNvSpPr>
          <p:nvPr/>
        </p:nvSpPr>
        <p:spPr bwMode="auto">
          <a:xfrm>
            <a:off x="6337796" y="2314676"/>
            <a:ext cx="885825" cy="44291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68415" tIns="34208" rIns="68415" bIns="34208" anchor="ctr"/>
          <a:lstStyle/>
          <a:p>
            <a:pPr algn="ctr" defTabSz="68421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폐기예정</a:t>
            </a:r>
            <a:r>
              <a:rPr kumimoji="0"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알림</a:t>
            </a:r>
          </a:p>
        </p:txBody>
      </p:sp>
      <p:sp>
        <p:nvSpPr>
          <p:cNvPr id="118" name="AutoShape 39"/>
          <p:cNvSpPr>
            <a:spLocks noChangeArrowheads="1"/>
          </p:cNvSpPr>
          <p:nvPr/>
        </p:nvSpPr>
        <p:spPr bwMode="auto">
          <a:xfrm>
            <a:off x="5131296" y="3791051"/>
            <a:ext cx="612775" cy="3238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403" tIns="34202" rIns="68403" bIns="34202" anchor="ctr"/>
          <a:lstStyle/>
          <a:p>
            <a:pPr algn="ctr" defTabSz="95726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 err="1">
                <a:latin typeface="맑은 고딕" pitchFamily="50" charset="-127"/>
                <a:ea typeface="맑은 고딕" pitchFamily="50" charset="-127"/>
              </a:rPr>
              <a:t>D+30</a:t>
            </a:r>
            <a:endParaRPr kumimoji="0"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9" name="AutoShape 16"/>
          <p:cNvCxnSpPr>
            <a:cxnSpLocks noChangeShapeType="1"/>
            <a:stCxn id="103" idx="3"/>
            <a:endCxn id="118" idx="0"/>
          </p:cNvCxnSpPr>
          <p:nvPr/>
        </p:nvCxnSpPr>
        <p:spPr bwMode="auto">
          <a:xfrm flipH="1">
            <a:off x="5437683" y="2962376"/>
            <a:ext cx="238125" cy="828675"/>
          </a:xfrm>
          <a:prstGeom prst="bentConnector4">
            <a:avLst>
              <a:gd name="adj1" fmla="val -95847"/>
              <a:gd name="adj2" fmla="val 6294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" name="AutoShape 14"/>
          <p:cNvSpPr>
            <a:spLocks noChangeArrowheads="1"/>
          </p:cNvSpPr>
          <p:nvPr/>
        </p:nvSpPr>
        <p:spPr bwMode="auto">
          <a:xfrm>
            <a:off x="5061446" y="4397476"/>
            <a:ext cx="750887" cy="2762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 폐쇄</a:t>
            </a:r>
          </a:p>
        </p:txBody>
      </p:sp>
      <p:cxnSp>
        <p:nvCxnSpPr>
          <p:cNvPr id="121" name="AutoShape 16"/>
          <p:cNvCxnSpPr>
            <a:cxnSpLocks noChangeShapeType="1"/>
            <a:stCxn id="118" idx="2"/>
            <a:endCxn id="120" idx="0"/>
          </p:cNvCxnSpPr>
          <p:nvPr/>
        </p:nvCxnSpPr>
        <p:spPr bwMode="auto">
          <a:xfrm rot="5400000">
            <a:off x="5296395" y="4256189"/>
            <a:ext cx="282575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" name="AutoShape 22"/>
          <p:cNvSpPr>
            <a:spLocks noChangeArrowheads="1"/>
          </p:cNvSpPr>
          <p:nvPr/>
        </p:nvSpPr>
        <p:spPr bwMode="auto">
          <a:xfrm>
            <a:off x="7849096" y="2716314"/>
            <a:ext cx="1439862" cy="465137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상시 통폐합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이관 관리</a:t>
            </a:r>
          </a:p>
        </p:txBody>
      </p:sp>
      <p:sp>
        <p:nvSpPr>
          <p:cNvPr id="123" name="AutoShape 39"/>
          <p:cNvSpPr>
            <a:spLocks noChangeArrowheads="1"/>
          </p:cNvSpPr>
          <p:nvPr/>
        </p:nvSpPr>
        <p:spPr bwMode="auto">
          <a:xfrm>
            <a:off x="6199683" y="3062389"/>
            <a:ext cx="1128713" cy="53340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403" tIns="34202" rIns="68403" bIns="34202" anchor="ctr"/>
          <a:lstStyle/>
          <a:p>
            <a:pPr algn="ctr" defTabSz="957263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itchFamily="50" charset="-127"/>
                <a:ea typeface="맑은 고딕" pitchFamily="50" charset="-127"/>
              </a:rPr>
              <a:t>운영자</a:t>
            </a:r>
            <a:endParaRPr kumimoji="0"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4" name="AutoShape 14"/>
          <p:cNvSpPr>
            <a:spLocks noChangeArrowheads="1"/>
          </p:cNvSpPr>
          <p:nvPr/>
        </p:nvSpPr>
        <p:spPr bwMode="auto">
          <a:xfrm>
            <a:off x="6079033" y="3949801"/>
            <a:ext cx="1381125" cy="60325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통폐합 이관 처리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 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운영자이고</a:t>
            </a:r>
            <a:endParaRPr kumimoji="0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운영자</a:t>
            </a:r>
            <a:endParaRPr kumimoji="0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분운영자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5" name="AutoShape 16"/>
          <p:cNvCxnSpPr>
            <a:cxnSpLocks noChangeShapeType="1"/>
            <a:stCxn id="123" idx="2"/>
            <a:endCxn id="124" idx="0"/>
          </p:cNvCxnSpPr>
          <p:nvPr/>
        </p:nvCxnSpPr>
        <p:spPr bwMode="auto">
          <a:xfrm rot="16200000" flipH="1">
            <a:off x="6590209" y="3770413"/>
            <a:ext cx="354012" cy="4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6" name="AutoShape 16"/>
          <p:cNvCxnSpPr>
            <a:cxnSpLocks noChangeShapeType="1"/>
            <a:endCxn id="123" idx="0"/>
          </p:cNvCxnSpPr>
          <p:nvPr/>
        </p:nvCxnSpPr>
        <p:spPr bwMode="auto">
          <a:xfrm rot="5400000">
            <a:off x="6622751" y="2920308"/>
            <a:ext cx="284163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AutoShape 22"/>
          <p:cNvSpPr>
            <a:spLocks noChangeArrowheads="1"/>
          </p:cNvSpPr>
          <p:nvPr/>
        </p:nvSpPr>
        <p:spPr bwMode="auto">
          <a:xfrm>
            <a:off x="7849096" y="3429101"/>
            <a:ext cx="1439862" cy="46513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3" tIns="45712" rIns="91423" bIns="45712" anchor="ctr"/>
          <a:lstStyle/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팀 사이트 폐쇄  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1279525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폐쇄 승인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6937" y="175440"/>
            <a:ext cx="432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ea typeface="맑은 고딕" panose="020B0503020000020004" pitchFamily="50" charset="-127"/>
              </a:rPr>
              <a:t>부서 통폐합시 팀사이트 관리</a:t>
            </a:r>
            <a:r>
              <a:rPr lang="en-US" altLang="ko-KR" sz="1000" dirty="0"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ea typeface="맑은 고딕" panose="020B0503020000020004" pitchFamily="50" charset="-127"/>
              </a:rPr>
              <a:t>이관 프로세스</a:t>
            </a:r>
          </a:p>
        </p:txBody>
      </p:sp>
      <p:sp>
        <p:nvSpPr>
          <p:cNvPr id="128" name="TextBox 1"/>
          <p:cNvSpPr txBox="1">
            <a:spLocks noChangeArrowheads="1"/>
          </p:cNvSpPr>
          <p:nvPr/>
        </p:nvSpPr>
        <p:spPr bwMode="auto">
          <a:xfrm>
            <a:off x="256876" y="5266006"/>
            <a:ext cx="93249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1" hangingPunct="1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정리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스케쥴링이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매일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조직변경을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체크하도록 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indent="0" eaLnBrk="1" latinLnBrk="1" hangingPunct="1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체크시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새로 생성된 부서가 중간 부서라면 분류를 추가하고 마지막 부서라면 팀 사이트를 생성 후 팀원을 할당함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indent="0" eaLnBrk="1" latinLnBrk="1" hangingPunct="1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체크시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팀이 폐쇄된 경우 팀 사이트의 활동을 중지 시키고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폐쇄 예정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분류로 이동시키고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운영자에게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후 폐기됨을 알림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indent="0" eaLnBrk="1" latinLnBrk="1" hangingPunct="1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운영자는 자신이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운영중인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다른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팀사이트로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폐쇄 예고된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팀사이트의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자원을 수동으로 이관할 수 있음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관리에 이관 메뉴가 운영자에게는 활성화됨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.)</a:t>
            </a:r>
          </a:p>
          <a:p>
            <a:pPr marL="0" indent="0" eaLnBrk="1" latinLnBrk="1" hangingPunct="1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활동중지된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폐쇄 예정된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팀사이트가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이후 에도 폐쇄되지 않았다면 폐기 처리함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29" name="직사각형 128"/>
          <p:cNvSpPr/>
          <p:nvPr/>
        </p:nvSpPr>
        <p:spPr bwMode="auto">
          <a:xfrm rot="19851796">
            <a:off x="5029869" y="1744801"/>
            <a:ext cx="2307877" cy="624603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bg1"/>
                </a:solidFill>
                <a:ea typeface="맑은 고딕" panose="020B0503020000020004" pitchFamily="50" charset="-127"/>
              </a:rPr>
              <a:t>SAMPLE</a:t>
            </a:r>
          </a:p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(</a:t>
            </a:r>
            <a:r>
              <a:rPr kumimoji="1" lang="ko-KR" altLang="en-US" sz="12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가능한 프로세스 설계 요망</a:t>
            </a:r>
            <a:r>
              <a:rPr kumimoji="1" lang="en-US" altLang="ko-KR" sz="12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)</a:t>
            </a:r>
            <a:endParaRPr kumimoji="1" lang="ko-KR" altLang="en-US" sz="12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D8C441F-EF9E-4A8F-A50B-B36CA735D11C}"/>
              </a:ext>
            </a:extLst>
          </p:cNvPr>
          <p:cNvSpPr/>
          <p:nvPr/>
        </p:nvSpPr>
        <p:spPr bwMode="auto">
          <a:xfrm>
            <a:off x="8697417" y="188640"/>
            <a:ext cx="981110" cy="2250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이동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목록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093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hlinkClick r:id="rId2" action="ppaction://hlinksldjump"/>
          </p:cNvPr>
          <p:cNvSpPr txBox="1"/>
          <p:nvPr/>
        </p:nvSpPr>
        <p:spPr>
          <a:xfrm>
            <a:off x="1447478" y="393227"/>
            <a:ext cx="1710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DW_DES_PO_002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88110"/>
              </p:ext>
            </p:extLst>
          </p:nvPr>
        </p:nvGraphicFramePr>
        <p:xfrm>
          <a:off x="6660616" y="704429"/>
          <a:ext cx="2972904" cy="489204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조직도에 부서를 생성하는 화면</a:t>
                      </a: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부서로 기본 셋팅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부서코드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입력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다국어 설정 버튼을 눌러서 새창에서 입력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간략 명칭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다국어 설정으로 입력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등록되는 부서의 회사명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 한 사용자의 세션에서 회사명 가져옴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상위부서명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‘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클릭하여 입력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부서사용여부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Y: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N: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기초설정 </a:t>
                      </a:r>
                      <a:r>
                        <a:rPr lang="en-US" altLang="ko-KR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val_IsUse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해당부서의 인사연동여부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Y: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N: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기초설정 </a:t>
                      </a:r>
                      <a:r>
                        <a:rPr lang="en-US" altLang="ko-KR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val_sUse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 화면에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Display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여부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Y: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N: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표시안함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(Page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조직도에 표시되는 순서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Numeric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조직의 관리자 표시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버튼 눌러 공용조직도에서 선택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부서의 메일 주소 사용여부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Y: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N: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비사용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기초설정 </a:t>
                      </a:r>
                      <a:r>
                        <a:rPr lang="en-US" altLang="ko-KR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val_sUse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생성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후 창 닫힘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아무 작업 없이 창 닫기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⊙ 필수입력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부서코드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상위부서명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⊙ Default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  <a:endParaRPr lang="en-US" altLang="ko-KR" sz="9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ko-KR" altLang="en-US" sz="9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용여부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(Y),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인사연동 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(N),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부서표시여부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(Y),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메일사용여부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(Y)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1776" y="5877272"/>
            <a:ext cx="3105150" cy="2758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ko-KR" altLang="en-US" sz="900" dirty="0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0" y="946461"/>
            <a:ext cx="4025999" cy="4625106"/>
          </a:xfrm>
          <a:prstGeom prst="rect">
            <a:avLst/>
          </a:prstGeom>
        </p:spPr>
      </p:pic>
      <p:sp>
        <p:nvSpPr>
          <p:cNvPr id="30" name="직사각형 44"/>
          <p:cNvSpPr>
            <a:spLocks noChangeArrowheads="1"/>
          </p:cNvSpPr>
          <p:nvPr/>
        </p:nvSpPr>
        <p:spPr bwMode="auto">
          <a:xfrm>
            <a:off x="2123384" y="1556792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31" name="직사각형 44"/>
          <p:cNvSpPr>
            <a:spLocks noChangeArrowheads="1"/>
          </p:cNvSpPr>
          <p:nvPr/>
        </p:nvSpPr>
        <p:spPr bwMode="auto">
          <a:xfrm>
            <a:off x="2309668" y="1844824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32" name="직사각형 44"/>
          <p:cNvSpPr>
            <a:spLocks noChangeArrowheads="1"/>
          </p:cNvSpPr>
          <p:nvPr/>
        </p:nvSpPr>
        <p:spPr bwMode="auto">
          <a:xfrm>
            <a:off x="2543775" y="2132856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33" name="직사각형 44"/>
          <p:cNvSpPr>
            <a:spLocks noChangeArrowheads="1"/>
          </p:cNvSpPr>
          <p:nvPr/>
        </p:nvSpPr>
        <p:spPr bwMode="auto">
          <a:xfrm>
            <a:off x="2633469" y="2431882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34" name="직사각형 44"/>
          <p:cNvSpPr>
            <a:spLocks noChangeArrowheads="1"/>
          </p:cNvSpPr>
          <p:nvPr/>
        </p:nvSpPr>
        <p:spPr bwMode="auto">
          <a:xfrm>
            <a:off x="2292260" y="2636130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5</a:t>
            </a:r>
          </a:p>
        </p:txBody>
      </p:sp>
      <p:sp>
        <p:nvSpPr>
          <p:cNvPr id="35" name="직사각형 44"/>
          <p:cNvSpPr>
            <a:spLocks noChangeArrowheads="1"/>
          </p:cNvSpPr>
          <p:nvPr/>
        </p:nvSpPr>
        <p:spPr bwMode="auto">
          <a:xfrm>
            <a:off x="2780699" y="2817105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6</a:t>
            </a:r>
          </a:p>
        </p:txBody>
      </p:sp>
      <p:sp>
        <p:nvSpPr>
          <p:cNvPr id="36" name="직사각형 44"/>
          <p:cNvSpPr>
            <a:spLocks noChangeArrowheads="1"/>
          </p:cNvSpPr>
          <p:nvPr/>
        </p:nvSpPr>
        <p:spPr bwMode="auto">
          <a:xfrm>
            <a:off x="2213078" y="3066219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7</a:t>
            </a:r>
          </a:p>
        </p:txBody>
      </p:sp>
      <p:sp>
        <p:nvSpPr>
          <p:cNvPr id="37" name="직사각형 44"/>
          <p:cNvSpPr>
            <a:spLocks noChangeArrowheads="1"/>
          </p:cNvSpPr>
          <p:nvPr/>
        </p:nvSpPr>
        <p:spPr bwMode="auto">
          <a:xfrm>
            <a:off x="3883330" y="3066219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8</a:t>
            </a:r>
          </a:p>
        </p:txBody>
      </p:sp>
      <p:sp>
        <p:nvSpPr>
          <p:cNvPr id="38" name="직사각형 44"/>
          <p:cNvSpPr>
            <a:spLocks noChangeArrowheads="1"/>
          </p:cNvSpPr>
          <p:nvPr/>
        </p:nvSpPr>
        <p:spPr bwMode="auto">
          <a:xfrm>
            <a:off x="2112872" y="3412317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9</a:t>
            </a:r>
          </a:p>
        </p:txBody>
      </p:sp>
      <p:sp>
        <p:nvSpPr>
          <p:cNvPr id="39" name="직사각형 44"/>
          <p:cNvSpPr>
            <a:spLocks noChangeArrowheads="1"/>
          </p:cNvSpPr>
          <p:nvPr/>
        </p:nvSpPr>
        <p:spPr bwMode="auto">
          <a:xfrm>
            <a:off x="3973024" y="3412317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10</a:t>
            </a:r>
          </a:p>
        </p:txBody>
      </p:sp>
      <p:sp>
        <p:nvSpPr>
          <p:cNvPr id="40" name="직사각형 44"/>
          <p:cNvSpPr>
            <a:spLocks noChangeArrowheads="1"/>
          </p:cNvSpPr>
          <p:nvPr/>
        </p:nvSpPr>
        <p:spPr bwMode="auto">
          <a:xfrm>
            <a:off x="1949064" y="3667927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</a:p>
        </p:txBody>
      </p:sp>
      <p:sp>
        <p:nvSpPr>
          <p:cNvPr id="41" name="직사각형 44"/>
          <p:cNvSpPr>
            <a:spLocks noChangeArrowheads="1"/>
          </p:cNvSpPr>
          <p:nvPr/>
        </p:nvSpPr>
        <p:spPr bwMode="auto">
          <a:xfrm>
            <a:off x="3803569" y="3667927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</a:p>
        </p:txBody>
      </p:sp>
      <p:sp>
        <p:nvSpPr>
          <p:cNvPr id="42" name="직사각형 44"/>
          <p:cNvSpPr>
            <a:spLocks noChangeArrowheads="1"/>
          </p:cNvSpPr>
          <p:nvPr/>
        </p:nvSpPr>
        <p:spPr bwMode="auto">
          <a:xfrm>
            <a:off x="2261478" y="5086867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13</a:t>
            </a:r>
          </a:p>
        </p:txBody>
      </p:sp>
      <p:sp>
        <p:nvSpPr>
          <p:cNvPr id="43" name="직사각형 44"/>
          <p:cNvSpPr>
            <a:spLocks noChangeArrowheads="1"/>
          </p:cNvSpPr>
          <p:nvPr/>
        </p:nvSpPr>
        <p:spPr bwMode="auto">
          <a:xfrm>
            <a:off x="2892729" y="5109111"/>
            <a:ext cx="179388" cy="180975"/>
          </a:xfrm>
          <a:prstGeom prst="ellipse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28800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6936" y="393226"/>
            <a:ext cx="2204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ea typeface="맑은 고딕" panose="020B0503020000020004" pitchFamily="50" charset="-127"/>
              </a:rPr>
              <a:t>부서생성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76936" y="159232"/>
            <a:ext cx="1215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P-ORG-01-001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76451" y="2124075"/>
            <a:ext cx="64770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eaLnBrk="1" latinLnBrk="1" hangingPunct="1">
              <a:lnSpc>
                <a:spcPct val="150000"/>
              </a:lnSpc>
              <a:defRPr/>
            </a:pP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설명선: 선 55"/>
          <p:cNvSpPr/>
          <p:nvPr/>
        </p:nvSpPr>
        <p:spPr bwMode="auto">
          <a:xfrm>
            <a:off x="4725259" y="1481187"/>
            <a:ext cx="1523885" cy="461665"/>
          </a:xfrm>
          <a:prstGeom prst="borderCallout1">
            <a:avLst>
              <a:gd name="adj1" fmla="val 53142"/>
              <a:gd name="adj2" fmla="val -937"/>
              <a:gd name="adj3" fmla="val 149500"/>
              <a:gd name="adj4" fmla="val -51108"/>
            </a:avLst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다국어 입력 화면 팝업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(Framework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00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43275" y="2888288"/>
            <a:ext cx="385589" cy="2168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eaLnBrk="1" latinLnBrk="1" hangingPunct="1">
              <a:lnSpc>
                <a:spcPct val="150000"/>
              </a:lnSpc>
              <a:defRPr/>
            </a:pP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설명선: 선 57"/>
          <p:cNvSpPr/>
          <p:nvPr/>
        </p:nvSpPr>
        <p:spPr bwMode="auto">
          <a:xfrm>
            <a:off x="4724112" y="2272367"/>
            <a:ext cx="1525032" cy="461665"/>
          </a:xfrm>
          <a:prstGeom prst="borderCallout1">
            <a:avLst>
              <a:gd name="adj1" fmla="val 53142"/>
              <a:gd name="adj2" fmla="val -937"/>
              <a:gd name="adj3" fmla="val 135058"/>
              <a:gd name="adj4" fmla="val -69934"/>
            </a:avLst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조직도 화면 팝업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(Framework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00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설명선: 선 58"/>
          <p:cNvSpPr/>
          <p:nvPr/>
        </p:nvSpPr>
        <p:spPr bwMode="auto">
          <a:xfrm>
            <a:off x="4724112" y="4708631"/>
            <a:ext cx="1164992" cy="461665"/>
          </a:xfrm>
          <a:prstGeom prst="borderCallout1">
            <a:avLst>
              <a:gd name="adj1" fmla="val 53142"/>
              <a:gd name="adj2" fmla="val -937"/>
              <a:gd name="adj3" fmla="val -190925"/>
              <a:gd name="adj4" fmla="val -201094"/>
            </a:avLst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조직도 화면 팝업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(Framework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00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3833403" y="3227732"/>
            <a:ext cx="3141096" cy="1139220"/>
          </a:xfrm>
          <a:prstGeom prst="rect">
            <a:avLst/>
          </a:prstGeom>
          <a:solidFill>
            <a:schemeClr val="tx2">
              <a:alpha val="7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/>
                </a:solidFill>
                <a:ea typeface="맑은 고딕" panose="020B0503020000020004" pitchFamily="50" charset="-127"/>
              </a:rPr>
              <a:t>♣ </a:t>
            </a:r>
            <a:r>
              <a:rPr lang="ko-KR" altLang="en-US" sz="1200" b="1" dirty="0">
                <a:solidFill>
                  <a:schemeClr val="bg1"/>
                </a:solidFill>
                <a:ea typeface="맑은 고딕" panose="020B0503020000020004" pitchFamily="50" charset="-127"/>
              </a:rPr>
              <a:t>유의사항</a:t>
            </a:r>
            <a:r>
              <a:rPr lang="en-US" altLang="ko-KR" sz="1200" b="1" dirty="0">
                <a:solidFill>
                  <a:schemeClr val="bg1"/>
                </a:solidFill>
                <a:ea typeface="맑은 고딕" panose="020B0503020000020004" pitchFamily="50" charset="-127"/>
              </a:rPr>
              <a:t> ♣</a:t>
            </a: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필수 입력 값 명시</a:t>
            </a:r>
            <a:endParaRPr kumimoji="1" lang="en-US" altLang="ko-KR" sz="1000" b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맑은 고딕" panose="020B0503020000020004" pitchFamily="50" charset="-127"/>
            </a:endParaRP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콤보</a:t>
            </a:r>
            <a:r>
              <a:rPr kumimoji="1" lang="en-US" altLang="ko-KR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라디오</a:t>
            </a:r>
            <a:r>
              <a:rPr kumimoji="1" lang="en-US" altLang="ko-KR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체크박스 등은 </a:t>
            </a:r>
            <a:r>
              <a:rPr kumimoji="1" lang="en-US" altLang="ko-KR" sz="1000" b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name&amp;value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명시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. Source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표시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. Default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선택 값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표시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 </a:t>
            </a:r>
            <a:endParaRPr kumimoji="1" lang="en-US" altLang="ko-KR" sz="1000" b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맑은 고딕" panose="020B0503020000020004" pitchFamily="50" charset="-127"/>
            </a:endParaRP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ko-KR" altLang="en-US" sz="1000" b="1" dirty="0">
                <a:solidFill>
                  <a:schemeClr val="bg1"/>
                </a:solidFill>
                <a:ea typeface="맑은 고딕" panose="020B0503020000020004" pitchFamily="50" charset="-127"/>
              </a:rPr>
              <a:t>제약사항 반드시 표시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D86B3EC-979F-4C26-836B-86D3DEE16938}"/>
              </a:ext>
            </a:extLst>
          </p:cNvPr>
          <p:cNvSpPr/>
          <p:nvPr/>
        </p:nvSpPr>
        <p:spPr bwMode="auto">
          <a:xfrm>
            <a:off x="5592266" y="188640"/>
            <a:ext cx="981110" cy="2250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이동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목록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956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6581776" y="5085184"/>
            <a:ext cx="3105150" cy="10679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900" dirty="0">
                <a:ea typeface="맑은 고딕" panose="020B0503020000020004" pitchFamily="50" charset="-127"/>
              </a:rPr>
              <a:t>▣ </a:t>
            </a:r>
            <a:r>
              <a:rPr lang="ko-KR" altLang="en-US" sz="900" dirty="0">
                <a:ea typeface="맑은 고딕" panose="020B0503020000020004" pitchFamily="50" charset="-127"/>
              </a:rPr>
              <a:t>프로시저</a:t>
            </a:r>
            <a:endParaRPr lang="en-US" altLang="ko-KR" sz="900" dirty="0">
              <a:ea typeface="맑은 고딕" panose="020B0503020000020004" pitchFamily="50" charset="-127"/>
            </a:endParaRPr>
          </a:p>
          <a:p>
            <a:r>
              <a:rPr lang="en-US" altLang="ko-KR" sz="900" dirty="0">
                <a:ea typeface="맑은 고딕" panose="020B0503020000020004" pitchFamily="50" charset="-127"/>
              </a:rPr>
              <a:t>  - SP_COM_CREATE : </a:t>
            </a:r>
            <a:r>
              <a:rPr lang="ko-KR" altLang="en-US" sz="900" dirty="0">
                <a:ea typeface="맑은 고딕" panose="020B0503020000020004" pitchFamily="50" charset="-127"/>
              </a:rPr>
              <a:t>커뮤니티 생성</a:t>
            </a:r>
            <a:endParaRPr lang="en-US" altLang="ko-KR" sz="900" dirty="0">
              <a:ea typeface="맑은 고딕" panose="020B0503020000020004" pitchFamily="50" charset="-127"/>
            </a:endParaRPr>
          </a:p>
          <a:p>
            <a:r>
              <a:rPr lang="en-US" altLang="ko-KR" sz="900" dirty="0">
                <a:ea typeface="맑은 고딕" panose="020B0503020000020004" pitchFamily="50" charset="-127"/>
              </a:rPr>
              <a:t>  - SP_COM_CREATE_ID : </a:t>
            </a:r>
            <a:r>
              <a:rPr lang="ko-KR" altLang="en-US" sz="900" dirty="0">
                <a:ea typeface="맑은 고딕" panose="020B0503020000020004" pitchFamily="50" charset="-127"/>
              </a:rPr>
              <a:t>커뮤니티 아이디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7478" y="393227"/>
            <a:ext cx="1710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DW_DES_PO_003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6936" y="393226"/>
            <a:ext cx="2204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Cop(</a:t>
            </a:r>
            <a:r>
              <a:rPr lang="ko-KR" altLang="en-US" sz="1000" dirty="0">
                <a:ea typeface="맑은 고딕" panose="020B0503020000020004" pitchFamily="50" charset="-127"/>
              </a:rPr>
              <a:t>학습조직</a:t>
            </a:r>
            <a:r>
              <a:rPr lang="en-US" altLang="ko-KR" sz="1000" dirty="0"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ea typeface="맑은 고딕" panose="020B0503020000020004" pitchFamily="50" charset="-127"/>
              </a:rPr>
              <a:t>개설 신청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6936" y="159232"/>
            <a:ext cx="1215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P-ORG-01-002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graphicFrame>
        <p:nvGraphicFramePr>
          <p:cNvPr id="90" name="표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21631"/>
              </p:ext>
            </p:extLst>
          </p:nvPr>
        </p:nvGraphicFramePr>
        <p:xfrm>
          <a:off x="6660616" y="704429"/>
          <a:ext cx="2972904" cy="3803904"/>
        </p:xfrm>
        <a:graphic>
          <a:graphicData uri="http://schemas.openxmlformats.org/drawingml/2006/table">
            <a:tbl>
              <a:tblPr/>
              <a:tblGrid>
                <a:gridCol w="302159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670745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CoP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생성하는 화면</a:t>
                      </a: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 만들기로 이동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 개설 신청 양식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#2-1: 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커뮤니티아이디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#2-2: G-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그룹사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C-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기본은 그룹사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#2-3: PB-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공개형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PR-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비공개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SE-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비밀형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비밀형은 커뮤니티 목록에서 조회 안 됨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공개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#2-4: AC-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관리자승인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,AU: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바로가입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기본은 운영자 승인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소스코딩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Cop(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학습조직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개설 신청 영역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#3-1 :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개설 신청양식을 다운로드 할 수 있음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템플릿은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Page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#3-2 :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작성한 개설 신청서를 첨부할 수 있음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작성한 개설 신청서를 등록함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개설 신청서 작성을 취소함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 분류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기초코드의 </a:t>
                      </a:r>
                      <a:r>
                        <a:rPr lang="en-US" altLang="ko-KR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C_Community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가져와서 셋팅</a:t>
                      </a: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0648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⊙ 필수입력 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커뮤니티이름</a:t>
                      </a:r>
                      <a:r>
                        <a:rPr lang="en-US" altLang="ko-KR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 분류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⊙ </a:t>
                      </a:r>
                      <a:r>
                        <a:rPr lang="ko-KR" altLang="en-US" sz="9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커뮤니티아이디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자동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lang="ko-KR" altLang="en-US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형식 </a:t>
                      </a:r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COMM_</a:t>
                      </a:r>
                      <a:r>
                        <a:rPr lang="ko-KR" altLang="en-US" sz="9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년월일시간분</a:t>
                      </a:r>
                      <a:endParaRPr lang="en-US" altLang="ko-KR" sz="9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(ex : COMM_201712211323)</a:t>
                      </a: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E7CEB76-781D-4492-874F-8AEC2E2EC435}"/>
              </a:ext>
            </a:extLst>
          </p:cNvPr>
          <p:cNvGrpSpPr/>
          <p:nvPr/>
        </p:nvGrpSpPr>
        <p:grpSpPr>
          <a:xfrm>
            <a:off x="312738" y="738188"/>
            <a:ext cx="6124043" cy="5195886"/>
            <a:chOff x="312738" y="738188"/>
            <a:chExt cx="6124043" cy="5195886"/>
          </a:xfrm>
        </p:grpSpPr>
        <p:cxnSp>
          <p:nvCxnSpPr>
            <p:cNvPr id="50" name="직선 연결선 207"/>
            <p:cNvCxnSpPr>
              <a:cxnSpLocks noChangeShapeType="1"/>
            </p:cNvCxnSpPr>
            <p:nvPr/>
          </p:nvCxnSpPr>
          <p:spPr bwMode="auto">
            <a:xfrm>
              <a:off x="312738" y="738188"/>
              <a:ext cx="6028052" cy="0"/>
            </a:xfrm>
            <a:prstGeom prst="line">
              <a:avLst/>
            </a:prstGeom>
            <a:noFill/>
            <a:ln w="63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51" name="그림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738" y="864263"/>
              <a:ext cx="6124043" cy="187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076" y="1604263"/>
              <a:ext cx="1279098" cy="16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" name="그림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6838" y="2829775"/>
              <a:ext cx="4274407" cy="1834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" name="직사각형 68"/>
            <p:cNvSpPr/>
            <p:nvPr/>
          </p:nvSpPr>
          <p:spPr>
            <a:xfrm>
              <a:off x="1477963" y="4191697"/>
              <a:ext cx="4873102" cy="47237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1462089" y="2970234"/>
              <a:ext cx="4888180" cy="104137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pic>
          <p:nvPicPr>
            <p:cNvPr id="71" name="그림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8500" y="5455561"/>
              <a:ext cx="1159474" cy="478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직사각형 11"/>
            <p:cNvSpPr>
              <a:spLocks noChangeArrowheads="1"/>
            </p:cNvSpPr>
            <p:nvPr/>
          </p:nvSpPr>
          <p:spPr bwMode="auto">
            <a:xfrm>
              <a:off x="1366838" y="4753378"/>
              <a:ext cx="27976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ㅁ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개설 신청서 첨부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u="sng" dirty="0">
                  <a:solidFill>
                    <a:srgbClr val="0070C0"/>
                  </a:solidFill>
                  <a:latin typeface="맑은 고딕" pitchFamily="50" charset="-127"/>
                  <a:ea typeface="맑은 고딕" pitchFamily="50" charset="-127"/>
                </a:rPr>
                <a:t>양식 템플릿 다운로드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/>
            </a:p>
          </p:txBody>
        </p:sp>
        <p:pic>
          <p:nvPicPr>
            <p:cNvPr id="73" name="그림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313" y="4999386"/>
              <a:ext cx="1843501" cy="236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직사각형 73"/>
            <p:cNvSpPr/>
            <p:nvPr/>
          </p:nvSpPr>
          <p:spPr>
            <a:xfrm>
              <a:off x="2155826" y="1211287"/>
              <a:ext cx="4098110" cy="22698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 err="1">
                  <a:solidFill>
                    <a:schemeClr val="bg1">
                      <a:lumMod val="50000"/>
                    </a:schemeClr>
                  </a:solidFill>
                </a:rPr>
                <a:t>자동생성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5" name="직사각형 44"/>
            <p:cNvSpPr>
              <a:spLocks noChangeArrowheads="1"/>
            </p:cNvSpPr>
            <p:nvPr/>
          </p:nvSpPr>
          <p:spPr bwMode="auto">
            <a:xfrm>
              <a:off x="1187450" y="1082459"/>
              <a:ext cx="170378" cy="174841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28800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8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  <p:sp>
          <p:nvSpPr>
            <p:cNvPr id="76" name="직사각형 44"/>
            <p:cNvSpPr>
              <a:spLocks noChangeArrowheads="1"/>
            </p:cNvSpPr>
            <p:nvPr/>
          </p:nvSpPr>
          <p:spPr bwMode="auto">
            <a:xfrm>
              <a:off x="2101850" y="826818"/>
              <a:ext cx="170378" cy="173307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28800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8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</a:p>
          </p:txBody>
        </p:sp>
        <p:sp>
          <p:nvSpPr>
            <p:cNvPr id="77" name="직사각형 44"/>
            <p:cNvSpPr>
              <a:spLocks noChangeArrowheads="1"/>
            </p:cNvSpPr>
            <p:nvPr/>
          </p:nvSpPr>
          <p:spPr bwMode="auto">
            <a:xfrm>
              <a:off x="1462088" y="4682855"/>
              <a:ext cx="170377" cy="17330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28800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8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  <p:pic>
          <p:nvPicPr>
            <p:cNvPr id="78" name="그림 1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4950" y="2308276"/>
              <a:ext cx="4133311" cy="453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직사각형 44"/>
            <p:cNvSpPr>
              <a:spLocks noChangeArrowheads="1"/>
            </p:cNvSpPr>
            <p:nvPr/>
          </p:nvSpPr>
          <p:spPr bwMode="auto">
            <a:xfrm>
              <a:off x="3548063" y="5749655"/>
              <a:ext cx="170377" cy="17330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28800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8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</a:p>
          </p:txBody>
        </p:sp>
        <p:sp>
          <p:nvSpPr>
            <p:cNvPr id="80" name="직사각형 44"/>
            <p:cNvSpPr>
              <a:spLocks noChangeArrowheads="1"/>
            </p:cNvSpPr>
            <p:nvPr/>
          </p:nvSpPr>
          <p:spPr bwMode="auto">
            <a:xfrm>
              <a:off x="3994150" y="5749655"/>
              <a:ext cx="170378" cy="173308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28800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800" b="1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5</a:t>
              </a:r>
            </a:p>
          </p:txBody>
        </p:sp>
        <p:sp>
          <p:nvSpPr>
            <p:cNvPr id="81" name="직사각형 280"/>
            <p:cNvSpPr>
              <a:spLocks noChangeArrowheads="1"/>
            </p:cNvSpPr>
            <p:nvPr/>
          </p:nvSpPr>
          <p:spPr bwMode="auto">
            <a:xfrm>
              <a:off x="1377950" y="981074"/>
              <a:ext cx="5013325" cy="4932363"/>
            </a:xfrm>
            <a:prstGeom prst="rect">
              <a:avLst/>
            </a:prstGeom>
            <a:noFill/>
            <a:ln w="63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endParaRPr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TextBox 273"/>
            <p:cNvSpPr txBox="1">
              <a:spLocks noChangeArrowheads="1"/>
            </p:cNvSpPr>
            <p:nvPr/>
          </p:nvSpPr>
          <p:spPr bwMode="auto">
            <a:xfrm>
              <a:off x="2192338" y="1238679"/>
              <a:ext cx="456405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7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#2-1</a:t>
              </a:r>
              <a:endParaRPr lang="ko-KR" altLang="en-US" sz="7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TextBox 273"/>
            <p:cNvSpPr txBox="1">
              <a:spLocks noChangeArrowheads="1"/>
            </p:cNvSpPr>
            <p:nvPr/>
          </p:nvSpPr>
          <p:spPr bwMode="auto">
            <a:xfrm>
              <a:off x="2597150" y="1578404"/>
              <a:ext cx="504295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70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#2-2</a:t>
              </a:r>
              <a:endParaRPr lang="ko-KR" altLang="en-US" sz="7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TextBox 273"/>
            <p:cNvSpPr txBox="1">
              <a:spLocks noChangeArrowheads="1"/>
            </p:cNvSpPr>
            <p:nvPr/>
          </p:nvSpPr>
          <p:spPr bwMode="auto">
            <a:xfrm>
              <a:off x="2141539" y="2375329"/>
              <a:ext cx="507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7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#2-3</a:t>
              </a:r>
              <a:endParaRPr lang="ko-KR" altLang="en-US" sz="7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TextBox 273"/>
            <p:cNvSpPr txBox="1">
              <a:spLocks noChangeArrowheads="1"/>
            </p:cNvSpPr>
            <p:nvPr/>
          </p:nvSpPr>
          <p:spPr bwMode="auto">
            <a:xfrm>
              <a:off x="2824164" y="4661329"/>
              <a:ext cx="63065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7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#3-1</a:t>
              </a:r>
              <a:endParaRPr lang="ko-KR" altLang="en-US" sz="7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TextBox 273"/>
            <p:cNvSpPr txBox="1">
              <a:spLocks noChangeArrowheads="1"/>
            </p:cNvSpPr>
            <p:nvPr/>
          </p:nvSpPr>
          <p:spPr bwMode="auto">
            <a:xfrm>
              <a:off x="3406775" y="5040742"/>
              <a:ext cx="587375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7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#3-2</a:t>
              </a:r>
              <a:endParaRPr lang="ko-KR" altLang="en-US" sz="7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TextBox 273"/>
            <p:cNvSpPr txBox="1">
              <a:spLocks noChangeArrowheads="1"/>
            </p:cNvSpPr>
            <p:nvPr/>
          </p:nvSpPr>
          <p:spPr bwMode="auto">
            <a:xfrm>
              <a:off x="2141539" y="2681717"/>
              <a:ext cx="507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7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#2-4</a:t>
              </a:r>
              <a:endParaRPr lang="ko-KR" altLang="en-US" sz="7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1" name="직사각형 44"/>
            <p:cNvSpPr>
              <a:spLocks noChangeArrowheads="1"/>
            </p:cNvSpPr>
            <p:nvPr/>
          </p:nvSpPr>
          <p:spPr bwMode="auto">
            <a:xfrm>
              <a:off x="2769925" y="1778459"/>
              <a:ext cx="170378" cy="174841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28800" anchor="ctr"/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800" b="1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6</a:t>
              </a:r>
            </a:p>
          </p:txBody>
        </p:sp>
      </p:grpSp>
      <p:sp>
        <p:nvSpPr>
          <p:cNvPr id="94" name="직사각형 93"/>
          <p:cNvSpPr/>
          <p:nvPr/>
        </p:nvSpPr>
        <p:spPr bwMode="auto">
          <a:xfrm>
            <a:off x="3440680" y="2681717"/>
            <a:ext cx="3141096" cy="1274004"/>
          </a:xfrm>
          <a:prstGeom prst="rect">
            <a:avLst/>
          </a:prstGeom>
          <a:solidFill>
            <a:schemeClr val="tx2">
              <a:alpha val="7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/>
                </a:solidFill>
                <a:ea typeface="맑은 고딕" panose="020B0503020000020004" pitchFamily="50" charset="-127"/>
              </a:rPr>
              <a:t>♣ </a:t>
            </a:r>
            <a:r>
              <a:rPr lang="ko-KR" altLang="en-US" sz="1200" b="1" dirty="0">
                <a:solidFill>
                  <a:schemeClr val="bg1"/>
                </a:solidFill>
                <a:ea typeface="맑은 고딕" panose="020B0503020000020004" pitchFamily="50" charset="-127"/>
              </a:rPr>
              <a:t>유의사항</a:t>
            </a:r>
            <a:r>
              <a:rPr lang="en-US" altLang="ko-KR" sz="1200" b="1" dirty="0">
                <a:solidFill>
                  <a:schemeClr val="bg1"/>
                </a:solidFill>
                <a:ea typeface="맑은 고딕" panose="020B0503020000020004" pitchFamily="50" charset="-127"/>
              </a:rPr>
              <a:t> ♣</a:t>
            </a: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필수 입력 값 명시</a:t>
            </a:r>
            <a:endParaRPr kumimoji="1" lang="en-US" altLang="ko-KR" sz="1000" b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맑은 고딕" panose="020B0503020000020004" pitchFamily="50" charset="-127"/>
            </a:endParaRP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콤보</a:t>
            </a:r>
            <a:r>
              <a:rPr kumimoji="1" lang="en-US" altLang="ko-KR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라디오</a:t>
            </a:r>
            <a:r>
              <a:rPr kumimoji="1" lang="en-US" altLang="ko-KR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체크박스 등은 </a:t>
            </a:r>
            <a:r>
              <a:rPr kumimoji="1" lang="en-US" altLang="ko-KR" sz="1000" b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name&amp;value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명시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. Source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표시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. Default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선택 값</a:t>
            </a:r>
            <a:r>
              <a:rPr kumimoji="1" lang="en-US" altLang="ko-KR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kumimoji="1" lang="ko-KR" altLang="en-US" sz="1000" b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표시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 </a:t>
            </a:r>
            <a:endParaRPr kumimoji="1" lang="en-US" altLang="ko-KR" sz="1000" b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맑은 고딕" panose="020B0503020000020004" pitchFamily="50" charset="-127"/>
            </a:endParaRP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ko-KR" altLang="en-US" sz="1000" b="1" dirty="0">
                <a:solidFill>
                  <a:schemeClr val="bg1"/>
                </a:solidFill>
                <a:ea typeface="맑은 고딕" panose="020B0503020000020004" pitchFamily="50" charset="-127"/>
              </a:rPr>
              <a:t>제약사항 반드시 표시</a:t>
            </a:r>
            <a:endParaRPr lang="en-US" altLang="ko-KR" sz="10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  <a:p>
            <a:pPr marL="171450" marR="0" indent="-171450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테이블</a:t>
            </a:r>
            <a:r>
              <a:rPr kumimoji="1" lang="en-US" altLang="ko-KR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/View/SP </a:t>
            </a:r>
            <a:r>
              <a:rPr kumimoji="1" lang="ko-KR" altLang="en-US" sz="1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맑은 고딕" panose="020B0503020000020004" pitchFamily="50" charset="-127"/>
              </a:rPr>
              <a:t>표시는 필수는 아님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038F7B0-36FF-4E09-95CB-5CC6146FD02F}"/>
              </a:ext>
            </a:extLst>
          </p:cNvPr>
          <p:cNvSpPr/>
          <p:nvPr/>
        </p:nvSpPr>
        <p:spPr bwMode="auto">
          <a:xfrm>
            <a:off x="5592266" y="188640"/>
            <a:ext cx="981110" cy="2250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이동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목록</a:t>
            </a: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573673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디자인 사용자 지정">
      <a:majorFont>
        <a:latin typeface="나눔고딕"/>
        <a:ea typeface="나눔고딕"/>
        <a:cs typeface="굴림"/>
      </a:majorFont>
      <a:minorFont>
        <a:latin typeface="나눔고딕"/>
        <a:ea typeface="나눔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C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나눔고딕" pitchFamily="50" charset="-127"/>
            <a:ea typeface="나눔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나눔고딕" pitchFamily="50" charset="-127"/>
            <a:ea typeface="나눔고딕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_xbb38__xc11c__xc124__xba85_ xmlns="2aae6fcb-43e3-4396-89be-baa0995eb0b9">포탈 UI 설계서</_xbb38__xc11c__xc124__xba85_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C0F584-A722-4840-A616-9AC05F1E7CDF}">
  <ds:schemaRefs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aae6fcb-43e3-4396-89be-baa0995eb0b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618E6D8-3BBC-4A9B-975D-D6E409661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A953BB-DA1D-4820-9803-BA078D4239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14972</TotalTime>
  <Words>1022</Words>
  <Application>Microsoft Office PowerPoint</Application>
  <PresentationFormat>A4 용지(210x297mm)</PresentationFormat>
  <Paragraphs>257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8" baseType="lpstr">
      <vt:lpstr>Yoon 윤고딕 540_TT</vt:lpstr>
      <vt:lpstr>굴림</vt:lpstr>
      <vt:lpstr>나눔고딕</vt:lpstr>
      <vt:lpstr>나눔고딕 Bold</vt:lpstr>
      <vt:lpstr>맑은 고딕</vt:lpstr>
      <vt:lpstr>Arial</vt:lpstr>
      <vt:lpstr>Arial Black</vt:lpstr>
      <vt:lpstr>Calibri</vt:lpstr>
      <vt:lpstr>Tahoma</vt:lpstr>
      <vt:lpstr>Times New Roman</vt:lpstr>
      <vt:lpstr>Wingdings</vt:lpstr>
      <vt:lpstr>2_디자인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CoviSmart²-DES_UI 설계서_Ver.1.0 -  포탈</dc:title>
  <dc:creator>Heebum Shin</dc:creator>
  <cp:lastModifiedBy>강희은</cp:lastModifiedBy>
  <cp:revision>845</cp:revision>
  <cp:lastPrinted>2012-07-09T13:34:08Z</cp:lastPrinted>
  <dcterms:created xsi:type="dcterms:W3CDTF">2011-03-14T11:54:00Z</dcterms:created>
  <dcterms:modified xsi:type="dcterms:W3CDTF">2026-02-27T05:50:57Z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0x0101003B7EE8C989F4014D8F473F11EA235336</vt:lpwstr>
  </property>
</Properties>
</file>