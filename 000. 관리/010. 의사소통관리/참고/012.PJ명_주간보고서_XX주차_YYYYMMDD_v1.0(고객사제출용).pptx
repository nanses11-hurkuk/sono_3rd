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27" r:id="rId4"/>
  </p:sldMasterIdLst>
  <p:notesMasterIdLst>
    <p:notesMasterId r:id="rId10"/>
  </p:notesMasterIdLst>
  <p:sldIdLst>
    <p:sldId id="1173" r:id="rId5"/>
    <p:sldId id="1165" r:id="rId6"/>
    <p:sldId id="1172" r:id="rId7"/>
    <p:sldId id="1170" r:id="rId8"/>
    <p:sldId id="1169" r:id="rId9"/>
  </p:sldIdLst>
  <p:sldSz cx="9906000" cy="6858000" type="A4"/>
  <p:notesSz cx="6797675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orient="horz" pos="3913">
          <p15:clr>
            <a:srgbClr val="A4A3A4"/>
          </p15:clr>
        </p15:guide>
        <p15:guide id="3" orient="horz" pos="935">
          <p15:clr>
            <a:srgbClr val="A4A3A4"/>
          </p15:clr>
        </p15:guide>
        <p15:guide id="4" orient="horz" pos="1298">
          <p15:clr>
            <a:srgbClr val="A4A3A4"/>
          </p15:clr>
        </p15:guide>
        <p15:guide id="5" pos="1396">
          <p15:clr>
            <a:srgbClr val="A4A3A4"/>
          </p15:clr>
        </p15:guide>
        <p15:guide id="6" pos="6050">
          <p15:clr>
            <a:srgbClr val="A4A3A4"/>
          </p15:clr>
        </p15:guide>
        <p15:guide id="7" pos="3256">
          <p15:clr>
            <a:srgbClr val="A4A3A4"/>
          </p15:clr>
        </p15:guide>
        <p15:guide id="8" pos="5660">
          <p15:clr>
            <a:srgbClr val="A4A3A4"/>
          </p15:clr>
        </p15:guide>
        <p15:guide id="9" pos="294">
          <p15:clr>
            <a:srgbClr val="A4A3A4"/>
          </p15:clr>
        </p15:guide>
        <p15:guide id="10" pos="2592">
          <p15:clr>
            <a:srgbClr val="A4A3A4"/>
          </p15:clr>
        </p15:guide>
        <p15:guide id="11" pos="2213">
          <p15:clr>
            <a:srgbClr val="A4A3A4"/>
          </p15:clr>
        </p15:guide>
        <p15:guide id="1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015AB"/>
    <a:srgbClr val="CCFFFF"/>
    <a:srgbClr val="CC6600"/>
    <a:srgbClr val="FFFFCC"/>
    <a:srgbClr val="006600"/>
    <a:srgbClr val="0033CC"/>
    <a:srgbClr val="FFFF6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7153" autoAdjust="0"/>
  </p:normalViewPr>
  <p:slideViewPr>
    <p:cSldViewPr>
      <p:cViewPr varScale="1">
        <p:scale>
          <a:sx n="144" d="100"/>
          <a:sy n="144" d="100"/>
        </p:scale>
        <p:origin x="276" y="63"/>
      </p:cViewPr>
      <p:guideLst>
        <p:guide orient="horz" pos="2024"/>
        <p:guide orient="horz" pos="3913"/>
        <p:guide orient="horz" pos="935"/>
        <p:guide orient="horz" pos="1298"/>
        <p:guide pos="1396"/>
        <p:guide pos="6050"/>
        <p:guide pos="3256"/>
        <p:guide pos="5660"/>
        <p:guide pos="294"/>
        <p:guide pos="2592"/>
        <p:guide pos="221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954" y="114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A73300D-5B9A-45AC-974E-53BC63277CBF}" type="datetimeFigureOut">
              <a:rPr lang="ko-KR" altLang="en-US"/>
              <a:pPr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3900" y="739775"/>
            <a:ext cx="534987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3AE3A51-D08A-4CF9-B39F-D25D59DC50C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8107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167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20B619-623E-40C4-A9B0-53227236F526}" type="slidenum">
              <a:rPr lang="ko-KR" altLang="en-US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334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Line 13"/>
          <p:cNvSpPr>
            <a:spLocks noChangeShapeType="1"/>
          </p:cNvSpPr>
          <p:nvPr userDrawn="1"/>
        </p:nvSpPr>
        <p:spPr bwMode="auto">
          <a:xfrm>
            <a:off x="247650" y="742950"/>
            <a:ext cx="9390063" cy="0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헤더 메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84163" y="800100"/>
            <a:ext cx="9421812" cy="684000"/>
          </a:xfrm>
          <a:prstGeom prst="rect">
            <a:avLst/>
          </a:prstGeom>
        </p:spPr>
        <p:txBody>
          <a:bodyPr/>
          <a:lstStyle>
            <a:lvl1pPr marL="0" indent="0" eaLnBrk="1" latinLnBrk="0" hangingPunct="1"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Line 13"/>
          <p:cNvSpPr>
            <a:spLocks noChangeShapeType="1"/>
          </p:cNvSpPr>
          <p:nvPr userDrawn="1"/>
        </p:nvSpPr>
        <p:spPr bwMode="auto">
          <a:xfrm>
            <a:off x="247650" y="742950"/>
            <a:ext cx="9390063" cy="0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헤더 메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84163" y="800100"/>
            <a:ext cx="9421812" cy="684000"/>
          </a:xfrm>
          <a:prstGeom prst="rect">
            <a:avLst/>
          </a:prstGeom>
        </p:spPr>
        <p:txBody>
          <a:bodyPr/>
          <a:lstStyle>
            <a:lvl1pPr marL="0" indent="0" eaLnBrk="1" latinLnBrk="0" hangingPunct="1"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5" name="Line 13"/>
          <p:cNvSpPr>
            <a:spLocks noChangeShapeType="1"/>
          </p:cNvSpPr>
          <p:nvPr userDrawn="1"/>
        </p:nvSpPr>
        <p:spPr bwMode="auto">
          <a:xfrm>
            <a:off x="247650" y="742950"/>
            <a:ext cx="9390063" cy="0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3"/>
          <p:cNvSpPr>
            <a:spLocks noChangeShapeType="1"/>
          </p:cNvSpPr>
          <p:nvPr userDrawn="1"/>
        </p:nvSpPr>
        <p:spPr bwMode="auto">
          <a:xfrm>
            <a:off x="247650" y="742950"/>
            <a:ext cx="9390063" cy="0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바닥라인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6309320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6400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제목 개체 틀 4"/>
          <p:cNvSpPr>
            <a:spLocks noGrp="1"/>
          </p:cNvSpPr>
          <p:nvPr>
            <p:ph type="title"/>
          </p:nvPr>
        </p:nvSpPr>
        <p:spPr bwMode="auto">
          <a:xfrm>
            <a:off x="284163" y="17463"/>
            <a:ext cx="790892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8" name="직사각형 3"/>
          <p:cNvSpPr>
            <a:spLocks noChangeArrowheads="1"/>
          </p:cNvSpPr>
          <p:nvPr/>
        </p:nvSpPr>
        <p:spPr bwMode="auto">
          <a:xfrm>
            <a:off x="4670425" y="6618288"/>
            <a:ext cx="542925" cy="1381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1">
            <a:spAutoFit/>
          </a:bodyPr>
          <a:lstStyle/>
          <a:p>
            <a:pPr algn="ctr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-</a:t>
            </a:r>
            <a:fld id="{5B2A2FE4-E973-443C-8290-591985FD271C}" type="slidenum">
              <a:rPr lang="en-US" altLang="ko-KR" sz="90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pPr algn="ctr">
                <a:defRPr/>
              </a:pPr>
              <a:t>‹#›</a:t>
            </a:fld>
            <a:r>
              <a:rPr lang="en-US" altLang="ko-KR" sz="9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-</a:t>
            </a: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4" y="6450919"/>
            <a:ext cx="1204683" cy="216000"/>
          </a:xfrm>
          <a:prstGeom prst="rect">
            <a:avLst/>
          </a:prstGeom>
        </p:spPr>
      </p:pic>
      <p:pic>
        <p:nvPicPr>
          <p:cNvPr id="11" name="그림 10" descr="바닥라인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" y="6309320"/>
            <a:ext cx="9883028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2AD42A-CE62-48D6-9626-DD5092F9910F}"/>
              </a:ext>
            </a:extLst>
          </p:cNvPr>
          <p:cNvPicPr/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432" y="6527606"/>
            <a:ext cx="949325" cy="1536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14" r:id="rId1"/>
    <p:sldLayoutId id="2147485215" r:id="rId2"/>
    <p:sldLayoutId id="2147485218" r:id="rId3"/>
    <p:sldLayoutId id="2147485219" r:id="rId4"/>
    <p:sldLayoutId id="2147485220" r:id="rId5"/>
    <p:sldLayoutId id="2147485227" r:id="rId6"/>
    <p:sldLayoutId id="2147485228" r:id="rId7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맑은 고딕" pitchFamily="50" charset="-127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맑은 고딕" pitchFamily="50" charset="-127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맑은 고딕" pitchFamily="50" charset="-127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맑은 고딕" pitchFamily="50" charset="-127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908050" y="1747642"/>
            <a:ext cx="8148638" cy="706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18000" bIns="18000" anchor="ctr"/>
          <a:lstStyle/>
          <a:p>
            <a:pPr algn="ctr" latinLnBrk="0">
              <a:defRPr/>
            </a:pP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kumimoji="0" lang="ko-KR" altLang="en-US" sz="2800" b="1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프로젝트명</a:t>
            </a: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 </a:t>
            </a:r>
            <a:r>
              <a:rPr kumimoji="0" lang="ko-KR" altLang="en-US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구축 </a:t>
            </a:r>
            <a:r>
              <a:rPr kumimoji="0" lang="ko-KR" altLang="en-US" sz="2800" b="1" kern="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주간보고</a:t>
            </a:r>
            <a:endParaRPr kumimoji="0" lang="ko-KR" altLang="en-US" sz="2800" b="1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defRPr/>
            </a:pP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Weekly Report (1 </a:t>
            </a:r>
            <a:r>
              <a:rPr kumimoji="0" lang="ko-KR" altLang="en-US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주차</a:t>
            </a:r>
            <a:r>
              <a:rPr kumimoji="0" lang="en-US" altLang="ko-KR" sz="28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9" name="Line 23"/>
          <p:cNvSpPr>
            <a:spLocks noChangeShapeType="1"/>
          </p:cNvSpPr>
          <p:nvPr/>
        </p:nvSpPr>
        <p:spPr bwMode="auto">
          <a:xfrm flipV="1">
            <a:off x="924404" y="2604898"/>
            <a:ext cx="8172000" cy="9525"/>
          </a:xfrm>
          <a:prstGeom prst="lin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69" y="260648"/>
            <a:ext cx="1230269" cy="7081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11941" y="5467871"/>
            <a:ext cx="18821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YYYY.MM.DD</a:t>
            </a:r>
          </a:p>
          <a:p>
            <a:pPr algn="ctr"/>
            <a:endParaRPr lang="en-US" altLang="ko-KR" sz="1400" dirty="0"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그룹웨어 구축 </a:t>
            </a:r>
            <a:r>
              <a:rPr lang="en-US" altLang="ko-KR" sz="1600" dirty="0">
                <a:latin typeface="+mn-ea"/>
                <a:ea typeface="+mn-ea"/>
              </a:rPr>
              <a:t>TFT</a:t>
            </a:r>
            <a:endParaRPr lang="ko-KR" altLang="en-US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7915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 bwMode="gray">
          <a:xfrm>
            <a:off x="0" y="17463"/>
            <a:ext cx="8193088" cy="655637"/>
          </a:xfrm>
        </p:spPr>
        <p:txBody>
          <a:bodyPr rtlCol="0">
            <a:normAutofit/>
          </a:bodyPr>
          <a:lstStyle/>
          <a:p>
            <a:pPr marL="176213" eaLnBrk="1" hangingPunct="1"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주요 일정</a:t>
            </a:r>
            <a:endParaRPr lang="ko-KR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" name="Group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231935"/>
              </p:ext>
            </p:extLst>
          </p:nvPr>
        </p:nvGraphicFramePr>
        <p:xfrm>
          <a:off x="200025" y="908721"/>
          <a:ext cx="9505950" cy="5087306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1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01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01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kumimoji="1" lang="ko-KR" altLang="ko-KR" sz="1100" b="1" i="0" u="none" strike="noStrike" cap="none" normalizeH="0" baseline="0" noProof="1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화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수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목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금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토</a:t>
                      </a: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주차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4/04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4/05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4/06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4/07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4/08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4/09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22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업무개시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마일스톤점검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업무환경설정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개발환경구성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프레임웍점검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포비스접속환경구성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공용폴더구성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하드웨서구성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하드웨어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구성환료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기본프레임웍환경구성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메뉴구성도 작성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포비스학습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프로그램현황파악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소스설치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컴포넌트 설치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주간보고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주차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4/11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4/12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4/13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4/14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4/15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4/16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포비스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소스코드 분석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서버설치 계속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WBS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Prototype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준비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코드분석 계속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국회의원 선거일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Prototype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준비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사업수행계획서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착수보고준비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주간보고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사업수행계획서리뷰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주차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4/18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4/19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4/20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4/21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4/22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4/23</a:t>
                      </a:r>
                      <a:endParaRPr kumimoji="1" lang="en-US" altLang="ko-KR" sz="11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486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착수보고서리뷰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착수보고회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킥오프미팅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저녁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고객 설명회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기능분석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개선사항접수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프로그램사용유무확인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9" name="직선 화살표 연결선 8"/>
          <p:cNvCxnSpPr/>
          <p:nvPr/>
        </p:nvCxnSpPr>
        <p:spPr>
          <a:xfrm>
            <a:off x="704528" y="2348880"/>
            <a:ext cx="90010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63294" y="2420888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착수 단계</a:t>
            </a: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704528" y="5517232"/>
            <a:ext cx="90010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63294" y="5589240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분석</a:t>
            </a:r>
            <a:r>
              <a:rPr lang="en-US" altLang="ko-KR" sz="1000" dirty="0">
                <a:latin typeface="+mn-ea"/>
                <a:ea typeface="+mn-ea"/>
              </a:rPr>
              <a:t>/</a:t>
            </a:r>
            <a:r>
              <a:rPr lang="ko-KR" altLang="en-US" sz="1000" dirty="0">
                <a:latin typeface="+mn-ea"/>
                <a:ea typeface="+mn-ea"/>
              </a:rPr>
              <a:t>설계 단계</a:t>
            </a:r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704528" y="3902859"/>
            <a:ext cx="90010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63294" y="3974867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착수 단계</a:t>
            </a:r>
          </a:p>
        </p:txBody>
      </p:sp>
    </p:spTree>
    <p:extLst>
      <p:ext uri="{BB962C8B-B14F-4D97-AF65-F5344CB8AC3E}">
        <p14:creationId xmlns:p14="http://schemas.microsoft.com/office/powerpoint/2010/main" val="3301214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 bwMode="gray">
          <a:xfrm>
            <a:off x="0" y="17463"/>
            <a:ext cx="8193088" cy="655637"/>
          </a:xfrm>
        </p:spPr>
        <p:txBody>
          <a:bodyPr rtlCol="0">
            <a:normAutofit/>
          </a:bodyPr>
          <a:lstStyle/>
          <a:p>
            <a:pPr marL="176213" eaLnBrk="1" hangingPunct="1"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진행 일정</a:t>
            </a:r>
            <a:endParaRPr lang="ko-KR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987019"/>
              </p:ext>
            </p:extLst>
          </p:nvPr>
        </p:nvGraphicFramePr>
        <p:xfrm>
          <a:off x="1240642" y="1041990"/>
          <a:ext cx="8392883" cy="5064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936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88000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개발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테스트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통합테스트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‘15.1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(Cut-Over)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‘15.2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안정화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11/3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11/10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11/17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11/24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12/1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12/8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12/15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12/22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12/29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1/5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1/12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1/19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1/26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2/2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2/9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2/16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2/23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38">
                <a:tc gridSpan="17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291039" y="1045799"/>
            <a:ext cx="876244" cy="577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indent="-87313" algn="ctr"/>
            <a:r>
              <a:rPr lang="ko-KR" altLang="en-US" sz="1200" b="1" dirty="0">
                <a:solidFill>
                  <a:schemeClr val="tx1"/>
                </a:solidFill>
              </a:rPr>
              <a:t>구분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91025" y="1673019"/>
            <a:ext cx="876342" cy="6917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indent="-87313"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주요 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marL="87313" indent="-87313" algn="ctr"/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마일스톤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87507" y="2401141"/>
            <a:ext cx="876342" cy="3464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indent="-87313"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공통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87507" y="2776647"/>
            <a:ext cx="876342" cy="3464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indent="-87313"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회계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87507" y="3152153"/>
            <a:ext cx="876342" cy="3464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indent="-87313"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자산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87507" y="3527659"/>
            <a:ext cx="876342" cy="3464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indent="-87313"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경비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87507" y="3903165"/>
            <a:ext cx="876342" cy="3464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indent="-87313"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자재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구매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87507" y="4278671"/>
            <a:ext cx="876342" cy="3464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indent="-87313"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투자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87507" y="4654177"/>
            <a:ext cx="876342" cy="3464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indent="-87313"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장비설비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87507" y="5029683"/>
            <a:ext cx="876342" cy="3464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indent="-87313"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인프라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87507" y="5405189"/>
            <a:ext cx="876342" cy="3464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indent="-87313"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매뉴얼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87507" y="5780695"/>
            <a:ext cx="876342" cy="3464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indent="-87313"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교육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1280592" y="1872907"/>
            <a:ext cx="1368152" cy="307777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 latinLnBrk="0"/>
            <a:r>
              <a:rPr kumimoji="0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0"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차 </a:t>
            </a:r>
            <a:r>
              <a:rPr kumimoji="0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G-ERP </a:t>
            </a:r>
            <a:r>
              <a:rPr kumimoji="0"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통합테스트</a:t>
            </a:r>
            <a:endParaRPr kumimoji="0"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/>
            <a:r>
              <a:rPr kumimoji="0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10/27~11/7</a:t>
            </a:r>
          </a:p>
        </p:txBody>
      </p:sp>
      <p:sp>
        <p:nvSpPr>
          <p:cNvPr id="30" name="오른쪽 화살표 29"/>
          <p:cNvSpPr/>
          <p:nvPr/>
        </p:nvSpPr>
        <p:spPr>
          <a:xfrm>
            <a:off x="1283968" y="5765914"/>
            <a:ext cx="451301" cy="28575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0" tIns="0" rIns="0" bIns="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투자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(11/4)</a:t>
            </a:r>
          </a:p>
        </p:txBody>
      </p:sp>
      <p:sp>
        <p:nvSpPr>
          <p:cNvPr id="31" name="오른쪽 화살표 30"/>
          <p:cNvSpPr/>
          <p:nvPr/>
        </p:nvSpPr>
        <p:spPr>
          <a:xfrm>
            <a:off x="1254216" y="2418485"/>
            <a:ext cx="1466536" cy="29228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36000" tIns="36000" rIns="36000" bIns="3600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시스템 관리자 기능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개발 및 테스트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</p:txBody>
      </p:sp>
      <p:sp>
        <p:nvSpPr>
          <p:cNvPr id="32" name="오른쪽 화살표 31"/>
          <p:cNvSpPr/>
          <p:nvPr/>
        </p:nvSpPr>
        <p:spPr>
          <a:xfrm>
            <a:off x="1257300" y="2767889"/>
            <a:ext cx="959396" cy="2178174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rgbClr val="C00000"/>
            </a:solidFill>
            <a:prstDash val="sysDash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36000" tIns="36000" rIns="36000" bIns="36000" anchor="ctr" anchorCtr="0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GERP 2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차 통합 테스트 실시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/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보완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</p:txBody>
      </p:sp>
      <p:sp>
        <p:nvSpPr>
          <p:cNvPr id="33" name="오른쪽 화살표 32"/>
          <p:cNvSpPr/>
          <p:nvPr/>
        </p:nvSpPr>
        <p:spPr>
          <a:xfrm>
            <a:off x="2216696" y="2786938"/>
            <a:ext cx="1440160" cy="2168649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rgbClr val="C00000"/>
            </a:solidFill>
            <a:prstDash val="sysDash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36000" tIns="36000" rIns="36000" bIns="36000" anchor="b" anchorCtr="0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GERP 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구매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/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자재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/ 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장비설비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/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투자 양식 사용자 교육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</p:txBody>
      </p:sp>
      <p:sp>
        <p:nvSpPr>
          <p:cNvPr id="34" name="오른쪽 화살표 33"/>
          <p:cNvSpPr/>
          <p:nvPr/>
        </p:nvSpPr>
        <p:spPr>
          <a:xfrm>
            <a:off x="4625721" y="2811322"/>
            <a:ext cx="1047359" cy="1368152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36000" tIns="36000" rIns="36000" bIns="3600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우시 전자결재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 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사용자 교육 및 인수인계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</p:txBody>
      </p:sp>
      <p:sp>
        <p:nvSpPr>
          <p:cNvPr id="35" name="오른쪽 화살표 34"/>
          <p:cNvSpPr/>
          <p:nvPr/>
        </p:nvSpPr>
        <p:spPr>
          <a:xfrm>
            <a:off x="1712640" y="2811322"/>
            <a:ext cx="1776848" cy="1368151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36000" tIns="36000" rIns="36000" bIns="3600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GERP 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통합 테스트 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제외 대상 양식 개발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/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테스트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</p:txBody>
      </p:sp>
      <p:sp>
        <p:nvSpPr>
          <p:cNvPr id="36" name="오른쪽 화살표 35"/>
          <p:cNvSpPr/>
          <p:nvPr/>
        </p:nvSpPr>
        <p:spPr>
          <a:xfrm>
            <a:off x="3522815" y="2820371"/>
            <a:ext cx="1058469" cy="1359103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36000" tIns="36000" rIns="36000" bIns="3600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우시 전자결재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 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현업테스트 실시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/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보완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</p:txBody>
      </p:sp>
      <p:sp>
        <p:nvSpPr>
          <p:cNvPr id="37" name="오른쪽 화살표 36"/>
          <p:cNvSpPr/>
          <p:nvPr/>
        </p:nvSpPr>
        <p:spPr>
          <a:xfrm>
            <a:off x="2209186" y="5772606"/>
            <a:ext cx="1235022" cy="28575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0" tIns="0" rIns="0" bIns="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자재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(11/17 ~ 12/4)</a:t>
            </a:r>
          </a:p>
        </p:txBody>
      </p:sp>
      <p:sp>
        <p:nvSpPr>
          <p:cNvPr id="38" name="오른쪽 화살표 37"/>
          <p:cNvSpPr/>
          <p:nvPr/>
        </p:nvSpPr>
        <p:spPr>
          <a:xfrm>
            <a:off x="4452320" y="5772606"/>
            <a:ext cx="1008112" cy="28575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0" tIns="0" rIns="0" bIns="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회계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/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자산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/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경비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(12/22 ~ 12/26)</a:t>
            </a:r>
          </a:p>
        </p:txBody>
      </p:sp>
      <p:sp>
        <p:nvSpPr>
          <p:cNvPr id="39" name="오른쪽 화살표 38"/>
          <p:cNvSpPr/>
          <p:nvPr/>
        </p:nvSpPr>
        <p:spPr>
          <a:xfrm>
            <a:off x="1273082" y="5405874"/>
            <a:ext cx="451301" cy="28575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0" tIns="0" rIns="0" bIns="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자재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(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국문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)</a:t>
            </a:r>
          </a:p>
        </p:txBody>
      </p:sp>
      <p:sp>
        <p:nvSpPr>
          <p:cNvPr id="40" name="오른쪽 화살표 39"/>
          <p:cNvSpPr/>
          <p:nvPr/>
        </p:nvSpPr>
        <p:spPr>
          <a:xfrm>
            <a:off x="1748674" y="5405874"/>
            <a:ext cx="451301" cy="28575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0" tIns="0" rIns="0" bIns="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자재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(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중문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)</a:t>
            </a:r>
          </a:p>
        </p:txBody>
      </p:sp>
      <p:sp>
        <p:nvSpPr>
          <p:cNvPr id="41" name="오른쪽 화살표 40"/>
          <p:cNvSpPr/>
          <p:nvPr/>
        </p:nvSpPr>
        <p:spPr>
          <a:xfrm>
            <a:off x="2680584" y="5405874"/>
            <a:ext cx="451301" cy="28575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0" tIns="0" rIns="0" bIns="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재무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(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국문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)</a:t>
            </a:r>
          </a:p>
        </p:txBody>
      </p:sp>
      <p:sp>
        <p:nvSpPr>
          <p:cNvPr id="42" name="오른쪽 화살표 41"/>
          <p:cNvSpPr/>
          <p:nvPr/>
        </p:nvSpPr>
        <p:spPr>
          <a:xfrm>
            <a:off x="3156176" y="5405874"/>
            <a:ext cx="451301" cy="28575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0" tIns="0" rIns="0" bIns="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재무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(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중문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)</a:t>
            </a:r>
          </a:p>
        </p:txBody>
      </p:sp>
      <p:sp>
        <p:nvSpPr>
          <p:cNvPr id="43" name="Oval 130"/>
          <p:cNvSpPr>
            <a:spLocks noChangeArrowheads="1"/>
          </p:cNvSpPr>
          <p:nvPr/>
        </p:nvSpPr>
        <p:spPr bwMode="auto">
          <a:xfrm>
            <a:off x="1568624" y="1664804"/>
            <a:ext cx="216024" cy="180020"/>
          </a:xfrm>
          <a:prstGeom prst="diamond">
            <a:avLst/>
          </a:prstGeom>
          <a:solidFill>
            <a:srgbClr val="666699"/>
          </a:solidFill>
          <a:ln w="6350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/>
          <a:lstStyle/>
          <a:p>
            <a:pPr algn="ctr" defTabSz="862013" fontAlgn="ctr" latinLnBrk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0" lang="ko-KR" altLang="en-US" sz="900">
              <a:solidFill>
                <a:schemeClr val="bg1"/>
              </a:solidFill>
            </a:endParaRPr>
          </a:p>
        </p:txBody>
      </p:sp>
      <p:sp>
        <p:nvSpPr>
          <p:cNvPr id="44" name="Oval 130"/>
          <p:cNvSpPr>
            <a:spLocks noChangeArrowheads="1"/>
          </p:cNvSpPr>
          <p:nvPr/>
        </p:nvSpPr>
        <p:spPr bwMode="auto">
          <a:xfrm>
            <a:off x="3576056" y="1656012"/>
            <a:ext cx="216024" cy="180020"/>
          </a:xfrm>
          <a:prstGeom prst="diamond">
            <a:avLst/>
          </a:prstGeom>
          <a:solidFill>
            <a:srgbClr val="666699"/>
          </a:solidFill>
          <a:ln w="6350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/>
          <a:lstStyle/>
          <a:p>
            <a:pPr algn="ctr" defTabSz="862013" fontAlgn="ctr" latinLnBrk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0" lang="ko-KR" altLang="en-US" sz="900"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2899936" y="1879503"/>
            <a:ext cx="1368152" cy="307777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 latinLnBrk="0"/>
            <a:r>
              <a:rPr kumimoji="0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G-ERP </a:t>
            </a:r>
            <a:r>
              <a:rPr kumimoji="0"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사용교육</a:t>
            </a:r>
            <a:endParaRPr kumimoji="0"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/>
            <a:r>
              <a:rPr kumimoji="0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11/17~12/4</a:t>
            </a:r>
          </a:p>
        </p:txBody>
      </p:sp>
      <p:sp>
        <p:nvSpPr>
          <p:cNvPr id="46" name="Oval 130"/>
          <p:cNvSpPr>
            <a:spLocks noChangeArrowheads="1"/>
          </p:cNvSpPr>
          <p:nvPr/>
        </p:nvSpPr>
        <p:spPr bwMode="auto">
          <a:xfrm>
            <a:off x="4485784" y="1656012"/>
            <a:ext cx="216024" cy="180020"/>
          </a:xfrm>
          <a:prstGeom prst="diamond">
            <a:avLst/>
          </a:prstGeom>
          <a:solidFill>
            <a:srgbClr val="666699"/>
          </a:solidFill>
          <a:ln w="6350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/>
          <a:lstStyle/>
          <a:p>
            <a:pPr algn="ctr" defTabSz="862013" fontAlgn="ctr" latinLnBrk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0" lang="ko-KR" altLang="en-US" sz="90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3809664" y="1879503"/>
            <a:ext cx="1368152" cy="307777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 latinLnBrk="0"/>
            <a:r>
              <a:rPr kumimoji="0"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성능테스트</a:t>
            </a:r>
            <a:endParaRPr kumimoji="0"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/>
            <a:r>
              <a:rPr kumimoji="0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12/1~12/19</a:t>
            </a:r>
          </a:p>
        </p:txBody>
      </p:sp>
      <p:sp>
        <p:nvSpPr>
          <p:cNvPr id="48" name="Oval 130"/>
          <p:cNvSpPr>
            <a:spLocks noChangeArrowheads="1"/>
          </p:cNvSpPr>
          <p:nvPr/>
        </p:nvSpPr>
        <p:spPr bwMode="auto">
          <a:xfrm>
            <a:off x="5673080" y="1664804"/>
            <a:ext cx="216024" cy="180020"/>
          </a:xfrm>
          <a:prstGeom prst="diamond">
            <a:avLst/>
          </a:prstGeom>
          <a:solidFill>
            <a:srgbClr val="666699"/>
          </a:solidFill>
          <a:ln w="6350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/>
          <a:lstStyle/>
          <a:p>
            <a:pPr algn="ctr" defTabSz="862013" fontAlgn="ctr" latinLnBrk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0" lang="ko-KR" altLang="en-US" sz="90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 bwMode="auto">
          <a:xfrm>
            <a:off x="5088224" y="1879503"/>
            <a:ext cx="1368152" cy="307777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 latinLnBrk="0"/>
            <a:r>
              <a:rPr kumimoji="0"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시스템 오픈</a:t>
            </a:r>
            <a:endParaRPr kumimoji="0"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/>
            <a:r>
              <a:rPr kumimoji="0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1/1~1/5</a:t>
            </a:r>
          </a:p>
        </p:txBody>
      </p:sp>
      <p:sp>
        <p:nvSpPr>
          <p:cNvPr id="50" name="Oval 130"/>
          <p:cNvSpPr>
            <a:spLocks noChangeArrowheads="1"/>
          </p:cNvSpPr>
          <p:nvPr/>
        </p:nvSpPr>
        <p:spPr bwMode="auto">
          <a:xfrm>
            <a:off x="7030768" y="1663968"/>
            <a:ext cx="216024" cy="180020"/>
          </a:xfrm>
          <a:prstGeom prst="diamond">
            <a:avLst/>
          </a:prstGeom>
          <a:solidFill>
            <a:srgbClr val="666699"/>
          </a:solidFill>
          <a:ln w="6350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/>
          <a:lstStyle/>
          <a:p>
            <a:pPr algn="ctr" defTabSz="862013" fontAlgn="ctr" latinLnBrk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0" lang="ko-KR" altLang="en-US" sz="90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 bwMode="auto">
          <a:xfrm>
            <a:off x="6445912" y="1869875"/>
            <a:ext cx="1368152" cy="307777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 latinLnBrk="0"/>
            <a:r>
              <a:rPr kumimoji="0"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인수인계 및 공동대응</a:t>
            </a:r>
            <a:endParaRPr kumimoji="0"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/>
            <a:r>
              <a:rPr kumimoji="0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1/5~1/23</a:t>
            </a:r>
          </a:p>
        </p:txBody>
      </p:sp>
      <p:sp>
        <p:nvSpPr>
          <p:cNvPr id="52" name="Oval 130"/>
          <p:cNvSpPr>
            <a:spLocks noChangeArrowheads="1"/>
          </p:cNvSpPr>
          <p:nvPr/>
        </p:nvSpPr>
        <p:spPr bwMode="auto">
          <a:xfrm>
            <a:off x="9417496" y="1663968"/>
            <a:ext cx="216024" cy="180020"/>
          </a:xfrm>
          <a:prstGeom prst="diamond">
            <a:avLst/>
          </a:prstGeom>
          <a:solidFill>
            <a:srgbClr val="666699"/>
          </a:solidFill>
          <a:ln w="6350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anchor="ctr"/>
          <a:lstStyle/>
          <a:p>
            <a:pPr algn="ctr" defTabSz="862013" fontAlgn="ctr" latinLnBrk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0" lang="ko-KR" altLang="en-US" sz="90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 bwMode="auto">
          <a:xfrm>
            <a:off x="8337376" y="1871200"/>
            <a:ext cx="1368152" cy="307777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 latinLnBrk="0"/>
            <a:r>
              <a:rPr kumimoji="0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SM </a:t>
            </a:r>
            <a:r>
              <a:rPr kumimoji="0"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전환 및 안정화</a:t>
            </a:r>
            <a:endParaRPr kumimoji="0"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/>
            <a:r>
              <a:rPr kumimoji="0"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rPr>
              <a:t>1/26~2/27</a:t>
            </a:r>
          </a:p>
        </p:txBody>
      </p:sp>
      <p:sp>
        <p:nvSpPr>
          <p:cNvPr id="54" name="오른쪽 화살표 53"/>
          <p:cNvSpPr/>
          <p:nvPr/>
        </p:nvSpPr>
        <p:spPr>
          <a:xfrm>
            <a:off x="3224808" y="5030760"/>
            <a:ext cx="960330" cy="28575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0" tIns="0" rIns="0" bIns="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성능 테스트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</p:txBody>
      </p:sp>
      <p:sp>
        <p:nvSpPr>
          <p:cNvPr id="55" name="오른쪽 화살표 54"/>
          <p:cNvSpPr/>
          <p:nvPr/>
        </p:nvSpPr>
        <p:spPr>
          <a:xfrm>
            <a:off x="6699195" y="5412338"/>
            <a:ext cx="451301" cy="28575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0" tIns="0" rIns="0" bIns="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운영자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(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국문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)</a:t>
            </a:r>
          </a:p>
        </p:txBody>
      </p:sp>
      <p:sp>
        <p:nvSpPr>
          <p:cNvPr id="56" name="오른쪽 화살표 55"/>
          <p:cNvSpPr/>
          <p:nvPr/>
        </p:nvSpPr>
        <p:spPr>
          <a:xfrm>
            <a:off x="7174787" y="5412338"/>
            <a:ext cx="451301" cy="28575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0" tIns="0" rIns="0" bIns="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운영자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(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중문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)</a:t>
            </a:r>
          </a:p>
        </p:txBody>
      </p:sp>
      <p:sp>
        <p:nvSpPr>
          <p:cNvPr id="57" name="오른쪽 화살표 56"/>
          <p:cNvSpPr/>
          <p:nvPr/>
        </p:nvSpPr>
        <p:spPr>
          <a:xfrm>
            <a:off x="5699456" y="5789962"/>
            <a:ext cx="1431368" cy="28575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0" tIns="0" rIns="0" bIns="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시스템 인수인계 교육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(1/5 ~ 1/23)</a:t>
            </a:r>
          </a:p>
        </p:txBody>
      </p:sp>
      <p:sp>
        <p:nvSpPr>
          <p:cNvPr id="58" name="오른쪽 화살표 57"/>
          <p:cNvSpPr/>
          <p:nvPr/>
        </p:nvSpPr>
        <p:spPr>
          <a:xfrm>
            <a:off x="4700136" y="2425432"/>
            <a:ext cx="981736" cy="29228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36000" tIns="36000" rIns="36000" bIns="3600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대팀제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 조직도 </a:t>
            </a: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Sync 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및 테스트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</p:txBody>
      </p:sp>
      <p:sp>
        <p:nvSpPr>
          <p:cNvPr id="59" name="오른쪽 화살표 58"/>
          <p:cNvSpPr/>
          <p:nvPr/>
        </p:nvSpPr>
        <p:spPr>
          <a:xfrm>
            <a:off x="5699457" y="2826559"/>
            <a:ext cx="504055" cy="2483995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36000" tIns="36000" rIns="36000" bIns="3600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Help Desk 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운영 및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비상대응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</p:txBody>
      </p:sp>
      <p:sp>
        <p:nvSpPr>
          <p:cNvPr id="60" name="오른쪽 화살표 59"/>
          <p:cNvSpPr/>
          <p:nvPr/>
        </p:nvSpPr>
        <p:spPr>
          <a:xfrm>
            <a:off x="6203512" y="2826560"/>
            <a:ext cx="935842" cy="2483995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36000" tIns="36000" rIns="36000" bIns="3600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인수 인계 및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공동대응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</p:txBody>
      </p:sp>
      <p:sp>
        <p:nvSpPr>
          <p:cNvPr id="61" name="오른쪽 화살표 60"/>
          <p:cNvSpPr/>
          <p:nvPr/>
        </p:nvSpPr>
        <p:spPr>
          <a:xfrm>
            <a:off x="7176456" y="2798513"/>
            <a:ext cx="2442329" cy="2520280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36000" tIns="36000" rIns="36000" bIns="36000" anchor="ctr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SM </a:t>
            </a: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전환 및 시스템 안정화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</p:txBody>
      </p:sp>
      <p:sp>
        <p:nvSpPr>
          <p:cNvPr id="62" name="오른쪽 화살표 61"/>
          <p:cNvSpPr/>
          <p:nvPr/>
        </p:nvSpPr>
        <p:spPr>
          <a:xfrm>
            <a:off x="7185248" y="2800184"/>
            <a:ext cx="944896" cy="340784"/>
          </a:xfrm>
          <a:prstGeom prst="rightArrow">
            <a:avLst>
              <a:gd name="adj1" fmla="val 100000"/>
              <a:gd name="adj2" fmla="val 21324"/>
            </a:avLst>
          </a:prstGeom>
          <a:gradFill flip="none" rotWithShape="1">
            <a:gsLst>
              <a:gs pos="45000">
                <a:srgbClr val="DCE6F2"/>
              </a:gs>
              <a:gs pos="100000">
                <a:srgbClr val="ACC6DE"/>
              </a:gs>
              <a:gs pos="54000">
                <a:srgbClr val="C7D7EB"/>
              </a:gs>
            </a:gsLst>
            <a:lin ang="5400000" scaled="1"/>
            <a:tileRect/>
          </a:gradFill>
          <a:ln w="12700" algn="ctr">
            <a:solidFill>
              <a:srgbClr val="C00000"/>
            </a:solidFill>
            <a:prstDash val="sysDash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  <p:txBody>
          <a:bodyPr wrap="square" lIns="36000" tIns="36000" rIns="36000" bIns="36000" anchor="b" anchorCtr="0"/>
          <a:lstStyle/>
          <a:p>
            <a:pPr indent="-115888" algn="ctr" eaLnBrk="0" latinLnBrk="0" hangingPunct="0">
              <a:buClr>
                <a:srgbClr val="000000"/>
              </a:buClr>
              <a:buSzPct val="140000"/>
              <a:tabLst>
                <a:tab pos="5648325" algn="l"/>
              </a:tabLst>
            </a:pPr>
            <a:r>
              <a:rPr kumimoji="0" lang="ko-KR" alt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  <a:sym typeface="Monotype Sorts" pitchFamily="2" charset="2"/>
              </a:rPr>
              <a:t>회계 월 결산 마감 지원</a:t>
            </a:r>
            <a:endParaRPr kumimoji="0" lang="en-US" altLang="ko-KR" sz="9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  <a:sym typeface="Monotype Sorts" pitchFamily="2" charset="2"/>
            </a:endParaRPr>
          </a:p>
        </p:txBody>
      </p:sp>
      <p:sp>
        <p:nvSpPr>
          <p:cNvPr id="63" name="모서리가 둥근 사각형 설명선 62"/>
          <p:cNvSpPr/>
          <p:nvPr/>
        </p:nvSpPr>
        <p:spPr>
          <a:xfrm>
            <a:off x="7113240" y="6237312"/>
            <a:ext cx="792088" cy="288032"/>
          </a:xfrm>
          <a:prstGeom prst="wedgeRoundRectCallout">
            <a:avLst>
              <a:gd name="adj1" fmla="val 74859"/>
              <a:gd name="adj2" fmla="val -92967"/>
              <a:gd name="adj3" fmla="val 16667"/>
            </a:avLst>
          </a:prstGeom>
          <a:solidFill>
            <a:srgbClr val="FFC000"/>
          </a:solidFill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</a:rPr>
              <a:t>진행중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64" name="직선 연결선 63"/>
          <p:cNvCxnSpPr/>
          <p:nvPr/>
        </p:nvCxnSpPr>
        <p:spPr>
          <a:xfrm>
            <a:off x="8160702" y="2418735"/>
            <a:ext cx="0" cy="3672408"/>
          </a:xfrm>
          <a:prstGeom prst="line">
            <a:avLst/>
          </a:prstGeom>
          <a:ln w="28575">
            <a:solidFill>
              <a:srgbClr val="FF0000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461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 bwMode="gray">
          <a:xfrm>
            <a:off x="0" y="17463"/>
            <a:ext cx="8193088" cy="655637"/>
          </a:xfrm>
        </p:spPr>
        <p:txBody>
          <a:bodyPr rtlCol="0">
            <a:normAutofit/>
          </a:bodyPr>
          <a:lstStyle/>
          <a:p>
            <a:pPr marL="176213" eaLnBrk="1" hangingPunct="1"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실적 및 계획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계획 </a:t>
            </a:r>
            <a:r>
              <a:rPr lang="en-US" altLang="ko-KR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: 0.0% / </a:t>
            </a:r>
            <a:r>
              <a:rPr lang="ko-KR" altLang="en-US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실적 </a:t>
            </a:r>
            <a:r>
              <a:rPr lang="en-US" altLang="ko-KR" sz="18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: 0.0%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8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7" name="내용 개체 틀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843275"/>
              </p:ext>
            </p:extLst>
          </p:nvPr>
        </p:nvGraphicFramePr>
        <p:xfrm>
          <a:off x="272480" y="909870"/>
          <a:ext cx="9361040" cy="5020769"/>
        </p:xfrm>
        <a:graphic>
          <a:graphicData uri="http://schemas.openxmlformats.org/drawingml/2006/table">
            <a:tbl>
              <a:tblPr firstRow="1" bandRow="1"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363">
                <a:tc>
                  <a:txBody>
                    <a:bodyPr/>
                    <a:lstStyle/>
                    <a:p>
                      <a:pPr algn="ctr" latinLnBrk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금주실적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(04/04~04/08)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8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차주계획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(04/11~04/15)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199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주요 내용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0" marR="36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착수단계</a:t>
                      </a:r>
                      <a:r>
                        <a:rPr kumimoji="0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1.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업무환경구성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공용폴더 업무구분정의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주간보고서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착수보고서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                                  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사업수행계획서 등 보관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2)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개발서버 구성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엔진설치 및 테스트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0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Sqgrid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Download &amp; Upload component, </a:t>
                      </a:r>
                      <a:r>
                        <a:rPr kumimoji="0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CHeditor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3)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포비스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시스템 분석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메뉴별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프로그램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매칭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4)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원격접속개통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개발서버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임덕묵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2.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업무분석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1)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포비스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기본기능 분석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임덕묵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이동현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윤형연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박성욱  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2)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포비스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추가요구사항 리뷰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– 60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개 항목 전체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임덕묵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이동현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윤형연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박성욱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3. Prototype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1)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포비스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대상 선정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2) Prototype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개발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4.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착수보고 준비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착수보고서 작성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(PM) –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보고내용 사전 협의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2)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참석자 사전 알림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3)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문서 템플릿 필요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37160" marR="137160" marT="137160" marB="1371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착수단계</a:t>
                      </a:r>
                      <a:r>
                        <a:rPr kumimoji="0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1.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업무환경구성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공용폴더 업무구분정의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2)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개발서버 구성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엔진설치 및 테스트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0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Sqgrid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Download &amp; Upload component, </a:t>
                      </a:r>
                      <a:r>
                        <a:rPr kumimoji="0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CHeditor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3)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포비스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시스템 분석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메뉴별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프로그램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매칭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2.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업무분석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1)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포비스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기본기능 분석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임덕묵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이동현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윤형연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박성욱  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2)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포비스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추가요구사항 리뷰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임덕묵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이동현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윤형연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박성욱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3. Prototype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1)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포비스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대상 선정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2) Prototype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개발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4.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착수보고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1)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착수보고서 작성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(PM) –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보고내용 사전 협의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2)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참석자 사전 알림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3)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문서 템플릿 필요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2010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 bwMode="gray">
          <a:xfrm>
            <a:off x="0" y="17463"/>
            <a:ext cx="8193088" cy="655637"/>
          </a:xfrm>
        </p:spPr>
        <p:txBody>
          <a:bodyPr rtlCol="0">
            <a:normAutofit/>
          </a:bodyPr>
          <a:lstStyle/>
          <a:p>
            <a:pPr marL="176213" eaLnBrk="1" hangingPunct="1"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프로젝트 이슈사항 관리</a:t>
            </a:r>
            <a:endParaRPr lang="ko-KR" altLang="en-US" sz="18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300085"/>
              </p:ext>
            </p:extLst>
          </p:nvPr>
        </p:nvGraphicFramePr>
        <p:xfrm>
          <a:off x="560512" y="1227666"/>
          <a:ext cx="885698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이슈내용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발생일자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해결방안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진행상태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완료여부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2016-04-01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ea"/>
                        <a:buAutoNum type="circleNumDbPlain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latinLnBrk="1">
                        <a:buFont typeface="+mj-lt"/>
                        <a:buAutoNum type="arabicParenR"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090163"/>
      </p:ext>
    </p:extLst>
  </p:cSld>
  <p:clrMapOvr>
    <a:masterClrMapping/>
  </p:clrMapOvr>
</p:sld>
</file>

<file path=ppt/theme/theme1.xml><?xml version="1.0" encoding="utf-8"?>
<a:theme xmlns:a="http://schemas.openxmlformats.org/drawingml/2006/main" name="1_SKCCConsult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4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pc="http://schemas.microsoft.com/office/infopath/2007/PartnerControls" xmlns:xsi="http://www.w3.org/2001/XMLSchema-instance">
  <documentManagement>
    <_xbb38__xc11c__xc124__xba85_ xmlns="2aae6fcb-43e3-4396-89be-baa0995eb0b9">PM32_주간보고서_XX주차_YYYYMMDD</_xbb38__xc11c__xc124__xba85_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B7EE8C989F4014D8F473F11EA235336" ma:contentTypeVersion="1" ma:contentTypeDescription="새 문서를 만듭니다." ma:contentTypeScope="" ma:versionID="da507e76d2c73bb96d59657c92b25dbb">
  <xsd:schema xmlns:xsd="http://www.w3.org/2001/XMLSchema" xmlns:xs="http://www.w3.org/2001/XMLSchema" xmlns:p="http://schemas.microsoft.com/office/2006/metadata/properties" xmlns:ns2="2aae6fcb-43e3-4396-89be-baa0995eb0b9" targetNamespace="http://schemas.microsoft.com/office/2006/metadata/properties" ma:root="true" ma:fieldsID="aa1e80f6703332eeed5d82846e061462" ns2:_="">
    <xsd:import namespace="2aae6fcb-43e3-4396-89be-baa0995eb0b9"/>
    <xsd:element name="properties">
      <xsd:complexType>
        <xsd:sequence>
          <xsd:element name="documentManagement">
            <xsd:complexType>
              <xsd:all>
                <xsd:element ref="ns2:_xbb38__xc11c__xc124__xba8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ae6fcb-43e3-4396-89be-baa0995eb0b9" elementFormDefault="qualified">
    <xsd:import namespace="http://schemas.microsoft.com/office/2006/documentManagement/types"/>
    <xsd:import namespace="http://schemas.microsoft.com/office/infopath/2007/PartnerControls"/>
    <xsd:element name="_xbb38__xc11c__xc124__xba85_" ma:index="8" nillable="true" ma:displayName="문서설명" ma:internalName="_xbb38__xc11c__xc124__xba85_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F7FC56-1312-416A-8763-EAA6D2B794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C543DC-40F5-4BB2-BA94-8C70CFF7A650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2aae6fcb-43e3-4396-89be-baa0995eb0b9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BB194EC-DAF3-4C58-9DE0-32BD47CC56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ae6fcb-43e3-4396-89be-baa0995eb0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57636</TotalTime>
  <Words>616</Words>
  <Application>Microsoft Office PowerPoint</Application>
  <PresentationFormat>A4 용지(210x297mm)</PresentationFormat>
  <Paragraphs>236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Monotype Sorts</vt:lpstr>
      <vt:lpstr>굴림</vt:lpstr>
      <vt:lpstr>맑은 고딕</vt:lpstr>
      <vt:lpstr>Arial</vt:lpstr>
      <vt:lpstr>Wingdings</vt:lpstr>
      <vt:lpstr>1_SKCCConsulting</vt:lpstr>
      <vt:lpstr>PowerPoint 프레젠테이션</vt:lpstr>
      <vt:lpstr>1. 주요 일정</vt:lpstr>
      <vt:lpstr>2. 진행 일정</vt:lpstr>
      <vt:lpstr>3. 실적 및 계획 (계획 : 0.0% / 실적 : 0.0%)</vt:lpstr>
      <vt:lpstr>4. 프로젝트 이슈사항 관리</vt:lpstr>
    </vt:vector>
  </TitlesOfParts>
  <Company>(주)코비젼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PM32_주간보고서</dc:title>
  <dc:subject>[고객사] Smart2 구축</dc:subject>
  <dc:creator>솔루션사업팀</dc:creator>
  <cp:keywords>표준Template 2.0</cp:keywords>
  <dc:description>[ 소유권 정보 ]_x000d_
본 프로젝트 문서는 코비젼이 [고객사]에 제출하는 프로젝트 산출물의 하나이므로, 이 문서의 소유권은 원칙적으로 [고객사]에 있습니다. 그러나 문서의 형태 및 내용구성은 코비젼의 지적 자산이므로 [고객사] 에서 이 문서를 다른 용도로 임의로 변경하여 사용할 수 없음을 주지하시기 바랍니다.</dc:description>
  <cp:lastModifiedBy>강희은</cp:lastModifiedBy>
  <cp:revision>4369</cp:revision>
  <cp:lastPrinted>2012-11-21T00:33:37Z</cp:lastPrinted>
  <dcterms:created xsi:type="dcterms:W3CDTF">2011-08-29T23:48:40Z</dcterms:created>
  <dcterms:modified xsi:type="dcterms:W3CDTF">2026-02-26T05:42:48Z</dcterms:modified>
  <cp:category>관리산출물</cp:category>
  <cp:version>표준Template 2.0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0x0101003B7EE8C989F4014D8F473F11EA235336</vt:lpwstr>
  </property>
</Properties>
</file>