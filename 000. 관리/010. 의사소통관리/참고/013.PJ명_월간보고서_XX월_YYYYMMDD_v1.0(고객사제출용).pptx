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27" r:id="rId4"/>
  </p:sldMasterIdLst>
  <p:notesMasterIdLst>
    <p:notesMasterId r:id="rId10"/>
  </p:notesMasterIdLst>
  <p:sldIdLst>
    <p:sldId id="1173" r:id="rId5"/>
    <p:sldId id="1177" r:id="rId6"/>
    <p:sldId id="1176" r:id="rId7"/>
    <p:sldId id="1165" r:id="rId8"/>
    <p:sldId id="1169" r:id="rId9"/>
  </p:sldIdLst>
  <p:sldSz cx="9906000" cy="6858000" type="A4"/>
  <p:notesSz cx="6797675" cy="987425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24">
          <p15:clr>
            <a:srgbClr val="A4A3A4"/>
          </p15:clr>
        </p15:guide>
        <p15:guide id="2" orient="horz" pos="3913">
          <p15:clr>
            <a:srgbClr val="A4A3A4"/>
          </p15:clr>
        </p15:guide>
        <p15:guide id="3" orient="horz" pos="935">
          <p15:clr>
            <a:srgbClr val="A4A3A4"/>
          </p15:clr>
        </p15:guide>
        <p15:guide id="4" orient="horz" pos="1298">
          <p15:clr>
            <a:srgbClr val="A4A3A4"/>
          </p15:clr>
        </p15:guide>
        <p15:guide id="5" pos="1396">
          <p15:clr>
            <a:srgbClr val="A4A3A4"/>
          </p15:clr>
        </p15:guide>
        <p15:guide id="6" pos="6050">
          <p15:clr>
            <a:srgbClr val="A4A3A4"/>
          </p15:clr>
        </p15:guide>
        <p15:guide id="7" pos="3256">
          <p15:clr>
            <a:srgbClr val="A4A3A4"/>
          </p15:clr>
        </p15:guide>
        <p15:guide id="8" pos="5660">
          <p15:clr>
            <a:srgbClr val="A4A3A4"/>
          </p15:clr>
        </p15:guide>
        <p15:guide id="9" pos="294">
          <p15:clr>
            <a:srgbClr val="A4A3A4"/>
          </p15:clr>
        </p15:guide>
        <p15:guide id="10" pos="2592">
          <p15:clr>
            <a:srgbClr val="A4A3A4"/>
          </p15:clr>
        </p15:guide>
        <p15:guide id="11" pos="2213">
          <p15:clr>
            <a:srgbClr val="A4A3A4"/>
          </p15:clr>
        </p15:guide>
        <p15:guide id="1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2015AB"/>
    <a:srgbClr val="CCFFFF"/>
    <a:srgbClr val="CC6600"/>
    <a:srgbClr val="FFFFCC"/>
    <a:srgbClr val="006600"/>
    <a:srgbClr val="0033CC"/>
    <a:srgbClr val="FFFF66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27" autoAdjust="0"/>
    <p:restoredTop sz="97153" autoAdjust="0"/>
  </p:normalViewPr>
  <p:slideViewPr>
    <p:cSldViewPr>
      <p:cViewPr varScale="1">
        <p:scale>
          <a:sx n="144" d="100"/>
          <a:sy n="144" d="100"/>
        </p:scale>
        <p:origin x="276" y="63"/>
      </p:cViewPr>
      <p:guideLst>
        <p:guide orient="horz" pos="2024"/>
        <p:guide orient="horz" pos="3913"/>
        <p:guide orient="horz" pos="935"/>
        <p:guide orient="horz" pos="1298"/>
        <p:guide pos="1396"/>
        <p:guide pos="6050"/>
        <p:guide pos="3256"/>
        <p:guide pos="5660"/>
        <p:guide pos="294"/>
        <p:guide pos="2592"/>
        <p:guide pos="2213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3954" y="114"/>
      </p:cViewPr>
      <p:guideLst>
        <p:guide orient="horz" pos="3110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A73300D-5B9A-45AC-974E-53BC63277CBF}" type="datetimeFigureOut">
              <a:rPr lang="ko-KR" altLang="en-US"/>
              <a:pPr>
                <a:defRPr/>
              </a:pPr>
              <a:t>2026-02-26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23900" y="739775"/>
            <a:ext cx="534987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23AE3A51-D08A-4CF9-B39F-D25D59DC50C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8107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72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1674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020B619-623E-40C4-A9B0-53227236F526}" type="slidenum">
              <a:rPr lang="ko-KR" altLang="en-US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2334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Line 13"/>
          <p:cNvSpPr>
            <a:spLocks noChangeShapeType="1"/>
          </p:cNvSpPr>
          <p:nvPr userDrawn="1"/>
        </p:nvSpPr>
        <p:spPr bwMode="auto">
          <a:xfrm>
            <a:off x="247650" y="742950"/>
            <a:ext cx="9390063" cy="0"/>
          </a:xfrm>
          <a:prstGeom prst="line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헤더 메세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284163" y="800100"/>
            <a:ext cx="9421812" cy="684000"/>
          </a:xfrm>
          <a:prstGeom prst="rect">
            <a:avLst/>
          </a:prstGeom>
        </p:spPr>
        <p:txBody>
          <a:bodyPr/>
          <a:lstStyle>
            <a:lvl1pPr marL="0" indent="0" eaLnBrk="1" latinLnBrk="0" hangingPunct="1"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Line 13"/>
          <p:cNvSpPr>
            <a:spLocks noChangeShapeType="1"/>
          </p:cNvSpPr>
          <p:nvPr userDrawn="1"/>
        </p:nvSpPr>
        <p:spPr bwMode="auto">
          <a:xfrm>
            <a:off x="247650" y="742950"/>
            <a:ext cx="9390063" cy="0"/>
          </a:xfrm>
          <a:prstGeom prst="line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헤더 메세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284163" y="800100"/>
            <a:ext cx="9421812" cy="684000"/>
          </a:xfrm>
          <a:prstGeom prst="rect">
            <a:avLst/>
          </a:prstGeom>
        </p:spPr>
        <p:txBody>
          <a:bodyPr/>
          <a:lstStyle>
            <a:lvl1pPr marL="0" indent="0" eaLnBrk="1" latinLnBrk="0" hangingPunct="1"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5" name="Line 13"/>
          <p:cNvSpPr>
            <a:spLocks noChangeShapeType="1"/>
          </p:cNvSpPr>
          <p:nvPr userDrawn="1"/>
        </p:nvSpPr>
        <p:spPr bwMode="auto">
          <a:xfrm>
            <a:off x="247650" y="742950"/>
            <a:ext cx="9390063" cy="0"/>
          </a:xfrm>
          <a:prstGeom prst="line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13"/>
          <p:cNvSpPr>
            <a:spLocks noChangeShapeType="1"/>
          </p:cNvSpPr>
          <p:nvPr userDrawn="1"/>
        </p:nvSpPr>
        <p:spPr bwMode="auto">
          <a:xfrm>
            <a:off x="247650" y="742950"/>
            <a:ext cx="9390063" cy="0"/>
          </a:xfrm>
          <a:prstGeom prst="line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바닥라인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6" y="6309320"/>
            <a:ext cx="9883028" cy="6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6400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제목 개체 틀 4"/>
          <p:cNvSpPr>
            <a:spLocks noGrp="1"/>
          </p:cNvSpPr>
          <p:nvPr>
            <p:ph type="title"/>
          </p:nvPr>
        </p:nvSpPr>
        <p:spPr bwMode="auto">
          <a:xfrm>
            <a:off x="284163" y="17463"/>
            <a:ext cx="7908925" cy="65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8" name="직사각형 3"/>
          <p:cNvSpPr>
            <a:spLocks noChangeArrowheads="1"/>
          </p:cNvSpPr>
          <p:nvPr/>
        </p:nvSpPr>
        <p:spPr bwMode="auto">
          <a:xfrm>
            <a:off x="4670425" y="6618288"/>
            <a:ext cx="542925" cy="1381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1">
            <a:spAutoFit/>
          </a:bodyPr>
          <a:lstStyle/>
          <a:p>
            <a:pPr algn="ctr">
              <a:defRPr/>
            </a:pPr>
            <a:r>
              <a:rPr lang="en-US" altLang="ko-KR" sz="9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-</a:t>
            </a:r>
            <a:fld id="{5B2A2FE4-E973-443C-8290-591985FD271C}" type="slidenum">
              <a:rPr lang="en-US" altLang="ko-KR" sz="90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pPr algn="ctr">
                <a:defRPr/>
              </a:pPr>
              <a:t>‹#›</a:t>
            </a:fld>
            <a:r>
              <a:rPr lang="en-US" altLang="ko-KR" sz="9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-</a:t>
            </a: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74" y="6450919"/>
            <a:ext cx="1204683" cy="216000"/>
          </a:xfrm>
          <a:prstGeom prst="rect">
            <a:avLst/>
          </a:prstGeom>
        </p:spPr>
      </p:pic>
      <p:pic>
        <p:nvPicPr>
          <p:cNvPr id="11" name="그림 10" descr="바닥라인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6" y="6309320"/>
            <a:ext cx="9883028" cy="6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A2AD42A-CE62-48D6-9626-DD5092F9910F}"/>
              </a:ext>
            </a:extLst>
          </p:cNvPr>
          <p:cNvPicPr/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440" y="6513249"/>
            <a:ext cx="949325" cy="15367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214" r:id="rId1"/>
    <p:sldLayoutId id="2147485215" r:id="rId2"/>
    <p:sldLayoutId id="2147485218" r:id="rId3"/>
    <p:sldLayoutId id="2147485219" r:id="rId4"/>
    <p:sldLayoutId id="2147485220" r:id="rId5"/>
    <p:sldLayoutId id="2147485227" r:id="rId6"/>
    <p:sldLayoutId id="2147485228" r:id="rId7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20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맑은 고딕" pitchFamily="50" charset="-127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맑은 고딕" pitchFamily="50" charset="-127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맑은 고딕" pitchFamily="50" charset="-127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맑은 고딕" pitchFamily="50" charset="-127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4"/>
          <p:cNvSpPr txBox="1">
            <a:spLocks noChangeArrowheads="1"/>
          </p:cNvSpPr>
          <p:nvPr/>
        </p:nvSpPr>
        <p:spPr bwMode="auto">
          <a:xfrm>
            <a:off x="908050" y="1747642"/>
            <a:ext cx="8148638" cy="706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tIns="18000" bIns="18000" anchor="ctr"/>
          <a:lstStyle/>
          <a:p>
            <a:pPr algn="ctr" latinLnBrk="0">
              <a:defRPr/>
            </a:pPr>
            <a:r>
              <a:rPr kumimoji="0" lang="en-US" altLang="ko-KR" sz="28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[</a:t>
            </a:r>
            <a:r>
              <a:rPr kumimoji="0" lang="ko-KR" altLang="en-US" sz="2800" b="1" kern="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프로젝트명</a:t>
            </a:r>
            <a:r>
              <a:rPr kumimoji="0" lang="en-US" altLang="ko-KR" sz="28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] </a:t>
            </a:r>
            <a:r>
              <a:rPr kumimoji="0" lang="ko-KR" altLang="en-US" sz="28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구축 월간보고</a:t>
            </a:r>
          </a:p>
          <a:p>
            <a:pPr algn="ctr" latinLnBrk="0">
              <a:defRPr/>
            </a:pPr>
            <a:r>
              <a:rPr kumimoji="0" lang="en-US" altLang="ko-KR" sz="28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Monthly Report (</a:t>
            </a:r>
            <a:r>
              <a:rPr kumimoji="0" lang="en-US" altLang="ko-KR" sz="2800" b="1" kern="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xxxx</a:t>
            </a:r>
            <a:r>
              <a:rPr kumimoji="0" lang="en-US" altLang="ko-KR" sz="28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28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년 </a:t>
            </a:r>
            <a:r>
              <a:rPr kumimoji="0" lang="en-US" altLang="ko-KR" sz="28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xx </a:t>
            </a:r>
            <a:r>
              <a:rPr kumimoji="0" lang="ko-KR" altLang="en-US" sz="28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월</a:t>
            </a:r>
            <a:r>
              <a:rPr kumimoji="0" lang="en-US" altLang="ko-KR" sz="28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9" name="Line 23"/>
          <p:cNvSpPr>
            <a:spLocks noChangeShapeType="1"/>
          </p:cNvSpPr>
          <p:nvPr/>
        </p:nvSpPr>
        <p:spPr bwMode="auto">
          <a:xfrm flipV="1">
            <a:off x="924404" y="2604898"/>
            <a:ext cx="8172000" cy="9525"/>
          </a:xfrm>
          <a:prstGeom prst="line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269" y="260648"/>
            <a:ext cx="1230269" cy="70819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11941" y="5467871"/>
            <a:ext cx="188211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+mn-ea"/>
                <a:ea typeface="+mn-ea"/>
              </a:rPr>
              <a:t>YYYY.MM.DD</a:t>
            </a:r>
          </a:p>
          <a:p>
            <a:pPr algn="ctr"/>
            <a:endParaRPr lang="en-US" altLang="ko-KR" sz="1400" dirty="0">
              <a:latin typeface="+mn-ea"/>
              <a:ea typeface="+mn-ea"/>
            </a:endParaRPr>
          </a:p>
          <a:p>
            <a:pPr algn="ctr"/>
            <a:r>
              <a:rPr lang="ko-KR" altLang="en-US" sz="1600" dirty="0">
                <a:latin typeface="+mn-ea"/>
                <a:ea typeface="+mn-ea"/>
              </a:rPr>
              <a:t>그룹웨어 구축 </a:t>
            </a:r>
            <a:r>
              <a:rPr lang="en-US" altLang="ko-KR" sz="1600" dirty="0">
                <a:latin typeface="+mn-ea"/>
                <a:ea typeface="+mn-ea"/>
              </a:rPr>
              <a:t>TFT</a:t>
            </a:r>
            <a:endParaRPr lang="ko-KR" altLang="en-US" sz="16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47915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 bwMode="gray">
          <a:xfrm>
            <a:off x="0" y="17463"/>
            <a:ext cx="8193088" cy="655637"/>
          </a:xfrm>
        </p:spPr>
        <p:txBody>
          <a:bodyPr rtlCol="0">
            <a:normAutofit/>
          </a:bodyPr>
          <a:lstStyle/>
          <a:p>
            <a:pPr marL="176213" eaLnBrk="1" hangingPunct="1">
              <a:defRPr/>
            </a:pP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1.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주요 일정</a:t>
            </a:r>
            <a:endParaRPr lang="ko-KR" altLang="en-US" sz="1800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8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867156"/>
              </p:ext>
            </p:extLst>
          </p:nvPr>
        </p:nvGraphicFramePr>
        <p:xfrm>
          <a:off x="272480" y="908721"/>
          <a:ext cx="9361488" cy="5251335"/>
        </p:xfrm>
        <a:graphic>
          <a:graphicData uri="http://schemas.openxmlformats.org/drawingml/2006/table">
            <a:tbl>
              <a:tblPr/>
              <a:tblGrid>
                <a:gridCol w="472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083">
                  <a:extLst>
                    <a:ext uri="{9D8B030D-6E8A-4147-A177-3AD203B41FA5}">
                      <a16:colId xmlns:a16="http://schemas.microsoft.com/office/drawing/2014/main" val="3019511984"/>
                    </a:ext>
                  </a:extLst>
                </a:gridCol>
                <a:gridCol w="1402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8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28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28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28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28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23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구분</a:t>
                      </a:r>
                      <a:endParaRPr kumimoji="1" lang="ko-KR" altLang="ko-KR" sz="1100" b="1" i="0" u="none" strike="noStrike" cap="none" normalizeH="0" baseline="0" noProof="1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단계</a:t>
                      </a:r>
                      <a:endParaRPr kumimoji="1" lang="ko-KR" altLang="ko-KR" sz="1100" b="1" i="0" u="none" strike="noStrike" cap="none" normalizeH="0" baseline="0" noProof="1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맑은 고딕" pitchFamily="50" charset="-127"/>
                          <a:ea typeface="맑은 고딕" pitchFamily="50" charset="-127"/>
                        </a:rPr>
                        <a:t>월</a:t>
                      </a: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맑은 고딕" pitchFamily="50" charset="-127"/>
                          <a:ea typeface="맑은 고딕" pitchFamily="50" charset="-127"/>
                        </a:rPr>
                        <a:t>화</a:t>
                      </a: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맑은 고딕" pitchFamily="50" charset="-127"/>
                          <a:ea typeface="맑은 고딕" pitchFamily="50" charset="-127"/>
                        </a:rPr>
                        <a:t>수</a:t>
                      </a: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맑은 고딕" pitchFamily="50" charset="-127"/>
                          <a:ea typeface="맑은 고딕" pitchFamily="50" charset="-127"/>
                        </a:rPr>
                        <a:t>목</a:t>
                      </a: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맑은 고딕" pitchFamily="50" charset="-127"/>
                          <a:ea typeface="맑은 고딕" pitchFamily="50" charset="-127"/>
                        </a:rPr>
                        <a:t>금</a:t>
                      </a: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맑은 고딕" pitchFamily="50" charset="-127"/>
                          <a:ea typeface="맑은 고딕" pitchFamily="50" charset="-127"/>
                        </a:rPr>
                        <a:t>토</a:t>
                      </a: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35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주차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착수단계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4/04</a:t>
                      </a: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4/05</a:t>
                      </a: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4/06</a:t>
                      </a: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4/07</a:t>
                      </a: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4/08</a:t>
                      </a:r>
                      <a:endParaRPr kumimoji="1" lang="en-US" altLang="ko-KR" sz="1100" b="0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4/09</a:t>
                      </a:r>
                      <a:endParaRPr kumimoji="1" lang="en-US" altLang="ko-KR" sz="1100" b="0" i="0" u="none" strike="noStrike" cap="none" normalizeH="0" baseline="0" noProof="1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68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업무개시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마일스톤점검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업무환경설정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개발환경구성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프레임웍점검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포비스접속환경구성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공용폴더구성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하드웨서구성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하드웨어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구성환료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기본프레임웍환경구성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메뉴구성도 작성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포비스학습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프로그램현황파악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소스설치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컴포넌트 설치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주간보고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35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주차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착수단계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4/11</a:t>
                      </a: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4/12</a:t>
                      </a: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4/13</a:t>
                      </a: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4/14</a:t>
                      </a: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4/15</a:t>
                      </a:r>
                      <a:endParaRPr kumimoji="1" lang="en-US" altLang="ko-KR" sz="1100" b="0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4/16</a:t>
                      </a:r>
                      <a:endParaRPr kumimoji="1" lang="en-US" altLang="ko-KR" sz="1100" b="0" i="0" u="none" strike="noStrike" cap="none" normalizeH="0" baseline="0" noProof="1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포비스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소스코드 분석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서버설치 계속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WBS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Prototype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준비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코드분석 계속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국회의원 선거일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Prototype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준비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사업수행계획서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착수보고준비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주간보고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사업수행계획서리뷰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35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주차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분석설계단계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4/18</a:t>
                      </a: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4/19</a:t>
                      </a: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4/20</a:t>
                      </a: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4/21</a:t>
                      </a: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4/22</a:t>
                      </a:r>
                      <a:endParaRPr kumimoji="1" lang="en-US" altLang="ko-KR" sz="1100" b="0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4/23</a:t>
                      </a:r>
                      <a:endParaRPr kumimoji="1" lang="en-US" altLang="ko-KR" sz="1100" b="0" i="0" u="none" strike="noStrike" cap="none" normalizeH="0" baseline="0" noProof="1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194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착수보고서리뷰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착수보고회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(4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킥오프미팅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저녁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고객 설명회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기능분석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개선사항접수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프로그램사용유무확인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64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주차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분석설계단계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4/25</a:t>
                      </a: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4/26</a:t>
                      </a: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4/27</a:t>
                      </a: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4/28</a:t>
                      </a: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4/29</a:t>
                      </a:r>
                      <a:endParaRPr kumimoji="1" lang="en-US" altLang="ko-KR" sz="1100" b="0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4/30</a:t>
                      </a:r>
                      <a:endParaRPr kumimoji="1" lang="en-US" altLang="ko-KR" sz="1100" b="0" i="0" u="none" strike="noStrike" cap="none" normalizeH="0" baseline="0" noProof="1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178580"/>
                  </a:ext>
                </a:extLst>
              </a:tr>
              <a:tr h="9194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착수보고서리뷰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착수보고회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(4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킥오프미팅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저녁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고객 설명회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기능분석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개선사항접수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프로그램사용유무확인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659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975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 bwMode="gray">
          <a:xfrm>
            <a:off x="0" y="17463"/>
            <a:ext cx="8193088" cy="655637"/>
          </a:xfrm>
        </p:spPr>
        <p:txBody>
          <a:bodyPr rtlCol="0">
            <a:normAutofit/>
          </a:bodyPr>
          <a:lstStyle/>
          <a:p>
            <a:pPr marL="176213" eaLnBrk="1" hangingPunct="1">
              <a:defRPr/>
            </a:pP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2.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진행 일정</a:t>
            </a:r>
            <a:endParaRPr lang="ko-KR" altLang="en-US" sz="1800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6B05DFA8-CA3F-455A-AC23-A6D416D4B6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975340"/>
              </p:ext>
            </p:extLst>
          </p:nvPr>
        </p:nvGraphicFramePr>
        <p:xfrm>
          <a:off x="200472" y="836712"/>
          <a:ext cx="9505060" cy="5400598"/>
        </p:xfrm>
        <a:graphic>
          <a:graphicData uri="http://schemas.openxmlformats.org/drawingml/2006/table">
            <a:tbl>
              <a:tblPr/>
              <a:tblGrid>
                <a:gridCol w="531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3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3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3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33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33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33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3395">
                  <a:extLst>
                    <a:ext uri="{9D8B030D-6E8A-4147-A177-3AD203B41FA5}">
                      <a16:colId xmlns:a16="http://schemas.microsoft.com/office/drawing/2014/main" val="1303879857"/>
                    </a:ext>
                  </a:extLst>
                </a:gridCol>
                <a:gridCol w="2833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339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8339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8339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8339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8339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83395">
                  <a:extLst>
                    <a:ext uri="{9D8B030D-6E8A-4147-A177-3AD203B41FA5}">
                      <a16:colId xmlns:a16="http://schemas.microsoft.com/office/drawing/2014/main" val="3004227240"/>
                    </a:ext>
                  </a:extLst>
                </a:gridCol>
                <a:gridCol w="283395">
                  <a:extLst>
                    <a:ext uri="{9D8B030D-6E8A-4147-A177-3AD203B41FA5}">
                      <a16:colId xmlns:a16="http://schemas.microsoft.com/office/drawing/2014/main" val="2026333995"/>
                    </a:ext>
                  </a:extLst>
                </a:gridCol>
                <a:gridCol w="283395">
                  <a:extLst>
                    <a:ext uri="{9D8B030D-6E8A-4147-A177-3AD203B41FA5}">
                      <a16:colId xmlns:a16="http://schemas.microsoft.com/office/drawing/2014/main" val="1621545245"/>
                    </a:ext>
                  </a:extLst>
                </a:gridCol>
                <a:gridCol w="283395">
                  <a:extLst>
                    <a:ext uri="{9D8B030D-6E8A-4147-A177-3AD203B41FA5}">
                      <a16:colId xmlns:a16="http://schemas.microsoft.com/office/drawing/2014/main" val="3675547276"/>
                    </a:ext>
                  </a:extLst>
                </a:gridCol>
                <a:gridCol w="283395">
                  <a:extLst>
                    <a:ext uri="{9D8B030D-6E8A-4147-A177-3AD203B41FA5}">
                      <a16:colId xmlns:a16="http://schemas.microsoft.com/office/drawing/2014/main" val="2066125188"/>
                    </a:ext>
                  </a:extLst>
                </a:gridCol>
                <a:gridCol w="283395">
                  <a:extLst>
                    <a:ext uri="{9D8B030D-6E8A-4147-A177-3AD203B41FA5}">
                      <a16:colId xmlns:a16="http://schemas.microsoft.com/office/drawing/2014/main" val="1671640425"/>
                    </a:ext>
                  </a:extLst>
                </a:gridCol>
                <a:gridCol w="283395">
                  <a:extLst>
                    <a:ext uri="{9D8B030D-6E8A-4147-A177-3AD203B41FA5}">
                      <a16:colId xmlns:a16="http://schemas.microsoft.com/office/drawing/2014/main" val="4035502160"/>
                    </a:ext>
                  </a:extLst>
                </a:gridCol>
                <a:gridCol w="283395">
                  <a:extLst>
                    <a:ext uri="{9D8B030D-6E8A-4147-A177-3AD203B41FA5}">
                      <a16:colId xmlns:a16="http://schemas.microsoft.com/office/drawing/2014/main" val="1321756145"/>
                    </a:ext>
                  </a:extLst>
                </a:gridCol>
                <a:gridCol w="283395">
                  <a:extLst>
                    <a:ext uri="{9D8B030D-6E8A-4147-A177-3AD203B41FA5}">
                      <a16:colId xmlns:a16="http://schemas.microsoft.com/office/drawing/2014/main" val="3602951311"/>
                    </a:ext>
                  </a:extLst>
                </a:gridCol>
                <a:gridCol w="283395">
                  <a:extLst>
                    <a:ext uri="{9D8B030D-6E8A-4147-A177-3AD203B41FA5}">
                      <a16:colId xmlns:a16="http://schemas.microsoft.com/office/drawing/2014/main" val="3929476535"/>
                    </a:ext>
                  </a:extLst>
                </a:gridCol>
                <a:gridCol w="283395">
                  <a:extLst>
                    <a:ext uri="{9D8B030D-6E8A-4147-A177-3AD203B41FA5}">
                      <a16:colId xmlns:a16="http://schemas.microsoft.com/office/drawing/2014/main" val="1063406730"/>
                    </a:ext>
                  </a:extLst>
                </a:gridCol>
                <a:gridCol w="283395">
                  <a:extLst>
                    <a:ext uri="{9D8B030D-6E8A-4147-A177-3AD203B41FA5}">
                      <a16:colId xmlns:a16="http://schemas.microsoft.com/office/drawing/2014/main" val="274323592"/>
                    </a:ext>
                  </a:extLst>
                </a:gridCol>
                <a:gridCol w="283395">
                  <a:extLst>
                    <a:ext uri="{9D8B030D-6E8A-4147-A177-3AD203B41FA5}">
                      <a16:colId xmlns:a16="http://schemas.microsoft.com/office/drawing/2014/main" val="176086341"/>
                    </a:ext>
                  </a:extLst>
                </a:gridCol>
              </a:tblGrid>
              <a:tr h="27542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작업내역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140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</a:t>
                      </a:r>
                      <a:b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 일정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140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742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주요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Mile Stone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65093"/>
                  </a:ext>
                </a:extLst>
              </a:tr>
              <a:tr h="253140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742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사업관리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140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742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인프라 구축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(H/W)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140">
                <a:tc rowSpan="11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</a:t>
                      </a:r>
                      <a:b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구축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단계별 구축 일정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BDD7EE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BDD7EE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3140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UI/UX Design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BDD7EE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BDD7EE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2889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조직도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 및 </a:t>
                      </a:r>
                      <a:r>
                        <a:rPr lang="ko-KR" alt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기간계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연계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31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coviSmart</a:t>
                      </a:r>
                      <a:r>
                        <a:rPr lang="en-US" altLang="ko-KR" sz="9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그룹웨어 구성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9090862"/>
                  </a:ext>
                </a:extLst>
              </a:tr>
              <a:tr h="1055189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Customization 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및 기타사항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포탈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그룹웨어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게시판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일정관리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자원관리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SSO, Legacy/SMS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연동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조직도 동기화 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056793"/>
                  </a:ext>
                </a:extLst>
              </a:tr>
              <a:tr h="2531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전자결재 기능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4216199"/>
                  </a:ext>
                </a:extLst>
              </a:tr>
              <a:tr h="253140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T-Square 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설치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8581615"/>
                  </a:ext>
                </a:extLst>
              </a:tr>
              <a:tr h="2531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Web Mail 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8894541"/>
                  </a:ext>
                </a:extLst>
              </a:tr>
              <a:tr h="253140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Messenger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구성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31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통합검색 구성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649882"/>
                  </a:ext>
                </a:extLst>
              </a:tr>
              <a:tr h="253140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Mobile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314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</a:t>
                      </a:r>
                      <a:br>
                        <a:rPr lang="en-US" altLang="ko-KR" sz="10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 교육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3140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운영자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관리자 교육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16" name="직사각형 15">
            <a:extLst>
              <a:ext uri="{FF2B5EF4-FFF2-40B4-BE49-F238E27FC236}">
                <a16:creationId xmlns:a16="http://schemas.microsoft.com/office/drawing/2014/main" id="{81358B64-78D2-4C22-9A24-C0984FBF8DC5}"/>
              </a:ext>
            </a:extLst>
          </p:cNvPr>
          <p:cNvSpPr/>
          <p:nvPr/>
        </p:nvSpPr>
        <p:spPr>
          <a:xfrm>
            <a:off x="8405769" y="1124746"/>
            <a:ext cx="1264909" cy="167159"/>
          </a:xfrm>
          <a:prstGeom prst="rect">
            <a:avLst/>
          </a:prstGeom>
          <a:solidFill>
            <a:srgbClr val="0451A0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안정화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00D72FC-525D-41A5-8A99-9AC20D71F1DB}"/>
              </a:ext>
            </a:extLst>
          </p:cNvPr>
          <p:cNvSpPr/>
          <p:nvPr/>
        </p:nvSpPr>
        <p:spPr>
          <a:xfrm>
            <a:off x="2321625" y="1124743"/>
            <a:ext cx="1973538" cy="167162"/>
          </a:xfrm>
          <a:prstGeom prst="rect">
            <a:avLst/>
          </a:prstGeom>
          <a:solidFill>
            <a:srgbClr val="0451A0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착수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분석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24F910D-F7B4-4AF8-BFF0-55C77C61168E}"/>
              </a:ext>
            </a:extLst>
          </p:cNvPr>
          <p:cNvSpPr/>
          <p:nvPr/>
        </p:nvSpPr>
        <p:spPr>
          <a:xfrm>
            <a:off x="4304928" y="1124744"/>
            <a:ext cx="3017423" cy="167161"/>
          </a:xfrm>
          <a:prstGeom prst="rect">
            <a:avLst/>
          </a:prstGeom>
          <a:solidFill>
            <a:srgbClr val="0451A0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 개발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A83BBF1-59BA-4B36-9033-40BF2AE8AEB4}"/>
              </a:ext>
            </a:extLst>
          </p:cNvPr>
          <p:cNvSpPr/>
          <p:nvPr/>
        </p:nvSpPr>
        <p:spPr>
          <a:xfrm>
            <a:off x="7329264" y="1124746"/>
            <a:ext cx="1069592" cy="167159"/>
          </a:xfrm>
          <a:prstGeom prst="rect">
            <a:avLst/>
          </a:prstGeom>
          <a:solidFill>
            <a:srgbClr val="0451A0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테스트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55E16E0-64D5-4DE2-930C-DE49D7E77C3B}"/>
              </a:ext>
            </a:extLst>
          </p:cNvPr>
          <p:cNvGrpSpPr/>
          <p:nvPr/>
        </p:nvGrpSpPr>
        <p:grpSpPr>
          <a:xfrm>
            <a:off x="2673485" y="1332159"/>
            <a:ext cx="415542" cy="218288"/>
            <a:chOff x="4358615" y="1818554"/>
            <a:chExt cx="397985" cy="185562"/>
          </a:xfrm>
        </p:grpSpPr>
        <p:sp>
          <p:nvSpPr>
            <p:cNvPr id="21" name="AutoShape 403">
              <a:extLst>
                <a:ext uri="{FF2B5EF4-FFF2-40B4-BE49-F238E27FC236}">
                  <a16:creationId xmlns:a16="http://schemas.microsoft.com/office/drawing/2014/main" id="{22498B0A-E408-47EE-A69B-3F8491A34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2153" y="1818554"/>
              <a:ext cx="97855" cy="70352"/>
            </a:xfrm>
            <a:prstGeom prst="triangle">
              <a:avLst>
                <a:gd name="adj" fmla="val 50000"/>
              </a:avLst>
            </a:prstGeom>
            <a:solidFill>
              <a:srgbClr val="CC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endParaRPr lang="ko-KR" altLang="en-US" sz="8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2" name="Text Box 406">
              <a:extLst>
                <a:ext uri="{FF2B5EF4-FFF2-40B4-BE49-F238E27FC236}">
                  <a16:creationId xmlns:a16="http://schemas.microsoft.com/office/drawing/2014/main" id="{55D2EA67-296B-46C6-B1C9-8191C6E926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8615" y="1896565"/>
              <a:ext cx="397985" cy="10755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ko-KR" altLang="en-US" sz="800" b="1" i="1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착수보고</a:t>
              </a:r>
              <a:endParaRPr lang="en-US" altLang="ko-KR" sz="800" b="1" i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EEC1EB32-02FC-4795-B322-F0F1E51B3031}"/>
              </a:ext>
            </a:extLst>
          </p:cNvPr>
          <p:cNvGrpSpPr/>
          <p:nvPr/>
        </p:nvGrpSpPr>
        <p:grpSpPr>
          <a:xfrm>
            <a:off x="9201170" y="1340548"/>
            <a:ext cx="415544" cy="218288"/>
            <a:chOff x="9346531" y="1818554"/>
            <a:chExt cx="397981" cy="185562"/>
          </a:xfrm>
        </p:grpSpPr>
        <p:sp>
          <p:nvSpPr>
            <p:cNvPr id="24" name="AutoShape 403">
              <a:extLst>
                <a:ext uri="{FF2B5EF4-FFF2-40B4-BE49-F238E27FC236}">
                  <a16:creationId xmlns:a16="http://schemas.microsoft.com/office/drawing/2014/main" id="{9D5159BE-4794-4806-8918-FE178A120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11170" y="1818554"/>
              <a:ext cx="97854" cy="70352"/>
            </a:xfrm>
            <a:prstGeom prst="triangle">
              <a:avLst>
                <a:gd name="adj" fmla="val 50000"/>
              </a:avLst>
            </a:prstGeom>
            <a:solidFill>
              <a:srgbClr val="CC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endParaRPr lang="ko-KR" altLang="en-US" sz="8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Text Box 406">
              <a:extLst>
                <a:ext uri="{FF2B5EF4-FFF2-40B4-BE49-F238E27FC236}">
                  <a16:creationId xmlns:a16="http://schemas.microsoft.com/office/drawing/2014/main" id="{08F7DCC5-A1BF-4AC5-AAB2-03ACEEBD98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46531" y="1896565"/>
              <a:ext cx="397981" cy="10755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ko-KR" altLang="en-US" sz="800" b="1" i="1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완료보고</a:t>
              </a:r>
              <a:endParaRPr lang="en-US" altLang="ko-KR" sz="800" b="1" i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B3C712B7-8907-49A9-AAB0-905E220FDAA6}"/>
              </a:ext>
            </a:extLst>
          </p:cNvPr>
          <p:cNvGrpSpPr/>
          <p:nvPr/>
        </p:nvGrpSpPr>
        <p:grpSpPr>
          <a:xfrm>
            <a:off x="5236257" y="1341307"/>
            <a:ext cx="415542" cy="218022"/>
            <a:chOff x="7880142" y="1826327"/>
            <a:chExt cx="397984" cy="185336"/>
          </a:xfrm>
        </p:grpSpPr>
        <p:sp>
          <p:nvSpPr>
            <p:cNvPr id="27" name="AutoShape 403">
              <a:extLst>
                <a:ext uri="{FF2B5EF4-FFF2-40B4-BE49-F238E27FC236}">
                  <a16:creationId xmlns:a16="http://schemas.microsoft.com/office/drawing/2014/main" id="{31E3B3BD-C36E-4ED3-94F0-597EF56915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46052" y="1826327"/>
              <a:ext cx="97855" cy="70352"/>
            </a:xfrm>
            <a:prstGeom prst="triangle">
              <a:avLst>
                <a:gd name="adj" fmla="val 50000"/>
              </a:avLst>
            </a:prstGeom>
            <a:solidFill>
              <a:srgbClr val="CC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endParaRPr lang="ko-KR" altLang="en-US" sz="8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8" name="Text Box 406">
              <a:extLst>
                <a:ext uri="{FF2B5EF4-FFF2-40B4-BE49-F238E27FC236}">
                  <a16:creationId xmlns:a16="http://schemas.microsoft.com/office/drawing/2014/main" id="{120B68C2-1BCB-4023-9812-CED2A12F55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80142" y="1904112"/>
              <a:ext cx="397984" cy="10755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ko-KR" altLang="en-US" sz="800" b="1" i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중간보고</a:t>
              </a:r>
              <a:endParaRPr lang="en-US" altLang="ko-KR" sz="800" b="1" i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DB764F64-8747-4053-9DAC-477C138257FA}"/>
              </a:ext>
            </a:extLst>
          </p:cNvPr>
          <p:cNvGrpSpPr/>
          <p:nvPr/>
        </p:nvGrpSpPr>
        <p:grpSpPr>
          <a:xfrm>
            <a:off x="8139141" y="1356643"/>
            <a:ext cx="519429" cy="218287"/>
            <a:chOff x="8897634" y="1818560"/>
            <a:chExt cx="497477" cy="185561"/>
          </a:xfrm>
        </p:grpSpPr>
        <p:sp>
          <p:nvSpPr>
            <p:cNvPr id="30" name="AutoShape 403">
              <a:extLst>
                <a:ext uri="{FF2B5EF4-FFF2-40B4-BE49-F238E27FC236}">
                  <a16:creationId xmlns:a16="http://schemas.microsoft.com/office/drawing/2014/main" id="{119690E0-F827-4BA9-8146-5FBDCFD12C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08075" y="1818560"/>
              <a:ext cx="97854" cy="70352"/>
            </a:xfrm>
            <a:prstGeom prst="triangle">
              <a:avLst>
                <a:gd name="adj" fmla="val 50000"/>
              </a:avLst>
            </a:prstGeom>
            <a:solidFill>
              <a:srgbClr val="CC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endParaRPr lang="ko-KR" altLang="en-US" sz="8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" name="Text Box 406">
              <a:extLst>
                <a:ext uri="{FF2B5EF4-FFF2-40B4-BE49-F238E27FC236}">
                  <a16:creationId xmlns:a16="http://schemas.microsoft.com/office/drawing/2014/main" id="{E95618D6-03EB-4127-84C2-F5EDE466B9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97634" y="1896570"/>
              <a:ext cx="497477" cy="10755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ko-KR" altLang="en-US" sz="800" b="1" i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시스템오픈</a:t>
              </a:r>
              <a:endParaRPr lang="en-US" altLang="ko-KR" sz="800" b="1" i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3F9569F4-5F45-4082-94F0-75643B278019}"/>
              </a:ext>
            </a:extLst>
          </p:cNvPr>
          <p:cNvGrpSpPr/>
          <p:nvPr/>
        </p:nvGrpSpPr>
        <p:grpSpPr>
          <a:xfrm>
            <a:off x="2321624" y="1575128"/>
            <a:ext cx="7349053" cy="269697"/>
            <a:chOff x="3972637" y="2457489"/>
            <a:chExt cx="6133637" cy="107548"/>
          </a:xfrm>
        </p:grpSpPr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7F70F26-A4C4-4D76-8F22-112D3E373E9C}"/>
                </a:ext>
              </a:extLst>
            </p:cNvPr>
            <p:cNvCxnSpPr/>
            <p:nvPr/>
          </p:nvCxnSpPr>
          <p:spPr>
            <a:xfrm>
              <a:off x="3972637" y="2478887"/>
              <a:ext cx="6133637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 Box 406">
              <a:extLst>
                <a:ext uri="{FF2B5EF4-FFF2-40B4-BE49-F238E27FC236}">
                  <a16:creationId xmlns:a16="http://schemas.microsoft.com/office/drawing/2014/main" id="{953F9B3B-FC07-4185-9CFD-4DDAE85E58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33963" y="2457489"/>
              <a:ext cx="2923241" cy="1075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en-US" altLang="ko-KR" sz="800" b="1" i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800" b="1" i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사업기간 중 지속적인 지원 </a:t>
              </a:r>
              <a:r>
                <a:rPr lang="en-US" altLang="ko-KR" sz="800" b="1" i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800" b="1" i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관리 </a:t>
              </a:r>
              <a:r>
                <a:rPr lang="en-US" altLang="ko-KR" sz="800" b="1" i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800" b="1" i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주간보고</a:t>
              </a:r>
              <a:r>
                <a:rPr lang="en-US" altLang="ko-KR" sz="800" b="1" i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b="1" i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월간보고</a:t>
              </a:r>
              <a:r>
                <a:rPr lang="en-US" altLang="ko-KR" sz="800" b="1" i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QA </a:t>
              </a:r>
              <a:r>
                <a:rPr lang="ko-KR" altLang="en-US" sz="800" b="1" i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실시 등</a:t>
              </a:r>
              <a:r>
                <a:rPr lang="en-US" altLang="ko-KR" sz="800" b="1" i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CE72EF9C-3295-4E0D-8991-BA7B11E5A8B0}"/>
              </a:ext>
            </a:extLst>
          </p:cNvPr>
          <p:cNvGrpSpPr/>
          <p:nvPr/>
        </p:nvGrpSpPr>
        <p:grpSpPr>
          <a:xfrm>
            <a:off x="3136244" y="1865327"/>
            <a:ext cx="1297755" cy="127661"/>
            <a:chOff x="5076439" y="2655707"/>
            <a:chExt cx="1371766" cy="111064"/>
          </a:xfrm>
        </p:grpSpPr>
        <p:sp>
          <p:nvSpPr>
            <p:cNvPr id="36" name="다이아몬드 35">
              <a:extLst>
                <a:ext uri="{FF2B5EF4-FFF2-40B4-BE49-F238E27FC236}">
                  <a16:creationId xmlns:a16="http://schemas.microsoft.com/office/drawing/2014/main" id="{88AEF2E9-1BAF-46DE-A864-C5277474B344}"/>
                </a:ext>
              </a:extLst>
            </p:cNvPr>
            <p:cNvSpPr/>
            <p:nvPr/>
          </p:nvSpPr>
          <p:spPr>
            <a:xfrm>
              <a:off x="5076439" y="2655707"/>
              <a:ext cx="107277" cy="99477"/>
            </a:xfrm>
            <a:prstGeom prst="diamond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7" name="Text Box 406">
              <a:extLst>
                <a:ext uri="{FF2B5EF4-FFF2-40B4-BE49-F238E27FC236}">
                  <a16:creationId xmlns:a16="http://schemas.microsoft.com/office/drawing/2014/main" id="{9629A18B-1831-4FCD-94BD-154C5A018B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8054" y="2659666"/>
              <a:ext cx="1230151" cy="10710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ko-KR" altLang="en-US" sz="800" b="1" i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환경구성</a:t>
              </a:r>
              <a:r>
                <a:rPr lang="en-US" altLang="ko-KR" sz="800" b="1" i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800" b="1" i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개발</a:t>
              </a:r>
              <a:r>
                <a:rPr lang="en-US" altLang="ko-KR" sz="800" b="1" i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b="1" i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운영서버</a:t>
              </a:r>
              <a:r>
                <a:rPr lang="en-US" altLang="ko-KR" sz="800" b="1" i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DFB7045A-AC51-4380-A20C-6E2B9E386702}"/>
              </a:ext>
            </a:extLst>
          </p:cNvPr>
          <p:cNvGrpSpPr/>
          <p:nvPr/>
        </p:nvGrpSpPr>
        <p:grpSpPr>
          <a:xfrm>
            <a:off x="7408218" y="1856981"/>
            <a:ext cx="772650" cy="127562"/>
            <a:chOff x="6798187" y="2655746"/>
            <a:chExt cx="816734" cy="110977"/>
          </a:xfrm>
        </p:grpSpPr>
        <p:sp>
          <p:nvSpPr>
            <p:cNvPr id="39" name="다이아몬드 38">
              <a:extLst>
                <a:ext uri="{FF2B5EF4-FFF2-40B4-BE49-F238E27FC236}">
                  <a16:creationId xmlns:a16="http://schemas.microsoft.com/office/drawing/2014/main" id="{CDD66D5E-4E8E-471F-A595-678E2B472014}"/>
                </a:ext>
              </a:extLst>
            </p:cNvPr>
            <p:cNvSpPr/>
            <p:nvPr/>
          </p:nvSpPr>
          <p:spPr>
            <a:xfrm>
              <a:off x="6798187" y="2655746"/>
              <a:ext cx="107278" cy="99480"/>
            </a:xfrm>
            <a:prstGeom prst="diamond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0" name="Text Box 406">
              <a:extLst>
                <a:ext uri="{FF2B5EF4-FFF2-40B4-BE49-F238E27FC236}">
                  <a16:creationId xmlns:a16="http://schemas.microsoft.com/office/drawing/2014/main" id="{A3336BE2-5B1E-427D-AAA6-1D46A2B7C0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5273" y="2659619"/>
              <a:ext cx="689648" cy="10710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ko-KR" altLang="en-US" sz="800" b="1" i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운영환경 확인</a:t>
              </a:r>
              <a:endParaRPr lang="en-US" altLang="ko-KR" sz="800" b="1" i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2E2F8D5-ED2C-4AF0-A6C5-F1B90991B75E}"/>
              </a:ext>
            </a:extLst>
          </p:cNvPr>
          <p:cNvSpPr/>
          <p:nvPr/>
        </p:nvSpPr>
        <p:spPr>
          <a:xfrm>
            <a:off x="2346960" y="2155972"/>
            <a:ext cx="216000" cy="3540154"/>
          </a:xfrm>
          <a:prstGeom prst="rect">
            <a:avLst/>
          </a:prstGeom>
          <a:solidFill>
            <a:schemeClr val="tx2">
              <a:lumMod val="75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착</a:t>
            </a:r>
            <a:endParaRPr lang="en-US" altLang="ko-KR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</a:t>
            </a:r>
            <a:endParaRPr lang="en-US" altLang="ko-KR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준</a:t>
            </a:r>
            <a:endParaRPr lang="en-US" altLang="ko-KR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FD48E69-D5E7-41E4-98CD-385E1A084097}"/>
              </a:ext>
            </a:extLst>
          </p:cNvPr>
          <p:cNvSpPr/>
          <p:nvPr/>
        </p:nvSpPr>
        <p:spPr>
          <a:xfrm>
            <a:off x="2583810" y="2155971"/>
            <a:ext cx="1711353" cy="209724"/>
          </a:xfrm>
          <a:prstGeom prst="rect">
            <a:avLst/>
          </a:prstGeom>
          <a:solidFill>
            <a:schemeClr val="tx2">
              <a:lumMod val="75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분석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설계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2545978D-4FAF-4CCB-9B34-E9E33BDCAC50}"/>
              </a:ext>
            </a:extLst>
          </p:cNvPr>
          <p:cNvSpPr/>
          <p:nvPr/>
        </p:nvSpPr>
        <p:spPr>
          <a:xfrm>
            <a:off x="4311941" y="2155971"/>
            <a:ext cx="3003259" cy="209724"/>
          </a:xfrm>
          <a:prstGeom prst="rect">
            <a:avLst/>
          </a:prstGeom>
          <a:solidFill>
            <a:schemeClr val="tx2">
              <a:lumMod val="75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개발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A5C7B7B-5331-472B-BCF5-259D3EC2F714}"/>
              </a:ext>
            </a:extLst>
          </p:cNvPr>
          <p:cNvSpPr/>
          <p:nvPr/>
        </p:nvSpPr>
        <p:spPr>
          <a:xfrm>
            <a:off x="8598716" y="2176517"/>
            <a:ext cx="1074846" cy="3519607"/>
          </a:xfrm>
          <a:prstGeom prst="rect">
            <a:avLst/>
          </a:prstGeom>
          <a:solidFill>
            <a:srgbClr val="06A64E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안정화</a:t>
            </a:r>
            <a:b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지원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D0A5925-A6AE-4ECE-958D-621FB1C3C43C}"/>
              </a:ext>
            </a:extLst>
          </p:cNvPr>
          <p:cNvSpPr/>
          <p:nvPr/>
        </p:nvSpPr>
        <p:spPr>
          <a:xfrm>
            <a:off x="7331978" y="2168294"/>
            <a:ext cx="1233182" cy="35278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단위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통합</a:t>
            </a:r>
            <a:b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테스트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755DE25-3F5B-4B9A-9C3B-CC06C1E041D1}"/>
              </a:ext>
            </a:extLst>
          </p:cNvPr>
          <p:cNvSpPr/>
          <p:nvPr/>
        </p:nvSpPr>
        <p:spPr>
          <a:xfrm>
            <a:off x="3736620" y="2399251"/>
            <a:ext cx="856340" cy="218114"/>
          </a:xfrm>
          <a:prstGeom prst="rect">
            <a:avLst/>
          </a:prstGeom>
          <a:solidFill>
            <a:schemeClr val="accent1">
              <a:lumMod val="75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시안 작성 및 검토</a:t>
            </a:r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적용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6EBC638-28FA-4A94-9ECF-2765071B4D9D}"/>
              </a:ext>
            </a:extLst>
          </p:cNvPr>
          <p:cNvSpPr/>
          <p:nvPr/>
        </p:nvSpPr>
        <p:spPr>
          <a:xfrm>
            <a:off x="3010959" y="2399251"/>
            <a:ext cx="721910" cy="218113"/>
          </a:xfrm>
          <a:prstGeom prst="rect">
            <a:avLst/>
          </a:prstGeom>
          <a:solidFill>
            <a:schemeClr val="bg2">
              <a:lumMod val="50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분석</a:t>
            </a:r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설계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96A6605-1E51-4901-BBD7-691518A885C0}"/>
              </a:ext>
            </a:extLst>
          </p:cNvPr>
          <p:cNvSpPr/>
          <p:nvPr/>
        </p:nvSpPr>
        <p:spPr>
          <a:xfrm>
            <a:off x="6221431" y="2399252"/>
            <a:ext cx="1093769" cy="218114"/>
          </a:xfrm>
          <a:prstGeom prst="rect">
            <a:avLst/>
          </a:prstGeom>
          <a:solidFill>
            <a:schemeClr val="accent1">
              <a:lumMod val="75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적용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9E507B51-256C-4C1E-B0B6-1033D5CC871D}"/>
              </a:ext>
            </a:extLst>
          </p:cNvPr>
          <p:cNvSpPr/>
          <p:nvPr/>
        </p:nvSpPr>
        <p:spPr>
          <a:xfrm>
            <a:off x="3878461" y="2650921"/>
            <a:ext cx="856340" cy="218114"/>
          </a:xfrm>
          <a:prstGeom prst="rect">
            <a:avLst/>
          </a:prstGeom>
          <a:solidFill>
            <a:schemeClr val="accent1">
              <a:lumMod val="75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요구기능 구현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751440B-FBD8-432A-A9F9-A08796FE68A5}"/>
              </a:ext>
            </a:extLst>
          </p:cNvPr>
          <p:cNvSpPr/>
          <p:nvPr/>
        </p:nvSpPr>
        <p:spPr>
          <a:xfrm>
            <a:off x="3152800" y="2650921"/>
            <a:ext cx="721910" cy="218113"/>
          </a:xfrm>
          <a:prstGeom prst="rect">
            <a:avLst/>
          </a:prstGeom>
          <a:solidFill>
            <a:schemeClr val="bg2">
              <a:lumMod val="50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분석</a:t>
            </a:r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설계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88B7DD6-8CDA-44BB-BA2A-C2A3A94FBA43}"/>
              </a:ext>
            </a:extLst>
          </p:cNvPr>
          <p:cNvSpPr/>
          <p:nvPr/>
        </p:nvSpPr>
        <p:spPr>
          <a:xfrm>
            <a:off x="6221431" y="2650920"/>
            <a:ext cx="1093769" cy="218114"/>
          </a:xfrm>
          <a:prstGeom prst="rect">
            <a:avLst/>
          </a:prstGeom>
          <a:solidFill>
            <a:schemeClr val="accent1">
              <a:lumMod val="75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구현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4E933F91-DFCF-4330-AC32-39C331F3C4EB}"/>
              </a:ext>
            </a:extLst>
          </p:cNvPr>
          <p:cNvSpPr/>
          <p:nvPr/>
        </p:nvSpPr>
        <p:spPr>
          <a:xfrm>
            <a:off x="6221431" y="2910979"/>
            <a:ext cx="1093769" cy="218114"/>
          </a:xfrm>
          <a:prstGeom prst="rect">
            <a:avLst/>
          </a:prstGeom>
          <a:solidFill>
            <a:schemeClr val="accent1">
              <a:lumMod val="75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구현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68CC6EA-4352-4369-B313-4DB2B2451045}"/>
              </a:ext>
            </a:extLst>
          </p:cNvPr>
          <p:cNvSpPr/>
          <p:nvPr/>
        </p:nvSpPr>
        <p:spPr>
          <a:xfrm>
            <a:off x="4048150" y="3197874"/>
            <a:ext cx="3250272" cy="971454"/>
          </a:xfrm>
          <a:prstGeom prst="rect">
            <a:avLst/>
          </a:prstGeom>
          <a:solidFill>
            <a:schemeClr val="accent1">
              <a:lumMod val="75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요구기능 구현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9B6B9DA-E535-45AA-9F5C-25817A97083E}"/>
              </a:ext>
            </a:extLst>
          </p:cNvPr>
          <p:cNvSpPr/>
          <p:nvPr/>
        </p:nvSpPr>
        <p:spPr>
          <a:xfrm>
            <a:off x="2625754" y="3199290"/>
            <a:ext cx="1392573" cy="970038"/>
          </a:xfrm>
          <a:prstGeom prst="rect">
            <a:avLst/>
          </a:prstGeom>
          <a:solidFill>
            <a:schemeClr val="bg2">
              <a:lumMod val="50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분석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설계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EF98052A-E505-4195-BC4A-839EBCABBB85}"/>
              </a:ext>
            </a:extLst>
          </p:cNvPr>
          <p:cNvSpPr/>
          <p:nvPr/>
        </p:nvSpPr>
        <p:spPr>
          <a:xfrm>
            <a:off x="4048150" y="4199479"/>
            <a:ext cx="3250272" cy="252000"/>
          </a:xfrm>
          <a:prstGeom prst="rect">
            <a:avLst/>
          </a:prstGeom>
          <a:solidFill>
            <a:schemeClr val="accent1">
              <a:lumMod val="75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요구기능 구현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6028EA01-CB56-4A4C-A8EC-4BFDC16886BA}"/>
              </a:ext>
            </a:extLst>
          </p:cNvPr>
          <p:cNvSpPr/>
          <p:nvPr/>
        </p:nvSpPr>
        <p:spPr>
          <a:xfrm>
            <a:off x="2630072" y="4213411"/>
            <a:ext cx="1388255" cy="239059"/>
          </a:xfrm>
          <a:prstGeom prst="rect">
            <a:avLst/>
          </a:prstGeom>
          <a:solidFill>
            <a:schemeClr val="bg2">
              <a:lumMod val="50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분석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설계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EBBEB972-8E94-4C19-BBFD-F278CFC29339}"/>
              </a:ext>
            </a:extLst>
          </p:cNvPr>
          <p:cNvSpPr/>
          <p:nvPr/>
        </p:nvSpPr>
        <p:spPr>
          <a:xfrm>
            <a:off x="3024095" y="4520418"/>
            <a:ext cx="416738" cy="169127"/>
          </a:xfrm>
          <a:prstGeom prst="rect">
            <a:avLst/>
          </a:prstGeom>
          <a:solidFill>
            <a:schemeClr val="accent1">
              <a:lumMod val="75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설치</a:t>
            </a:r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21EA9F7B-311B-41F2-97BC-3A934072E3A8}"/>
              </a:ext>
            </a:extLst>
          </p:cNvPr>
          <p:cNvSpPr/>
          <p:nvPr/>
        </p:nvSpPr>
        <p:spPr>
          <a:xfrm>
            <a:off x="5476926" y="4520418"/>
            <a:ext cx="595168" cy="673135"/>
          </a:xfrm>
          <a:prstGeom prst="rect">
            <a:avLst/>
          </a:prstGeom>
          <a:solidFill>
            <a:schemeClr val="accent1">
              <a:lumMod val="75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운영</a:t>
            </a:r>
            <a:endParaRPr lang="en-US" altLang="ko-KR" sz="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설치</a:t>
            </a:r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CAD85D78-9C8A-4654-BB36-F84ECD8C28BD}"/>
              </a:ext>
            </a:extLst>
          </p:cNvPr>
          <p:cNvSpPr/>
          <p:nvPr/>
        </p:nvSpPr>
        <p:spPr>
          <a:xfrm>
            <a:off x="4164791" y="4740342"/>
            <a:ext cx="544658" cy="441258"/>
          </a:xfrm>
          <a:prstGeom prst="rect">
            <a:avLst/>
          </a:prstGeom>
          <a:solidFill>
            <a:schemeClr val="bg2">
              <a:lumMod val="50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개발</a:t>
            </a:r>
            <a:endParaRPr lang="en-US" altLang="ko-KR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설치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B4BF705D-CD2D-4967-82E4-D38715DE4BAF}"/>
              </a:ext>
            </a:extLst>
          </p:cNvPr>
          <p:cNvSpPr/>
          <p:nvPr/>
        </p:nvSpPr>
        <p:spPr>
          <a:xfrm>
            <a:off x="4164791" y="5252207"/>
            <a:ext cx="717986" cy="216264"/>
          </a:xfrm>
          <a:prstGeom prst="rect">
            <a:avLst/>
          </a:prstGeom>
          <a:solidFill>
            <a:schemeClr val="bg2">
              <a:lumMod val="50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분석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설계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097ABA05-4946-4BF5-91F0-55E87FDFDA99}"/>
              </a:ext>
            </a:extLst>
          </p:cNvPr>
          <p:cNvSpPr/>
          <p:nvPr/>
        </p:nvSpPr>
        <p:spPr>
          <a:xfrm>
            <a:off x="5465732" y="5258184"/>
            <a:ext cx="1152846" cy="213230"/>
          </a:xfrm>
          <a:prstGeom prst="rect">
            <a:avLst/>
          </a:prstGeom>
          <a:solidFill>
            <a:schemeClr val="accent1">
              <a:lumMod val="75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구현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3592B84D-1A1F-4290-AB34-F26D21BFD8F2}"/>
              </a:ext>
            </a:extLst>
          </p:cNvPr>
          <p:cNvSpPr/>
          <p:nvPr/>
        </p:nvSpPr>
        <p:spPr>
          <a:xfrm>
            <a:off x="3732869" y="5508314"/>
            <a:ext cx="717986" cy="198334"/>
          </a:xfrm>
          <a:prstGeom prst="rect">
            <a:avLst/>
          </a:prstGeom>
          <a:solidFill>
            <a:schemeClr val="bg2">
              <a:lumMod val="50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분석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설계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D795E42B-60BF-4B0E-8875-8A3FDDBC475F}"/>
              </a:ext>
            </a:extLst>
          </p:cNvPr>
          <p:cNvSpPr/>
          <p:nvPr/>
        </p:nvSpPr>
        <p:spPr>
          <a:xfrm>
            <a:off x="4520039" y="5494849"/>
            <a:ext cx="1076138" cy="213230"/>
          </a:xfrm>
          <a:prstGeom prst="rect">
            <a:avLst/>
          </a:prstGeom>
          <a:solidFill>
            <a:schemeClr val="accent1">
              <a:lumMod val="75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구현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300F9321-28D2-4163-BEB8-41D4284CEE7B}"/>
              </a:ext>
            </a:extLst>
          </p:cNvPr>
          <p:cNvSpPr/>
          <p:nvPr/>
        </p:nvSpPr>
        <p:spPr>
          <a:xfrm>
            <a:off x="2758214" y="5486650"/>
            <a:ext cx="666580" cy="169127"/>
          </a:xfrm>
          <a:prstGeom prst="rect">
            <a:avLst/>
          </a:prstGeom>
          <a:solidFill>
            <a:schemeClr val="accent1">
              <a:lumMod val="75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사용자교육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AE6802DA-8991-4B96-A0AE-06C7052AA7DA}"/>
              </a:ext>
            </a:extLst>
          </p:cNvPr>
          <p:cNvSpPr/>
          <p:nvPr/>
        </p:nvSpPr>
        <p:spPr>
          <a:xfrm>
            <a:off x="7721129" y="6018349"/>
            <a:ext cx="1166515" cy="169127"/>
          </a:xfrm>
          <a:prstGeom prst="rect">
            <a:avLst/>
          </a:prstGeom>
          <a:solidFill>
            <a:schemeClr val="accent1">
              <a:lumMod val="75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관리자교육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인수인계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03B57DB8-8929-4D16-AEC8-11F358BE781F}"/>
              </a:ext>
            </a:extLst>
          </p:cNvPr>
          <p:cNvSpPr/>
          <p:nvPr/>
        </p:nvSpPr>
        <p:spPr>
          <a:xfrm>
            <a:off x="7730022" y="5782128"/>
            <a:ext cx="708241" cy="169127"/>
          </a:xfrm>
          <a:prstGeom prst="rect">
            <a:avLst/>
          </a:prstGeom>
          <a:solidFill>
            <a:schemeClr val="accent1">
              <a:lumMod val="75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사용자교육</a:t>
            </a: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5EC58055-6D49-4BBD-AC78-9C0FFF234907}"/>
              </a:ext>
            </a:extLst>
          </p:cNvPr>
          <p:cNvGrpSpPr/>
          <p:nvPr/>
        </p:nvGrpSpPr>
        <p:grpSpPr>
          <a:xfrm>
            <a:off x="2850004" y="5232251"/>
            <a:ext cx="565955" cy="129632"/>
            <a:chOff x="6511892" y="2146454"/>
            <a:chExt cx="542046" cy="110195"/>
          </a:xfrm>
        </p:grpSpPr>
        <p:sp>
          <p:nvSpPr>
            <p:cNvPr id="68" name="다이아몬드 67">
              <a:extLst>
                <a:ext uri="{FF2B5EF4-FFF2-40B4-BE49-F238E27FC236}">
                  <a16:creationId xmlns:a16="http://schemas.microsoft.com/office/drawing/2014/main" id="{9AD64C40-4708-4BBE-B8E5-21D6EC484F52}"/>
                </a:ext>
              </a:extLst>
            </p:cNvPr>
            <p:cNvSpPr/>
            <p:nvPr/>
          </p:nvSpPr>
          <p:spPr>
            <a:xfrm>
              <a:off x="6511892" y="2146454"/>
              <a:ext cx="97200" cy="97200"/>
            </a:xfrm>
            <a:prstGeom prst="diamond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9" name="Text Box 406">
              <a:extLst>
                <a:ext uri="{FF2B5EF4-FFF2-40B4-BE49-F238E27FC236}">
                  <a16:creationId xmlns:a16="http://schemas.microsoft.com/office/drawing/2014/main" id="{2CF8F1C4-2711-419A-8459-48847CD3D6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5954" y="2149100"/>
              <a:ext cx="397984" cy="10754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ko-KR" altLang="en-US" sz="800" b="1" i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오픈공지</a:t>
              </a:r>
              <a:endParaRPr lang="en-US" altLang="ko-KR" sz="800" b="1" i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70" name="모서리가 둥근 사각형 설명선 84">
            <a:extLst>
              <a:ext uri="{FF2B5EF4-FFF2-40B4-BE49-F238E27FC236}">
                <a16:creationId xmlns:a16="http://schemas.microsoft.com/office/drawing/2014/main" id="{CB8B1870-52FE-4A0C-8D19-32232693ABFA}"/>
              </a:ext>
            </a:extLst>
          </p:cNvPr>
          <p:cNvSpPr/>
          <p:nvPr/>
        </p:nvSpPr>
        <p:spPr>
          <a:xfrm>
            <a:off x="4592960" y="5949683"/>
            <a:ext cx="803359" cy="341287"/>
          </a:xfrm>
          <a:prstGeom prst="wedgeRoundRectCallout">
            <a:avLst>
              <a:gd name="adj1" fmla="val 82671"/>
              <a:gd name="adj2" fmla="val -92967"/>
              <a:gd name="adj3" fmla="val 16667"/>
            </a:avLst>
          </a:prstGeom>
          <a:solidFill>
            <a:srgbClr val="FFC000"/>
          </a:solidFill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진행중</a:t>
            </a: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37FC8A8A-BAAF-454E-BC13-7E818037F3FE}"/>
              </a:ext>
            </a:extLst>
          </p:cNvPr>
          <p:cNvCxnSpPr/>
          <p:nvPr/>
        </p:nvCxnSpPr>
        <p:spPr>
          <a:xfrm>
            <a:off x="5664128" y="1149168"/>
            <a:ext cx="0" cy="5088142"/>
          </a:xfrm>
          <a:prstGeom prst="line">
            <a:avLst/>
          </a:prstGeom>
          <a:ln w="28575">
            <a:solidFill>
              <a:srgbClr val="FF0000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5419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 bwMode="gray">
          <a:xfrm>
            <a:off x="0" y="17463"/>
            <a:ext cx="8193088" cy="655637"/>
          </a:xfrm>
        </p:spPr>
        <p:txBody>
          <a:bodyPr rtlCol="0">
            <a:normAutofit/>
          </a:bodyPr>
          <a:lstStyle/>
          <a:p>
            <a:pPr marL="176213" eaLnBrk="1" hangingPunct="1">
              <a:defRPr/>
            </a:pP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3.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실적 및 </a:t>
            </a:r>
            <a:r>
              <a:rPr lang="ko-KR" altLang="en-US" dirty="0" err="1">
                <a:latin typeface="맑은 고딕" pitchFamily="50" charset="-127"/>
                <a:ea typeface="맑은 고딕" pitchFamily="50" charset="-127"/>
              </a:rPr>
              <a:t>계회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dirty="0">
                <a:latin typeface="맑은 고딕" pitchFamily="50" charset="-127"/>
              </a:rPr>
              <a:t>(</a:t>
            </a:r>
            <a:r>
              <a:rPr lang="ko-KR" altLang="en-US" sz="1400" dirty="0">
                <a:latin typeface="맑은 고딕" pitchFamily="50" charset="-127"/>
              </a:rPr>
              <a:t>계획 </a:t>
            </a:r>
            <a:r>
              <a:rPr lang="en-US" altLang="ko-KR" sz="1400" dirty="0">
                <a:latin typeface="맑은 고딕" pitchFamily="50" charset="-127"/>
              </a:rPr>
              <a:t>: </a:t>
            </a:r>
            <a:r>
              <a:rPr lang="en-US" altLang="ko-KR" sz="1400" dirty="0" err="1">
                <a:latin typeface="맑은 고딕" pitchFamily="50" charset="-127"/>
              </a:rPr>
              <a:t>xx.xx</a:t>
            </a:r>
            <a:r>
              <a:rPr lang="en-US" altLang="ko-KR" sz="1400" dirty="0">
                <a:latin typeface="맑은 고딕" pitchFamily="50" charset="-127"/>
              </a:rPr>
              <a:t>% / </a:t>
            </a:r>
            <a:r>
              <a:rPr lang="ko-KR" altLang="en-US" sz="1400" dirty="0">
                <a:latin typeface="맑은 고딕" pitchFamily="50" charset="-127"/>
              </a:rPr>
              <a:t>실적 </a:t>
            </a:r>
            <a:r>
              <a:rPr lang="en-US" altLang="ko-KR" sz="1400" dirty="0">
                <a:latin typeface="맑은 고딕" pitchFamily="50" charset="-127"/>
              </a:rPr>
              <a:t>: </a:t>
            </a:r>
            <a:r>
              <a:rPr lang="en-US" altLang="ko-KR" sz="1400" dirty="0" err="1">
                <a:latin typeface="맑은 고딕" pitchFamily="50" charset="-127"/>
              </a:rPr>
              <a:t>xx.xx</a:t>
            </a:r>
            <a:r>
              <a:rPr lang="en-US" altLang="ko-KR" sz="1400" dirty="0">
                <a:latin typeface="맑은 고딕" pitchFamily="50" charset="-127"/>
              </a:rPr>
              <a:t>%)</a:t>
            </a:r>
            <a:endParaRPr lang="ko-KR" altLang="en-US" sz="1800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5" name="내용 개체 틀 9">
            <a:extLst>
              <a:ext uri="{FF2B5EF4-FFF2-40B4-BE49-F238E27FC236}">
                <a16:creationId xmlns:a16="http://schemas.microsoft.com/office/drawing/2014/main" id="{BD6AFD28-2187-46CD-B9D8-891B3792D1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1839328"/>
              </p:ext>
            </p:extLst>
          </p:nvPr>
        </p:nvGraphicFramePr>
        <p:xfrm>
          <a:off x="272480" y="909870"/>
          <a:ext cx="9361040" cy="5182096"/>
        </p:xfrm>
        <a:graphic>
          <a:graphicData uri="http://schemas.openxmlformats.org/drawingml/2006/table">
            <a:tbl>
              <a:tblPr firstRow="1" bandRow="1"/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8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890">
                <a:tc>
                  <a:txBody>
                    <a:bodyPr/>
                    <a:lstStyle/>
                    <a:p>
                      <a:pPr algn="ctr" latinLnBrk="1">
                        <a:lnSpc>
                          <a:spcPts val="8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2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구분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8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금월실적</a:t>
                      </a: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(05/01~05/31)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8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차월계획</a:t>
                      </a: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(06/01~06/30)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60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8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baseline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주요 내용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0" marR="36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분석</a:t>
                      </a:r>
                      <a:r>
                        <a:rPr kumimoji="0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설계 단계</a:t>
                      </a:r>
                      <a:r>
                        <a:rPr kumimoji="0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1. </a:t>
                      </a: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프로젝트 관리</a:t>
                      </a:r>
                      <a:endParaRPr kumimoji="0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1)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인터페이스 목록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정의서 작성 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2)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요구사항 추적서 작성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3)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중간보고서 작성 및 중간보고 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2. </a:t>
                      </a: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분석 </a:t>
                      </a: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설계</a:t>
                      </a:r>
                      <a:endParaRPr kumimoji="0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1)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설계 문서 최종 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Review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2)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단계 말 품질관리 활동 진행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구현 단계</a:t>
                      </a:r>
                      <a:r>
                        <a:rPr kumimoji="0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]</a:t>
                      </a:r>
                      <a:endParaRPr kumimoji="0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1. </a:t>
                      </a: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그룹웨어</a:t>
                      </a: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포탈</a:t>
                      </a:r>
                      <a:endParaRPr kumimoji="0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1)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그룹 공통 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Web Part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개발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2) SSO API Customizing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3) BR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Weather Board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개발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2. </a:t>
                      </a: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전자결재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1)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일반양식 개발완료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2)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출장비 신청서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여비정산서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HR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연동 양식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2. </a:t>
                      </a: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연구소 과제관리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1)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공수입력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실적 미등록자 조회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SMS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연동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코드관리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관리자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4. </a:t>
                      </a: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조직도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1) Provisioning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프로세스 구현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2) </a:t>
                      </a:r>
                      <a:r>
                        <a:rPr kumimoji="0" lang="en-US" alt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Timesquare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조직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인사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연동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37160" marR="137160" marT="137160" marB="1371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구현 단계</a:t>
                      </a:r>
                      <a:r>
                        <a:rPr kumimoji="0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1. </a:t>
                      </a: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그룹웨어</a:t>
                      </a: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포탈</a:t>
                      </a:r>
                      <a:endParaRPr kumimoji="0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1)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그룹 공통 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Web Part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개발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2) </a:t>
                      </a:r>
                      <a:r>
                        <a:rPr kumimoji="0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임원재실현황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3) SSO API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배포 및 적용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4) BRE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Weather Board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개발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5)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자원관리 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Customizing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6)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일정관리 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Customizing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7)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사원검색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조직도 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Customizing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8)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컨텐츠 등록 관리 연계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개발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2. </a:t>
                      </a: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전자결재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1)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연동 양식 개발 완료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2. </a:t>
                      </a: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연구소 과제관리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1)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개발완료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4. </a:t>
                      </a: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조직도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1) Scheduling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확인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5. </a:t>
                      </a:r>
                      <a:r>
                        <a:rPr kumimoji="0" lang="ko-KR" altLang="en-US" sz="1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웹메일</a:t>
                      </a:r>
                      <a:endParaRPr kumimoji="0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1)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관리자 프로그램 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Customizing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6. </a:t>
                      </a: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검색엔진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1)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검색 화면 개발 및 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Indexing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초기 작업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37160" marR="137160" marT="137160" marB="1371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1214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 bwMode="gray">
          <a:xfrm>
            <a:off x="0" y="17463"/>
            <a:ext cx="8193088" cy="655637"/>
          </a:xfrm>
        </p:spPr>
        <p:txBody>
          <a:bodyPr rtlCol="0">
            <a:normAutofit/>
          </a:bodyPr>
          <a:lstStyle/>
          <a:p>
            <a:pPr marL="176213" eaLnBrk="1" hangingPunct="1">
              <a:defRPr/>
            </a:pP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4</a:t>
            </a:r>
            <a:r>
              <a:rPr lang="en-US" altLang="ko-KR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프로젝트 이슈사항 관리</a:t>
            </a:r>
            <a:endParaRPr lang="ko-KR" altLang="en-US" sz="1800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300085"/>
              </p:ext>
            </p:extLst>
          </p:nvPr>
        </p:nvGraphicFramePr>
        <p:xfrm>
          <a:off x="560512" y="1227666"/>
          <a:ext cx="8856984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No.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이슈내용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발생일자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해결방안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진행상태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완료여부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2016-04-01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1">
                        <a:buFont typeface="+mj-lt"/>
                        <a:buAutoNum type="arabicParenR"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1">
                        <a:buFont typeface="+mj-lt"/>
                        <a:buAutoNum type="arabicParenR"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1">
                        <a:buFont typeface="+mj-ea"/>
                        <a:buAutoNum type="circleNumDbPlain"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1">
                        <a:buFont typeface="+mj-lt"/>
                        <a:buAutoNum type="arabicParenR"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1">
                        <a:buFont typeface="+mj-lt"/>
                        <a:buAutoNum type="arabicParenR"/>
                      </a:pP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1">
                        <a:buFont typeface="+mj-ea"/>
                        <a:buAutoNum type="circleNumDbPlain"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1">
                        <a:buFont typeface="+mj-lt"/>
                        <a:buAutoNum type="arabicParenR"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1">
                        <a:buFont typeface="+mj-lt"/>
                        <a:buAutoNum type="arabicParenR"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1">
                        <a:buFont typeface="+mj-ea"/>
                        <a:buAutoNum type="circleNumDbPlain"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1">
                        <a:buFont typeface="+mj-lt"/>
                        <a:buAutoNum type="arabicParenR"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1">
                        <a:buFont typeface="+mj-lt"/>
                        <a:buAutoNum type="arabicParenR"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1">
                        <a:buFont typeface="+mj-ea"/>
                        <a:buAutoNum type="circleNumDbPlain"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1">
                        <a:buFont typeface="+mj-lt"/>
                        <a:buAutoNum type="arabicParenR"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1">
                        <a:buFont typeface="+mj-lt"/>
                        <a:buAutoNum type="arabicParenR"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1">
                        <a:buFont typeface="+mj-ea"/>
                        <a:buAutoNum type="circleNumDbPlain"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1">
                        <a:buFont typeface="+mj-lt"/>
                        <a:buAutoNum type="arabicParenR"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1">
                        <a:buFont typeface="+mj-lt"/>
                        <a:buAutoNum type="arabicParenR"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1">
                        <a:buFont typeface="+mj-ea"/>
                        <a:buAutoNum type="circleNumDbPlain"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1">
                        <a:buFont typeface="+mj-lt"/>
                        <a:buAutoNum type="arabicParenR"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1">
                        <a:buFont typeface="+mj-lt"/>
                        <a:buAutoNum type="arabicParenR"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0090163"/>
      </p:ext>
    </p:extLst>
  </p:cSld>
  <p:clrMapOvr>
    <a:masterClrMapping/>
  </p:clrMapOvr>
</p:sld>
</file>

<file path=ppt/theme/theme1.xml><?xml version="1.0" encoding="utf-8"?>
<a:theme xmlns:a="http://schemas.openxmlformats.org/drawingml/2006/main" name="1_SKCCConsult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9525">
          <a:solidFill>
            <a:schemeClr val="tx1"/>
          </a:solidFill>
        </a:ln>
      </a:spPr>
      <a:bodyPr rtlCol="0" anchor="ctr"/>
      <a:lstStyle>
        <a:defPPr algn="ctr">
          <a:defRPr sz="14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200" dirty="0" smtClean="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B7EE8C989F4014D8F473F11EA235336" ma:contentTypeVersion="1" ma:contentTypeDescription="새 문서를 만듭니다." ma:contentTypeScope="" ma:versionID="da507e76d2c73bb96d59657c92b25dbb">
  <xsd:schema xmlns:xsd="http://www.w3.org/2001/XMLSchema" xmlns:xs="http://www.w3.org/2001/XMLSchema" xmlns:p="http://schemas.microsoft.com/office/2006/metadata/properties" xmlns:ns2="2aae6fcb-43e3-4396-89be-baa0995eb0b9" targetNamespace="http://schemas.microsoft.com/office/2006/metadata/properties" ma:root="true" ma:fieldsID="aa1e80f6703332eeed5d82846e061462" ns2:_="">
    <xsd:import namespace="2aae6fcb-43e3-4396-89be-baa0995eb0b9"/>
    <xsd:element name="properties">
      <xsd:complexType>
        <xsd:sequence>
          <xsd:element name="documentManagement">
            <xsd:complexType>
              <xsd:all>
                <xsd:element ref="ns2:_xbb38__xc11c__xc124__xba85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ae6fcb-43e3-4396-89be-baa0995eb0b9" elementFormDefault="qualified">
    <xsd:import namespace="http://schemas.microsoft.com/office/2006/documentManagement/types"/>
    <xsd:import namespace="http://schemas.microsoft.com/office/infopath/2007/PartnerControls"/>
    <xsd:element name="_xbb38__xc11c__xc124__xba85_" ma:index="8" nillable="true" ma:displayName="문서설명" ma:internalName="_xbb38__xc11c__xc124__xba85_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pc="http://schemas.microsoft.com/office/infopath/2007/PartnerControls" xmlns:xsi="http://www.w3.org/2001/XMLSchema-instance">
  <documentManagement>
    <_xbb38__xc11c__xc124__xba85_ xmlns="2aae6fcb-43e3-4396-89be-baa0995eb0b9">PM32_주간보고서_XX주차_YYYYMMDD</_xbb38__xc11c__xc124__xba85_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BB194EC-DAF3-4C58-9DE0-32BD47CC56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ae6fcb-43e3-4396-89be-baa0995eb0b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3C543DC-40F5-4BB2-BA94-8C70CFF7A650}">
  <ds:schemaRefs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dcmitype/"/>
    <ds:schemaRef ds:uri="2aae6fcb-43e3-4396-89be-baa0995eb0b9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4F7FC56-1312-416A-8763-EAA6D2B794E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57660</TotalTime>
  <Words>643</Words>
  <Application>Microsoft Office PowerPoint</Application>
  <PresentationFormat>A4 용지(210x297mm)</PresentationFormat>
  <Paragraphs>337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굴림</vt:lpstr>
      <vt:lpstr>맑은 고딕</vt:lpstr>
      <vt:lpstr>Arial</vt:lpstr>
      <vt:lpstr>Wingdings</vt:lpstr>
      <vt:lpstr>1_SKCCConsulting</vt:lpstr>
      <vt:lpstr>PowerPoint 프레젠테이션</vt:lpstr>
      <vt:lpstr>1. 주요 일정</vt:lpstr>
      <vt:lpstr>2. 진행 일정</vt:lpstr>
      <vt:lpstr>3. 실적 및 계회 (계획 : xx.xx% / 실적 : xx.xx%)</vt:lpstr>
      <vt:lpstr>4. 프로젝트 이슈사항 관리</vt:lpstr>
    </vt:vector>
  </TitlesOfParts>
  <Company>(주)코비젼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PM32_주간보고서</dc:title>
  <dc:subject>[고객사] Smart2 구축</dc:subject>
  <dc:creator>솔루션사업팀</dc:creator>
  <cp:keywords>표준Template 2.0</cp:keywords>
  <dc:description>[ 소유권 정보 ]_x000d_
본 프로젝트 문서는 코비젼이 [고객사]에 제출하는 프로젝트 산출물의 하나이므로, 이 문서의 소유권은 원칙적으로 [고객사]에 있습니다. 그러나 문서의 형태 및 내용구성은 코비젼의 지적 자산이므로 [고객사] 에서 이 문서를 다른 용도로 임의로 변경하여 사용할 수 없음을 주지하시기 바랍니다.</dc:description>
  <cp:lastModifiedBy>강희은</cp:lastModifiedBy>
  <cp:revision>4372</cp:revision>
  <cp:lastPrinted>2012-11-21T00:33:37Z</cp:lastPrinted>
  <dcterms:created xsi:type="dcterms:W3CDTF">2011-08-29T23:48:40Z</dcterms:created>
  <dcterms:modified xsi:type="dcterms:W3CDTF">2026-02-26T05:44:20Z</dcterms:modified>
  <cp:category>관리산출물</cp:category>
  <cp:version>표준Template 2.0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0x0101003B7EE8C989F4014D8F473F11EA235336</vt:lpwstr>
  </property>
</Properties>
</file>