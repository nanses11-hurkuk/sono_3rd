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29" r:id="rId1"/>
  </p:sldMasterIdLst>
  <p:notesMasterIdLst>
    <p:notesMasterId r:id="rId24"/>
  </p:notesMasterIdLst>
  <p:sldIdLst>
    <p:sldId id="424" r:id="rId2"/>
    <p:sldId id="425" r:id="rId3"/>
    <p:sldId id="426" r:id="rId4"/>
    <p:sldId id="429" r:id="rId5"/>
    <p:sldId id="400" r:id="rId6"/>
    <p:sldId id="428" r:id="rId7"/>
    <p:sldId id="401" r:id="rId8"/>
    <p:sldId id="456" r:id="rId9"/>
    <p:sldId id="457" r:id="rId10"/>
    <p:sldId id="458" r:id="rId11"/>
    <p:sldId id="459" r:id="rId12"/>
    <p:sldId id="460" r:id="rId13"/>
    <p:sldId id="461" r:id="rId14"/>
    <p:sldId id="431" r:id="rId15"/>
    <p:sldId id="412" r:id="rId16"/>
    <p:sldId id="464" r:id="rId17"/>
    <p:sldId id="465" r:id="rId18"/>
    <p:sldId id="436" r:id="rId19"/>
    <p:sldId id="448" r:id="rId20"/>
    <p:sldId id="466" r:id="rId21"/>
    <p:sldId id="332" r:id="rId22"/>
    <p:sldId id="333" r:id="rId23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434">
          <p15:clr>
            <a:srgbClr val="A4A3A4"/>
          </p15:clr>
        </p15:guide>
        <p15:guide id="3" pos="4073">
          <p15:clr>
            <a:srgbClr val="A4A3A4"/>
          </p15:clr>
        </p15:guide>
        <p15:guide id="4" pos="2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F8F8F8"/>
    <a:srgbClr val="EAEAEA"/>
    <a:srgbClr val="C0C0C0"/>
    <a:srgbClr val="DDDDDD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4701" autoAdjust="0"/>
  </p:normalViewPr>
  <p:slideViewPr>
    <p:cSldViewPr>
      <p:cViewPr varScale="1">
        <p:scale>
          <a:sx n="102" d="100"/>
          <a:sy n="102" d="100"/>
        </p:scale>
        <p:origin x="930" y="96"/>
      </p:cViewPr>
      <p:guideLst>
        <p:guide orient="horz" pos="2160"/>
        <p:guide orient="horz" pos="1434"/>
        <p:guide pos="4073"/>
        <p:guide pos="21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930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C411-EE63-4C04-AD1B-964CB65B9509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4225A-9AD8-454B-AA31-255CE5A22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25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1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64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10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FFA7-7560-4AB5-BEA5-ACDC48231C81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0ED1-B1E2-4070-A731-AEACA44238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08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03740" y="6534356"/>
            <a:ext cx="895350" cy="222250"/>
          </a:xfrm>
        </p:spPr>
        <p:txBody>
          <a:bodyPr/>
          <a:lstStyle>
            <a:lvl1pPr algn="ctr">
              <a:defRPr sz="1000" b="1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B886FFA8-E887-4332-8901-9FB0E79AAA37}" type="slidenum">
              <a:rPr lang="ko-KR" altLang="en-US" smtClean="0"/>
              <a:pPr>
                <a:defRPr/>
              </a:pPr>
              <a:t>‹#›</a:t>
            </a:fld>
            <a:r>
              <a:rPr lang="ko-KR" altLang="en-US"/>
              <a:t> </a:t>
            </a:r>
            <a:endParaRPr lang="ko-KR" altLang="en-US" dirty="0"/>
          </a:p>
        </p:txBody>
      </p:sp>
      <p:grpSp>
        <p:nvGrpSpPr>
          <p:cNvPr id="18" name="Group 11"/>
          <p:cNvGrpSpPr>
            <a:grpSpLocks/>
          </p:cNvGrpSpPr>
          <p:nvPr userDrawn="1"/>
        </p:nvGrpSpPr>
        <p:grpSpPr bwMode="auto">
          <a:xfrm>
            <a:off x="0" y="618083"/>
            <a:ext cx="9906000" cy="71438"/>
            <a:chOff x="0" y="720"/>
            <a:chExt cx="5760" cy="45"/>
          </a:xfrm>
        </p:grpSpPr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Content Placeholder 4"/>
          <p:cNvSpPr>
            <a:spLocks noGrp="1"/>
          </p:cNvSpPr>
          <p:nvPr>
            <p:ph sz="quarter" idx="13"/>
          </p:nvPr>
        </p:nvSpPr>
        <p:spPr>
          <a:xfrm>
            <a:off x="273050" y="764704"/>
            <a:ext cx="9432925" cy="520632"/>
          </a:xfrm>
          <a:prstGeom prst="roundRect">
            <a:avLst>
              <a:gd name="adj" fmla="val 6992"/>
            </a:avLst>
          </a:prstGeom>
          <a:solidFill>
            <a:schemeClr val="bg2">
              <a:lumMod val="90000"/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kumimoji="1" lang="en-US" sz="1400" dirty="0"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lvl="0"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42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03740" y="6534356"/>
            <a:ext cx="895350" cy="222250"/>
          </a:xfrm>
        </p:spPr>
        <p:txBody>
          <a:bodyPr/>
          <a:lstStyle>
            <a:lvl1pPr algn="ctr">
              <a:defRPr sz="1000" b="1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B886FFA8-E887-4332-8901-9FB0E79AAA37}" type="slidenum">
              <a:rPr lang="ko-KR" altLang="en-US" smtClean="0"/>
              <a:pPr>
                <a:defRPr/>
              </a:pPr>
              <a:t>‹#›</a:t>
            </a:fld>
            <a:r>
              <a:rPr lang="ko-KR" altLang="en-US"/>
              <a:t> </a:t>
            </a:r>
            <a:endParaRPr lang="ko-KR" altLang="en-US" dirty="0"/>
          </a:p>
        </p:txBody>
      </p:sp>
      <p:grpSp>
        <p:nvGrpSpPr>
          <p:cNvPr id="18" name="Group 11"/>
          <p:cNvGrpSpPr>
            <a:grpSpLocks/>
          </p:cNvGrpSpPr>
          <p:nvPr userDrawn="1"/>
        </p:nvGrpSpPr>
        <p:grpSpPr bwMode="auto">
          <a:xfrm>
            <a:off x="0" y="618083"/>
            <a:ext cx="9906000" cy="71438"/>
            <a:chOff x="0" y="720"/>
            <a:chExt cx="5760" cy="45"/>
          </a:xfrm>
        </p:grpSpPr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ko-KR" altLang="en-US" sz="1000" b="0">
                <a:solidFill>
                  <a:schemeClr val="tx1"/>
                </a:solidFill>
                <a:latin typeface="Arial" charset="0"/>
                <a:ea typeface="굴림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kumimoji="1"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17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3805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 userDrawn="1"/>
        </p:nvGrpSpPr>
        <p:grpSpPr bwMode="auto">
          <a:xfrm>
            <a:off x="0" y="617538"/>
            <a:ext cx="9906000" cy="71437"/>
            <a:chOff x="0" y="720"/>
            <a:chExt cx="5760" cy="45"/>
          </a:xfrm>
        </p:grpSpPr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 flipV="1">
              <a:off x="995" y="720"/>
              <a:ext cx="4765" cy="45"/>
            </a:xfrm>
            <a:prstGeom prst="rect">
              <a:avLst/>
            </a:prstGeom>
            <a:solidFill>
              <a:srgbClr val="AB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ko-KR" altLang="en-US" sz="10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 flipV="1">
              <a:off x="0" y="720"/>
              <a:ext cx="995" cy="45"/>
            </a:xfrm>
            <a:prstGeom prst="rect">
              <a:avLst/>
            </a:prstGeom>
            <a:solidFill>
              <a:srgbClr val="232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ko-KR" altLang="en-US" sz="100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200472" y="233619"/>
            <a:ext cx="7336800" cy="34560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kumimoji="1" lang="en-US" sz="2000">
                <a:solidFill>
                  <a:srgbClr val="000000"/>
                </a:solidFill>
                <a:latin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Content Placeholder 4"/>
          <p:cNvSpPr>
            <a:spLocks noGrp="1"/>
          </p:cNvSpPr>
          <p:nvPr>
            <p:ph sz="quarter" idx="13"/>
          </p:nvPr>
        </p:nvSpPr>
        <p:spPr>
          <a:xfrm>
            <a:off x="273050" y="764704"/>
            <a:ext cx="9432925" cy="720080"/>
          </a:xfrm>
          <a:prstGeom prst="roundRect">
            <a:avLst>
              <a:gd name="adj" fmla="val 6992"/>
            </a:avLst>
          </a:prstGeom>
          <a:solidFill>
            <a:schemeClr val="bg2">
              <a:lumMod val="90000"/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indent="0">
              <a:buFont typeface="Arial" pitchFamily="34" charset="0"/>
              <a:buNone/>
              <a:defRPr kumimoji="1" 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03738" y="6534150"/>
            <a:ext cx="895350" cy="222250"/>
          </a:xfrm>
          <a:prstGeom prst="rect">
            <a:avLst/>
          </a:prstGeom>
        </p:spPr>
        <p:txBody>
          <a:bodyPr/>
          <a:lstStyle>
            <a:lvl1pPr algn="ctr">
              <a:defRPr sz="1000" b="1" i="1" smtClean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4898359-6249-498A-89F7-ECD28B9A1D79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865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BFFA7-7560-4AB5-BEA5-ACDC48231C81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80ED1-B1E2-4070-A731-AEACA44238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 Box 2"/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8" name="그림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416" y="6585668"/>
            <a:ext cx="1182062" cy="20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65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4" r:id="rId3"/>
    <p:sldLayoutId id="2147483732" r:id="rId4"/>
    <p:sldLayoutId id="2147483733" r:id="rId5"/>
    <p:sldLayoutId id="2147483728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908050" y="1204438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유티아이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현행 시스템 분석서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1962109"/>
            <a:ext cx="8172000" cy="9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9" y="260648"/>
            <a:ext cx="1230269" cy="7081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1941" y="5513136"/>
            <a:ext cx="18821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0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940404" y="4048898"/>
          <a:ext cx="4140000" cy="1375940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249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그림 9" descr="바닥라인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34166"/>
              </p:ext>
            </p:extLst>
          </p:nvPr>
        </p:nvGraphicFramePr>
        <p:xfrm>
          <a:off x="2702053" y="2304434"/>
          <a:ext cx="4559300" cy="1476000"/>
        </p:xfrm>
        <a:graphic>
          <a:graphicData uri="http://schemas.openxmlformats.org/drawingml/2006/table">
            <a:tbl>
              <a:tblPr/>
              <a:tblGrid>
                <a:gridCol w="70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1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유티아이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그룹웨어 시스템 구축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Segment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전자결재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Task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i="0" dirty="0">
                          <a:latin typeface="+mn-ea"/>
                          <a:ea typeface="+mn-ea"/>
                        </a:rPr>
                        <a:t>분석단계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0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코비젼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863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891693"/>
              </p:ext>
            </p:extLst>
          </p:nvPr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강민석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2026.03.24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제출하는 프로젝트 산출물의 하나이므로, 이 문서의 소유권은 원칙적으로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있습니다. 그러나 문서의 형태 및 </a:t>
            </a:r>
            <a:r>
              <a:rPr lang="ko-KR" altLang="en-US" sz="1200" i="1" dirty="0" err="1">
                <a:latin typeface="+mn-ea"/>
                <a:ea typeface="+mn-ea"/>
              </a:rPr>
              <a:t>내용구성은</a:t>
            </a:r>
            <a:r>
              <a:rPr lang="ko-KR" altLang="en-US" sz="1200" i="1" dirty="0">
                <a:latin typeface="+mn-ea"/>
                <a:ea typeface="+mn-ea"/>
              </a:rPr>
              <a:t>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4088904" y="46059"/>
            <a:ext cx="581709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r"/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PJ</a:t>
            </a:r>
            <a:r>
              <a:rPr kumimoji="0" lang="ko-KR" altLang="en-US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명</a:t>
            </a:r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_ANL30_</a:t>
            </a:r>
            <a:r>
              <a:rPr kumimoji="0" lang="ko-KR" altLang="en-US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현행 시스템 </a:t>
            </a:r>
            <a:r>
              <a:rPr kumimoji="0" lang="ko-KR" altLang="en-US" sz="1100" b="0" dirty="0" err="1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분석서</a:t>
            </a:r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_</a:t>
            </a:r>
            <a:r>
              <a:rPr kumimoji="0" lang="ko-KR" altLang="en-US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화면</a:t>
            </a:r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r>
              <a:rPr kumimoji="0" lang="en-US" altLang="ko-KR" sz="1100" b="0" dirty="0" err="1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pptx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04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목차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5" name="TextBox 3"/>
          <p:cNvSpPr txBox="1"/>
          <p:nvPr/>
        </p:nvSpPr>
        <p:spPr>
          <a:xfrm>
            <a:off x="999276" y="783021"/>
            <a:ext cx="1844240" cy="31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메뉴 구성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539750" lvl="1" indent="-27305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메인 화면 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결재함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미결문서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공람문서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진행문서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 err="1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처리예정함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완결문서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임시보관문서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66700" lvl="1" indent="1905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개인함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0F19C-FA83-4EEA-8DCD-0A82A5B16898}"/>
              </a:ext>
            </a:extLst>
          </p:cNvPr>
          <p:cNvSpPr txBox="1"/>
          <p:nvPr/>
        </p:nvSpPr>
        <p:spPr>
          <a:xfrm>
            <a:off x="3197633" y="783021"/>
            <a:ext cx="3356304" cy="22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3.  </a:t>
            </a: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 작성하기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446088" lvl="1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 선택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446088" lvl="1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문서 작성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완료문서 보기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446088" lvl="1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완료문서 보기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400" b="1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양식 목록</a:t>
            </a:r>
            <a:endParaRPr lang="en-US" altLang="ko-KR" sz="1400" b="1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  <a:p>
            <a:pPr marL="446088" lvl="1" indent="-2286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300" spc="-80" dirty="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rPr>
              <a:t>양식 목록</a:t>
            </a:r>
            <a:endParaRPr lang="en-US" altLang="ko-KR" sz="1300" spc="-80" dirty="0">
              <a:solidFill>
                <a:prstClr val="black">
                  <a:lumMod val="85000"/>
                  <a:lumOff val="15000"/>
                </a:prstClr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34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19125" y="1265238"/>
            <a:ext cx="84201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+mj-ea"/>
              </a:rPr>
              <a:t>1. </a:t>
            </a:r>
            <a:r>
              <a:rPr lang="ko-KR" altLang="en-US" sz="4000" b="1" dirty="0">
                <a:latin typeface="+mj-ea"/>
              </a:rPr>
              <a:t>메뉴구성</a:t>
            </a:r>
          </a:p>
        </p:txBody>
      </p:sp>
    </p:spTree>
    <p:extLst>
      <p:ext uri="{BB962C8B-B14F-4D97-AF65-F5344CB8AC3E}">
        <p14:creationId xmlns:p14="http://schemas.microsoft.com/office/powerpoint/2010/main" val="289704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>
              <a:spcBef>
                <a:spcPct val="40000"/>
              </a:spcBef>
              <a:defRPr/>
            </a:pPr>
            <a:r>
              <a:rPr lang="en-US" altLang="ko-KR" sz="1600" b="1" dirty="0">
                <a:latin typeface="+mj-ea"/>
              </a:rPr>
              <a:t>1. </a:t>
            </a:r>
            <a:r>
              <a:rPr kumimoji="0" lang="ko-KR" altLang="en-US" sz="1600" b="1" dirty="0">
                <a:latin typeface="+mj-ea"/>
              </a:rPr>
              <a:t>메뉴 구성 </a:t>
            </a:r>
            <a:r>
              <a:rPr kumimoji="0" lang="en-US" altLang="ko-KR" sz="1600" b="1" dirty="0">
                <a:latin typeface="+mj-ea"/>
              </a:rPr>
              <a:t>– </a:t>
            </a:r>
            <a:r>
              <a:rPr kumimoji="0" lang="ko-KR" altLang="en-US" sz="1600" b="1" dirty="0">
                <a:latin typeface="+mj-ea"/>
              </a:rPr>
              <a:t>메인 화면</a:t>
            </a:r>
            <a:endParaRPr lang="en-US" sz="16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Text Box 154"/>
          <p:cNvSpPr txBox="1">
            <a:spLocks noChangeArrowheads="1"/>
          </p:cNvSpPr>
          <p:nvPr/>
        </p:nvSpPr>
        <p:spPr bwMode="auto">
          <a:xfrm>
            <a:off x="201017" y="1232756"/>
            <a:ext cx="6948227" cy="5276524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/>
          <p:cNvSpPr txBox="1">
            <a:spLocks noChangeArrowheads="1"/>
          </p:cNvSpPr>
          <p:nvPr/>
        </p:nvSpPr>
        <p:spPr bwMode="auto">
          <a:xfrm>
            <a:off x="7293260" y="1232756"/>
            <a:ext cx="2376264" cy="5275569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기본화면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결재함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미결문서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</a:t>
            </a: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좌측 메뉴 구성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미결문서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공람문서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진행문서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처리예정함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완결문서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임시저장문서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개인함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/>
          <p:cNvSpPr/>
          <p:nvPr/>
        </p:nvSpPr>
        <p:spPr bwMode="auto">
          <a:xfrm>
            <a:off x="7293260" y="980727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4" name="양쪽 모서리가 둥근 사각형 12"/>
          <p:cNvSpPr/>
          <p:nvPr/>
        </p:nvSpPr>
        <p:spPr bwMode="auto">
          <a:xfrm>
            <a:off x="201017" y="980728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BB255F1-730F-056B-649A-4762A3B48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9" y="1462829"/>
            <a:ext cx="6646474" cy="4214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19125" y="1265238"/>
            <a:ext cx="84201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+mj-ea"/>
              </a:rPr>
              <a:t>2. </a:t>
            </a:r>
            <a:r>
              <a:rPr lang="ko-KR" altLang="en-US" sz="4000" b="1" dirty="0">
                <a:latin typeface="+mj-ea"/>
              </a:rPr>
              <a:t>결재함</a:t>
            </a:r>
          </a:p>
        </p:txBody>
      </p:sp>
    </p:spTree>
    <p:extLst>
      <p:ext uri="{BB962C8B-B14F-4D97-AF65-F5344CB8AC3E}">
        <p14:creationId xmlns:p14="http://schemas.microsoft.com/office/powerpoint/2010/main" val="387831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미결문서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/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/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자신이 결재할 문서의 목록을 확인 할 수 있는 문서함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결재대기함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발송대기함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 </a:t>
            </a:r>
            <a:r>
              <a:rPr lang="ko-KR" altLang="en-US" sz="10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용도 확인필요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lvl="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접수대기함</a:t>
            </a:r>
            <a:br>
              <a:rPr lang="en-US" altLang="ko-KR" sz="10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 </a:t>
            </a:r>
            <a:r>
              <a:rPr lang="ko-KR" altLang="en-US" sz="10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용도 확인필요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lvl="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/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/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623D44-CF96-6113-EC19-752FEED46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59" y="1376773"/>
            <a:ext cx="6724377" cy="42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2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1728-295A-F97D-8E2C-841FD35F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4CB0FF05-2726-5477-9AE1-72702726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공람문서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CF2457E2-CEC5-7C0E-2C68-3C82E41D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33776470-F090-0DAE-E6D6-CDDA628EC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공람문서 리스트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 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공람문서 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-&gt; (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코비젼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 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참조회람으로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대체 예정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.</a:t>
            </a:r>
            <a:b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공람자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지정시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제외기능은 없음</a:t>
            </a:r>
            <a:endParaRPr lang="en-US" altLang="ko-KR" sz="1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52712939-CF23-F79A-57AA-D55FB5782514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8C83DF31-F43A-02FD-34E0-FDAEC2E61EA1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68CCE-3740-7D1B-E70F-7EA76EE4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42602"/>
            <a:ext cx="6701599" cy="415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30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D2D0-7E16-5D67-CC30-8D17C991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BB7319B7-5A3B-F420-7BEC-BB5FC6B5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진행문서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2B0B014C-D68B-4B55-EE61-227179BC3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083F427B-F219-33D1-9F8C-9A57E235B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자신의 진행중 문서의 목록을 확인 할 수 있는 문서함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결재진행함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심사진행함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 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용도 확인필요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코비젼에서는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없는기능입니다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</a:t>
            </a: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259E5976-9917-3A4B-77C5-1A833BF516DA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9F22F4C9-CC48-7115-EF10-AC61EC0105E2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1A5D7B-7058-D746-2BDB-CF01AF18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5" y="1392009"/>
            <a:ext cx="6748771" cy="398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1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042F-5B2E-0FF1-EB40-E5A5B6F4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328C665C-59B3-ACA2-BEDB-30E97ED7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 err="1">
                <a:solidFill>
                  <a:schemeClr val="tx1"/>
                </a:solidFill>
                <a:latin typeface="+mn-ea"/>
                <a:ea typeface="+mn-ea"/>
                <a:cs typeface="+mn-cs"/>
              </a:rPr>
              <a:t>처리예정함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B431722D-7297-A4C4-9E41-181244C5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47E125F7-657E-0E18-395B-E3F80B012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자신이 처리예정인 문서의 목록을 확인 할 수 있는 문서함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DA1A0332-18DF-7C68-3220-2534841BE27C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B860D181-AC57-37D1-E2AB-02D5D894E0B4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2199BE-6CA3-A66C-149F-EED4FEB4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81" y="1320451"/>
            <a:ext cx="6709251" cy="40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41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CF8D-23D8-C409-99EB-88A26690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47ADF935-8824-4DF1-6FF8-006A744D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완결문서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0613D176-3A57-7CDE-74F0-D96A860D2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D3017D21-BF30-1B73-D3C0-FE31D374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 진행이 완료된 문서의 목록을 확인 할 수 있는 문서함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결재현황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선택된 문서의 결재현황을 확인 할 수 있는 팝업 오픈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인쇄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선택한 문서를 인쇄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삭제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선택한 문서를 삭제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개인함 추가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선택한 문서를 개인함에 추가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추가기능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 다운로드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메일 전달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게시하기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7244D271-E783-D6E8-04F6-132EEDCB15A7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142599E8-1CA5-9F57-5387-1945A0BE25FA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F7AF42-57CC-F439-2B65-495EAA79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31" y="1340768"/>
            <a:ext cx="6788880" cy="392443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A5805A9-D16C-8A21-3B29-E4D62E1B57F3}"/>
              </a:ext>
            </a:extLst>
          </p:cNvPr>
          <p:cNvSpPr/>
          <p:nvPr/>
        </p:nvSpPr>
        <p:spPr>
          <a:xfrm>
            <a:off x="1640632" y="1952836"/>
            <a:ext cx="396044" cy="2520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BB08FD-C387-6F6A-5A63-8A1B55D2E3B3}"/>
              </a:ext>
            </a:extLst>
          </p:cNvPr>
          <p:cNvSpPr/>
          <p:nvPr/>
        </p:nvSpPr>
        <p:spPr bwMode="auto">
          <a:xfrm>
            <a:off x="2054480" y="1952490"/>
            <a:ext cx="1278339" cy="25202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732E58A-6EB1-3C59-6566-81D9C36C57D4}"/>
              </a:ext>
            </a:extLst>
          </p:cNvPr>
          <p:cNvSpPr/>
          <p:nvPr/>
        </p:nvSpPr>
        <p:spPr>
          <a:xfrm>
            <a:off x="1514816" y="1833013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EC365FB-9ED6-09BC-8F8C-877BD7E55A3C}"/>
              </a:ext>
            </a:extLst>
          </p:cNvPr>
          <p:cNvSpPr/>
          <p:nvPr/>
        </p:nvSpPr>
        <p:spPr>
          <a:xfrm>
            <a:off x="2116532" y="1847187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AB7831-38A6-5211-4FDE-2A75B017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3081512"/>
            <a:ext cx="3498714" cy="2533980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B2853DF-DB9A-EF24-32CA-925AC17D8E4E}"/>
              </a:ext>
            </a:extLst>
          </p:cNvPr>
          <p:cNvCxnSpPr/>
          <p:nvPr/>
        </p:nvCxnSpPr>
        <p:spPr>
          <a:xfrm rot="5400000">
            <a:off x="1019390" y="2249695"/>
            <a:ext cx="864443" cy="774086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84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BC35-426B-581C-B559-5C85EBEF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49F2229B-3032-3EBA-E5A6-78654C02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임시저장문서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DAC17394-81E1-24DB-0C89-16F5033D9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3A64467B-E742-E1D4-D911-EF285AB06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사용자가 작성 중 임시 저장한 문서 리스트</a:t>
            </a:r>
            <a:endParaRPr lang="en-US" altLang="ko-KR" sz="1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8CB2E419-EAAE-FC87-2901-50E7B7F45D7C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6B22E644-4054-8349-ECF1-03FCF8D76D80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8F2F2E-035C-3E09-0416-B73D8D0C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23" y="1351963"/>
            <a:ext cx="6757109" cy="40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5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B9B73-4A5E-BBD6-A29C-BBEF3496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AC69F7CA-DA6F-85A0-29B1-720F2495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결재함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개인함</a:t>
            </a:r>
            <a:endParaRPr lang="en-US" sz="1600" b="1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9427D257-01F4-277D-24F5-02F5882CF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57924"/>
            <a:ext cx="6948227" cy="5251355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E2FA2D30-D277-4D2A-6BDB-EC2CEEC1B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57924"/>
            <a:ext cx="2376264" cy="5250401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개인함에 추가된 문서 리스트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폴더를 추가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/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수정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/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삭제하여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결재함과 별개로 폴더 내 결재문서를 관리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EB31560D-4828-8A59-55A0-0E707812CCA3}"/>
              </a:ext>
            </a:extLst>
          </p:cNvPr>
          <p:cNvSpPr/>
          <p:nvPr/>
        </p:nvSpPr>
        <p:spPr bwMode="auto">
          <a:xfrm>
            <a:off x="7284177" y="985216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23" name="양쪽 모서리가 둥근 사각형 12">
            <a:extLst>
              <a:ext uri="{FF2B5EF4-FFF2-40B4-BE49-F238E27FC236}">
                <a16:creationId xmlns:a16="http://schemas.microsoft.com/office/drawing/2014/main" id="{039E3B7E-B340-6C79-EA94-936B9A01E3BD}"/>
              </a:ext>
            </a:extLst>
          </p:cNvPr>
          <p:cNvSpPr/>
          <p:nvPr/>
        </p:nvSpPr>
        <p:spPr bwMode="auto">
          <a:xfrm>
            <a:off x="190264" y="985217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92DE88-7CF7-9D1A-A04A-03FE4CA9E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52" y="1350169"/>
            <a:ext cx="6770555" cy="41576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1C861E-F705-E289-9BA4-652A1A1A3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696" y="3248747"/>
            <a:ext cx="4398804" cy="261833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3227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19125" y="1265238"/>
            <a:ext cx="84201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+mj-ea"/>
              </a:rPr>
              <a:t>3. </a:t>
            </a:r>
            <a:r>
              <a:rPr lang="ko-KR" altLang="en-US" sz="4000" b="1" dirty="0">
                <a:latin typeface="+mj-ea"/>
              </a:rPr>
              <a:t>문서 작성하기</a:t>
            </a:r>
          </a:p>
        </p:txBody>
      </p:sp>
    </p:spTree>
    <p:extLst>
      <p:ext uri="{BB962C8B-B14F-4D97-AF65-F5344CB8AC3E}">
        <p14:creationId xmlns:p14="http://schemas.microsoft.com/office/powerpoint/2010/main" val="182330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spcBef>
                <a:spcPct val="40000"/>
              </a:spcBef>
              <a:defRPr/>
            </a:pPr>
            <a:r>
              <a:rPr lang="en-US" altLang="ko-KR" sz="1600" b="1" dirty="0">
                <a:latin typeface="+mj-ea"/>
              </a:rPr>
              <a:t>3. </a:t>
            </a:r>
            <a:r>
              <a:rPr lang="ko-KR" altLang="en-US" sz="1600" b="1" dirty="0">
                <a:latin typeface="+mj-ea"/>
              </a:rPr>
              <a:t>문서 작성하기 </a:t>
            </a:r>
            <a:r>
              <a:rPr lang="en-US" altLang="ko-KR" sz="1600" b="1" dirty="0">
                <a:latin typeface="+mj-ea"/>
              </a:rPr>
              <a:t>– </a:t>
            </a:r>
            <a:r>
              <a:rPr lang="ko-KR" altLang="en-US" sz="1600" b="1" dirty="0">
                <a:latin typeface="+mj-ea"/>
              </a:rPr>
              <a:t>문서 선택</a:t>
            </a:r>
            <a:endParaRPr lang="en-US" sz="16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Text Box 154"/>
          <p:cNvSpPr txBox="1">
            <a:spLocks noChangeArrowheads="1"/>
          </p:cNvSpPr>
          <p:nvPr/>
        </p:nvSpPr>
        <p:spPr bwMode="auto">
          <a:xfrm>
            <a:off x="201017" y="1232756"/>
            <a:ext cx="6948227" cy="5276524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양쪽 모서리가 둥근 사각형 12"/>
          <p:cNvSpPr/>
          <p:nvPr/>
        </p:nvSpPr>
        <p:spPr bwMode="auto">
          <a:xfrm>
            <a:off x="201017" y="980728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sp>
        <p:nvSpPr>
          <p:cNvPr id="15" name="Text Box 154"/>
          <p:cNvSpPr txBox="1">
            <a:spLocks noChangeArrowheads="1"/>
          </p:cNvSpPr>
          <p:nvPr/>
        </p:nvSpPr>
        <p:spPr bwMode="auto">
          <a:xfrm>
            <a:off x="7293260" y="1232756"/>
            <a:ext cx="2376264" cy="5275569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lvl="0" indent="-2286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기안할 문서 클릭 시 해당 양식 작성 화면으로 이동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/>
          <p:cNvSpPr/>
          <p:nvPr/>
        </p:nvSpPr>
        <p:spPr bwMode="auto">
          <a:xfrm>
            <a:off x="7293260" y="980727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4A60B1-54A8-B023-6BFA-82B0E9F4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40" y="1304764"/>
            <a:ext cx="6805055" cy="41404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6DA4773-02AE-E541-DC11-4A946F4CFC10}"/>
              </a:ext>
            </a:extLst>
          </p:cNvPr>
          <p:cNvSpPr/>
          <p:nvPr/>
        </p:nvSpPr>
        <p:spPr>
          <a:xfrm>
            <a:off x="5349044" y="2312876"/>
            <a:ext cx="1620180" cy="6840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8527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806C-17EC-E7C9-58F8-B395C82C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CBA3018F-B12C-9F5F-E23B-6F5B8710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spcBef>
                <a:spcPct val="40000"/>
              </a:spcBef>
              <a:defRPr/>
            </a:pPr>
            <a:r>
              <a:rPr lang="en-US" altLang="ko-KR" sz="1600" b="1" dirty="0">
                <a:latin typeface="+mj-ea"/>
              </a:rPr>
              <a:t>3. </a:t>
            </a:r>
            <a:r>
              <a:rPr lang="ko-KR" altLang="en-US" sz="1600" b="1" dirty="0">
                <a:latin typeface="+mj-ea"/>
              </a:rPr>
              <a:t>문서 작성하기 </a:t>
            </a:r>
            <a:r>
              <a:rPr lang="en-US" altLang="ko-KR" sz="1600" b="1" dirty="0">
                <a:latin typeface="+mj-ea"/>
              </a:rPr>
              <a:t>– </a:t>
            </a:r>
            <a:r>
              <a:rPr lang="ko-KR" altLang="en-US" sz="1600" b="1" dirty="0">
                <a:latin typeface="+mj-ea"/>
              </a:rPr>
              <a:t>문서 작성</a:t>
            </a:r>
            <a:endParaRPr lang="en-US" sz="16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15175E23-B7A1-70E4-BC8E-FCBBD6431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32756"/>
            <a:ext cx="6948227" cy="5276524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양쪽 모서리가 둥근 사각형 12">
            <a:extLst>
              <a:ext uri="{FF2B5EF4-FFF2-40B4-BE49-F238E27FC236}">
                <a16:creationId xmlns:a16="http://schemas.microsoft.com/office/drawing/2014/main" id="{9CF5EAE4-46EB-0D43-F0F7-C79795F61F2D}"/>
              </a:ext>
            </a:extLst>
          </p:cNvPr>
          <p:cNvSpPr/>
          <p:nvPr/>
        </p:nvSpPr>
        <p:spPr bwMode="auto">
          <a:xfrm>
            <a:off x="201017" y="980728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9FF7A6F4-C665-9D61-9C91-4E8A5AF56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32756"/>
            <a:ext cx="2376264" cy="5275569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상단 버튼 영역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상신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 상신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결재선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결재선 지정 팝업 호출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임시저장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 임시저장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미리보기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 미리보기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 지정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결재옵션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결재옵션 선택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&gt; 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대면 결재기능 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코비젼에서는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제공 안함</a:t>
            </a:r>
            <a:endParaRPr lang="en-US" altLang="ko-KR" sz="1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취소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문서작성 취소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D34B2A23-CD47-B683-2E7A-9A8000E26696}"/>
              </a:ext>
            </a:extLst>
          </p:cNvPr>
          <p:cNvSpPr/>
          <p:nvPr/>
        </p:nvSpPr>
        <p:spPr bwMode="auto">
          <a:xfrm>
            <a:off x="7293260" y="980727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51C8E5-3B6C-54C8-181E-05B989849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" y="1350822"/>
            <a:ext cx="6660740" cy="48760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4B38B36-76A8-403D-69FF-8DB3C3EDF461}"/>
              </a:ext>
            </a:extLst>
          </p:cNvPr>
          <p:cNvSpPr/>
          <p:nvPr/>
        </p:nvSpPr>
        <p:spPr>
          <a:xfrm>
            <a:off x="308485" y="1736812"/>
            <a:ext cx="3492388" cy="3600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1BBFCBC-DC6A-D665-34E3-4ED06BDFA666}"/>
              </a:ext>
            </a:extLst>
          </p:cNvPr>
          <p:cNvSpPr/>
          <p:nvPr/>
        </p:nvSpPr>
        <p:spPr>
          <a:xfrm>
            <a:off x="183359" y="1591329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12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4A9C-58EF-CE4B-BF4A-043358C3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48A40993-B1AA-F72E-409C-C28E29C4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spcBef>
                <a:spcPct val="40000"/>
              </a:spcBef>
              <a:defRPr/>
            </a:pPr>
            <a:r>
              <a:rPr lang="en-US" altLang="ko-KR" sz="1600" b="1" dirty="0">
                <a:latin typeface="+mj-ea"/>
              </a:rPr>
              <a:t>3. </a:t>
            </a:r>
            <a:r>
              <a:rPr lang="ko-KR" altLang="en-US" sz="1600" b="1" dirty="0">
                <a:latin typeface="+mj-ea"/>
              </a:rPr>
              <a:t>문서 작성하기 </a:t>
            </a:r>
            <a:r>
              <a:rPr lang="en-US" altLang="ko-KR" sz="1600" b="1" dirty="0">
                <a:latin typeface="+mj-ea"/>
              </a:rPr>
              <a:t>– </a:t>
            </a:r>
            <a:r>
              <a:rPr lang="ko-KR" altLang="en-US" sz="1600" b="1" dirty="0">
                <a:latin typeface="+mj-ea"/>
              </a:rPr>
              <a:t>문서 작성</a:t>
            </a:r>
            <a:endParaRPr lang="en-US" sz="16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Text Box 154">
            <a:extLst>
              <a:ext uri="{FF2B5EF4-FFF2-40B4-BE49-F238E27FC236}">
                <a16:creationId xmlns:a16="http://schemas.microsoft.com/office/drawing/2014/main" id="{D4503F49-7F9C-E43A-B592-19083FCC5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17" y="1232756"/>
            <a:ext cx="6948227" cy="5276524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양쪽 모서리가 둥근 사각형 12">
            <a:extLst>
              <a:ext uri="{FF2B5EF4-FFF2-40B4-BE49-F238E27FC236}">
                <a16:creationId xmlns:a16="http://schemas.microsoft.com/office/drawing/2014/main" id="{4D320D98-86CC-C165-21E2-76294C7E0A7E}"/>
              </a:ext>
            </a:extLst>
          </p:cNvPr>
          <p:cNvSpPr/>
          <p:nvPr/>
        </p:nvSpPr>
        <p:spPr bwMode="auto">
          <a:xfrm>
            <a:off x="201017" y="980728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sp>
        <p:nvSpPr>
          <p:cNvPr id="15" name="Text Box 154">
            <a:extLst>
              <a:ext uri="{FF2B5EF4-FFF2-40B4-BE49-F238E27FC236}">
                <a16:creationId xmlns:a16="http://schemas.microsoft.com/office/drawing/2014/main" id="{6F6C82D1-0FAF-1CC0-5397-B12A0E1E6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260" y="1232756"/>
            <a:ext cx="2376264" cy="5275569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상단 버튼 영역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상신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 상신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결재선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결재선 지정 팝업 호출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임시저장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 임시저장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미리보기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 미리보기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 지정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결재옵션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결재옵션 선택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171450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취소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문서작성 취소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2.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문서정보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문서정보 팝업 오픈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3.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파일첨부 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4.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수신처지정 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>
            <a:extLst>
              <a:ext uri="{FF2B5EF4-FFF2-40B4-BE49-F238E27FC236}">
                <a16:creationId xmlns:a16="http://schemas.microsoft.com/office/drawing/2014/main" id="{BAF7EA34-31B0-2FD5-3197-6A7A7F1F05CF}"/>
              </a:ext>
            </a:extLst>
          </p:cNvPr>
          <p:cNvSpPr/>
          <p:nvPr/>
        </p:nvSpPr>
        <p:spPr bwMode="auto">
          <a:xfrm>
            <a:off x="7293260" y="980727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F6F070-D1F1-0689-AAEB-436E771A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" y="1350822"/>
            <a:ext cx="6660740" cy="487607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CEB52B-C1D8-2A9A-E20F-7C461F5DD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08" y="2720144"/>
            <a:ext cx="3024336" cy="124891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488AA26-A592-90C8-6B44-1506D81BCCBD}"/>
              </a:ext>
            </a:extLst>
          </p:cNvPr>
          <p:cNvSpPr/>
          <p:nvPr/>
        </p:nvSpPr>
        <p:spPr>
          <a:xfrm>
            <a:off x="6265046" y="2154008"/>
            <a:ext cx="612068" cy="2574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B7B4EB-7726-0930-DC81-A34F260CC704}"/>
              </a:ext>
            </a:extLst>
          </p:cNvPr>
          <p:cNvSpPr/>
          <p:nvPr/>
        </p:nvSpPr>
        <p:spPr>
          <a:xfrm>
            <a:off x="5656729" y="2155507"/>
            <a:ext cx="576000" cy="2574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F8B89B-EE6D-A34D-C183-695D39E1214B}"/>
              </a:ext>
            </a:extLst>
          </p:cNvPr>
          <p:cNvSpPr/>
          <p:nvPr/>
        </p:nvSpPr>
        <p:spPr>
          <a:xfrm>
            <a:off x="5048861" y="2156709"/>
            <a:ext cx="576000" cy="2574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E4B0658-84DD-A626-4DD5-B4D7E0990127}"/>
              </a:ext>
            </a:extLst>
          </p:cNvPr>
          <p:cNvSpPr/>
          <p:nvPr/>
        </p:nvSpPr>
        <p:spPr>
          <a:xfrm>
            <a:off x="5048132" y="1995587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AA96063-FAD9-582B-D01B-E556CC6E71E6}"/>
              </a:ext>
            </a:extLst>
          </p:cNvPr>
          <p:cNvSpPr/>
          <p:nvPr/>
        </p:nvSpPr>
        <p:spPr>
          <a:xfrm>
            <a:off x="5669072" y="201246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7B43824-5D15-E954-62FE-52C8DEE41872}"/>
              </a:ext>
            </a:extLst>
          </p:cNvPr>
          <p:cNvSpPr/>
          <p:nvPr/>
        </p:nvSpPr>
        <p:spPr>
          <a:xfrm>
            <a:off x="6293600" y="201246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3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9C9AE6A-C67D-1B39-9A8A-B0177D6B5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557" y="3384317"/>
            <a:ext cx="2305584" cy="2006589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133AF44-1AFE-231E-F40F-E9CF1A3D0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572" y="4185084"/>
            <a:ext cx="2106314" cy="1751658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693DA024-9E40-A5EC-07DE-60C54DD85484}"/>
              </a:ext>
            </a:extLst>
          </p:cNvPr>
          <p:cNvCxnSpPr>
            <a:stCxn id="20" idx="1"/>
            <a:endCxn id="13" idx="0"/>
          </p:cNvCxnSpPr>
          <p:nvPr/>
        </p:nvCxnSpPr>
        <p:spPr>
          <a:xfrm rot="10800000" flipV="1">
            <a:off x="2036677" y="2285424"/>
            <a:ext cx="3012185" cy="434720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DCE47E2-F6EF-1407-735A-8191440BE0A5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rot="5400000">
            <a:off x="4435849" y="1875437"/>
            <a:ext cx="971380" cy="204638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6772F3EB-213F-F040-7B64-0A7DA1CB57CB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rot="5400000">
            <a:off x="5371082" y="2985086"/>
            <a:ext cx="1773646" cy="62635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464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19125" y="1265238"/>
            <a:ext cx="84201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+mj-ea"/>
              </a:rPr>
              <a:t>4. </a:t>
            </a:r>
            <a:r>
              <a:rPr lang="ko-KR" altLang="en-US" sz="4000" b="1" dirty="0">
                <a:latin typeface="+mj-ea"/>
              </a:rPr>
              <a:t>완료문서 보기</a:t>
            </a:r>
          </a:p>
        </p:txBody>
      </p:sp>
    </p:spTree>
    <p:extLst>
      <p:ext uri="{BB962C8B-B14F-4D97-AF65-F5344CB8AC3E}">
        <p14:creationId xmlns:p14="http://schemas.microsoft.com/office/powerpoint/2010/main" val="1111100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cs typeface="+mn-cs"/>
              </a:rPr>
              <a:t>4. </a:t>
            </a:r>
            <a:r>
              <a:rPr lang="ko-KR" altLang="en-US" sz="1600" b="1" dirty="0">
                <a:solidFill>
                  <a:schemeClr val="tx1"/>
                </a:solidFill>
                <a:cs typeface="+mn-cs"/>
              </a:rPr>
              <a:t>완료문서 보기</a:t>
            </a:r>
            <a:endParaRPr lang="en-US" sz="1600" b="1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11" name="Text Box 154"/>
          <p:cNvSpPr txBox="1">
            <a:spLocks noChangeArrowheads="1"/>
          </p:cNvSpPr>
          <p:nvPr/>
        </p:nvSpPr>
        <p:spPr bwMode="auto">
          <a:xfrm>
            <a:off x="201017" y="1191517"/>
            <a:ext cx="6948227" cy="5276524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양쪽 모서리가 둥근 사각형 12"/>
          <p:cNvSpPr/>
          <p:nvPr/>
        </p:nvSpPr>
        <p:spPr bwMode="auto">
          <a:xfrm>
            <a:off x="201017" y="980728"/>
            <a:ext cx="6948227" cy="235728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Calibri" pitchFamily="34" charset="0"/>
              </a:rPr>
              <a:t>화면</a:t>
            </a:r>
          </a:p>
        </p:txBody>
      </p:sp>
      <p:sp>
        <p:nvSpPr>
          <p:cNvPr id="15" name="Text Box 154"/>
          <p:cNvSpPr txBox="1">
            <a:spLocks noChangeArrowheads="1"/>
          </p:cNvSpPr>
          <p:nvPr/>
        </p:nvSpPr>
        <p:spPr bwMode="auto">
          <a:xfrm>
            <a:off x="7293260" y="1232756"/>
            <a:ext cx="2376264" cy="5275569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완료 문서 버튼영역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공람지정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공람 지정 및 해제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인쇄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인쇄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COPY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기안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결재문서를 재사용하여 문서 작성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추가기능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 다운로드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문서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HTML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다운로드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메일 전달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완료된 결재문서 본문 내용을 메일 발송</a:t>
            </a:r>
            <a:b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게시하기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완료된 문서를 사내 게시판에 등록</a:t>
            </a:r>
            <a:endParaRPr lang="en-US" altLang="ko-KR" sz="1000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양쪽 모서리가 둥근 사각형 13"/>
          <p:cNvSpPr/>
          <p:nvPr/>
        </p:nvSpPr>
        <p:spPr bwMode="auto">
          <a:xfrm>
            <a:off x="7293260" y="980727"/>
            <a:ext cx="2376264" cy="235729"/>
          </a:xfrm>
          <a:prstGeom prst="roundRect">
            <a:avLst>
              <a:gd name="adj" fmla="val 7138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kumimoji="0"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4EAACA-5F52-7676-7624-96195150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04764"/>
            <a:ext cx="6516724" cy="48044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7C38A6-ADC4-E838-C45E-557DBAB9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4" y="3212976"/>
            <a:ext cx="3204356" cy="1673343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44A0A2-C755-B35A-3683-7FB2456A2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735" y="4159607"/>
            <a:ext cx="3798485" cy="1453423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A0E661-CD21-8B96-712E-D8DA971A9D26}"/>
              </a:ext>
            </a:extLst>
          </p:cNvPr>
          <p:cNvSpPr/>
          <p:nvPr/>
        </p:nvSpPr>
        <p:spPr>
          <a:xfrm>
            <a:off x="884548" y="2047821"/>
            <a:ext cx="612068" cy="3450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DF0B8C-8561-F1DC-6483-64BD4A42C8CF}"/>
              </a:ext>
            </a:extLst>
          </p:cNvPr>
          <p:cNvSpPr/>
          <p:nvPr/>
        </p:nvSpPr>
        <p:spPr>
          <a:xfrm>
            <a:off x="6137381" y="2047821"/>
            <a:ext cx="612068" cy="3450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8AB43EA-41E3-84F9-11DE-675A488A770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190582" y="2392835"/>
            <a:ext cx="882098" cy="82014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FE46429-B26A-58E8-E839-60B660FDC72E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flipH="1">
            <a:off x="5033978" y="2392835"/>
            <a:ext cx="1409437" cy="1766772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059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48DA-16ED-AB59-9ACA-EC161C31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9B5857-FCC0-FB9D-14D3-B8295929B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5" y="1265238"/>
            <a:ext cx="84201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+mj-ea"/>
              </a:rPr>
              <a:t>5. </a:t>
            </a:r>
            <a:r>
              <a:rPr lang="ko-KR" altLang="en-US" sz="4000" b="1" dirty="0">
                <a:latin typeface="+mj-ea"/>
              </a:rPr>
              <a:t>양식 목록</a:t>
            </a:r>
          </a:p>
        </p:txBody>
      </p:sp>
    </p:spTree>
    <p:extLst>
      <p:ext uri="{BB962C8B-B14F-4D97-AF65-F5344CB8AC3E}">
        <p14:creationId xmlns:p14="http://schemas.microsoft.com/office/powerpoint/2010/main" val="1065229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>
              <a:spcBef>
                <a:spcPct val="40000"/>
              </a:spcBef>
              <a:defRPr/>
            </a:pPr>
            <a:r>
              <a:rPr lang="en-US" altLang="ko-KR" sz="1800" b="1" dirty="0">
                <a:latin typeface="+mj-ea"/>
              </a:rPr>
              <a:t>5. </a:t>
            </a:r>
            <a:r>
              <a:rPr lang="ko-KR" altLang="en-US" sz="1800" b="1" dirty="0">
                <a:latin typeface="+mn-ea"/>
              </a:rPr>
              <a:t>양식 목록</a:t>
            </a:r>
            <a:endParaRPr lang="en-US" sz="1800" dirty="0">
              <a:solidFill>
                <a:schemeClr val="tx1"/>
              </a:solidFill>
              <a:cs typeface="+mn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53115"/>
              </p:ext>
            </p:extLst>
          </p:nvPr>
        </p:nvGraphicFramePr>
        <p:xfrm>
          <a:off x="307973" y="925406"/>
          <a:ext cx="9350377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0">
                  <a:extLst>
                    <a:ext uri="{9D8B030D-6E8A-4147-A177-3AD203B41FA5}">
                      <a16:colId xmlns:a16="http://schemas.microsoft.com/office/drawing/2014/main" val="1590635701"/>
                    </a:ext>
                  </a:extLst>
                </a:gridCol>
                <a:gridCol w="1913689">
                  <a:extLst>
                    <a:ext uri="{9D8B030D-6E8A-4147-A177-3AD203B41FA5}">
                      <a16:colId xmlns:a16="http://schemas.microsoft.com/office/drawing/2014/main" val="14837395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1291291068"/>
                    </a:ext>
                  </a:extLst>
                </a:gridCol>
                <a:gridCol w="2149066">
                  <a:extLst>
                    <a:ext uri="{9D8B030D-6E8A-4147-A177-3AD203B41FA5}">
                      <a16:colId xmlns:a16="http://schemas.microsoft.com/office/drawing/2014/main" val="3392491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양식 분류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사용회사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양식명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사용여부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(Y/N)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311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기본양식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공용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법인카드 사용내역서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8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기본양식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법인카드 사용내역서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UTIV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85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기본양식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법인카드 사용내역서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6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19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8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구매요청서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16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구매요청서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52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지급품의서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524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비용 청구서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38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비용 청구서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비용 청구서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9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해외 출장경비내역서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5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기계설비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매각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65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업무협조전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7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회의록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교육불참사유서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35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기본양식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물품지급요청서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512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공용양식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대외접수문서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4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양식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3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 및 권한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0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OS/DB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OS/DB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변경신청서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8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변경 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906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휴가신청서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1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051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7B97-952D-75CD-39E9-E6A55408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113F9D7-3147-7A90-4CEF-D41D8055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>
              <a:spcBef>
                <a:spcPct val="40000"/>
              </a:spcBef>
              <a:defRPr/>
            </a:pPr>
            <a:r>
              <a:rPr lang="en-US" altLang="ko-KR" sz="1800" b="1" dirty="0">
                <a:latin typeface="+mj-ea"/>
              </a:rPr>
              <a:t>5. </a:t>
            </a:r>
            <a:r>
              <a:rPr lang="ko-KR" altLang="en-US" sz="1800" b="1" dirty="0">
                <a:latin typeface="+mn-ea"/>
              </a:rPr>
              <a:t>양식 목록</a:t>
            </a:r>
            <a:endParaRPr lang="en-US" sz="1800" dirty="0">
              <a:solidFill>
                <a:schemeClr val="tx1"/>
              </a:solidFill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089172F-FAC7-3606-C026-BBEE3FB0D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512496"/>
              </p:ext>
            </p:extLst>
          </p:nvPr>
        </p:nvGraphicFramePr>
        <p:xfrm>
          <a:off x="307973" y="801581"/>
          <a:ext cx="9350377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0">
                  <a:extLst>
                    <a:ext uri="{9D8B030D-6E8A-4147-A177-3AD203B41FA5}">
                      <a16:colId xmlns:a16="http://schemas.microsoft.com/office/drawing/2014/main" val="1590635701"/>
                    </a:ext>
                  </a:extLst>
                </a:gridCol>
                <a:gridCol w="1445637">
                  <a:extLst>
                    <a:ext uri="{9D8B030D-6E8A-4147-A177-3AD203B41FA5}">
                      <a16:colId xmlns:a16="http://schemas.microsoft.com/office/drawing/2014/main" val="1483739544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1291291068"/>
                    </a:ext>
                  </a:extLst>
                </a:gridCol>
                <a:gridCol w="2041054">
                  <a:extLst>
                    <a:ext uri="{9D8B030D-6E8A-4147-A177-3AD203B41FA5}">
                      <a16:colId xmlns:a16="http://schemas.microsoft.com/office/drawing/2014/main" val="3356021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양식 분류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사용회사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양식명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사용여부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(Y/N)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311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휴가신청서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8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휴가신청서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V2)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85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휴가신청서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(ERP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미연동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6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위임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스마트기기 사내망 사용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19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법인카드 사용신청서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8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법인카드 사용신청서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(UTIV)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16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인감 사용신청서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52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직원 충원요청서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524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개발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38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연수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출장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연수 신청서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(UTIV)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9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경조비 지급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5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 검사 성적서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65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출고 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7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교육신청서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35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교육신청서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512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샘플 출고 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4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 요청서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3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신청서양식함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메일승인 예외 신청서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0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확인서양식함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특근확인서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확인서양식함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교육결과보고서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8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확인서양식함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특근확인서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(VINA)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906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확인서양식함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교육결과보고서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1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확인서양식함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유티아이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연수 보고서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40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46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7850</TotalTime>
  <Words>836</Words>
  <Application>Microsoft Office PowerPoint</Application>
  <PresentationFormat>A4 용지(210x297mm)</PresentationFormat>
  <Paragraphs>336</Paragraphs>
  <Slides>22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굴림</vt:lpstr>
      <vt:lpstr>나눔고딕</vt:lpstr>
      <vt:lpstr>나눔고딕 Bold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1. 메뉴구성</vt:lpstr>
      <vt:lpstr>1. 메뉴 구성 – 메인 화면</vt:lpstr>
      <vt:lpstr>2. 결재함</vt:lpstr>
      <vt:lpstr>2. 결재함 - 미결문서</vt:lpstr>
      <vt:lpstr>2. 결재함 - 공람문서</vt:lpstr>
      <vt:lpstr>2. 결재함 - 진행문서</vt:lpstr>
      <vt:lpstr>2. 결재함 - 처리예정함</vt:lpstr>
      <vt:lpstr>2. 결재함 - 완결문서</vt:lpstr>
      <vt:lpstr>2. 결재함 - 임시저장문서</vt:lpstr>
      <vt:lpstr>2. 결재함 - 개인함</vt:lpstr>
      <vt:lpstr>3. 문서 작성하기</vt:lpstr>
      <vt:lpstr>3. 문서 작성하기 – 문서 선택</vt:lpstr>
      <vt:lpstr>3. 문서 작성하기 – 문서 작성</vt:lpstr>
      <vt:lpstr>3. 문서 작성하기 – 문서 작성</vt:lpstr>
      <vt:lpstr>4. 완료문서 보기</vt:lpstr>
      <vt:lpstr>4. 완료문서 보기</vt:lpstr>
      <vt:lpstr>5. 양식 목록</vt:lpstr>
      <vt:lpstr>5. 양식 목록</vt:lpstr>
      <vt:lpstr>5. 양식 목록</vt:lpstr>
    </vt:vector>
  </TitlesOfParts>
  <Company>ITPM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ITMEXSYI;ITPM</dc:creator>
  <cp:lastModifiedBy>강민석</cp:lastModifiedBy>
  <cp:revision>279</cp:revision>
  <dcterms:created xsi:type="dcterms:W3CDTF">2006-03-20T04:03:27Z</dcterms:created>
  <dcterms:modified xsi:type="dcterms:W3CDTF">2026-03-24T07:11:34Z</dcterms:modified>
</cp:coreProperties>
</file>